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257" r:id="rId3"/>
    <p:sldId id="258" r:id="rId4"/>
    <p:sldId id="359" r:id="rId5"/>
    <p:sldId id="352" r:id="rId6"/>
    <p:sldId id="259" r:id="rId7"/>
    <p:sldId id="346" r:id="rId8"/>
    <p:sldId id="312" r:id="rId9"/>
    <p:sldId id="356" r:id="rId10"/>
    <p:sldId id="260" r:id="rId11"/>
    <p:sldId id="261" r:id="rId12"/>
    <p:sldId id="353" r:id="rId13"/>
    <p:sldId id="355" r:id="rId14"/>
    <p:sldId id="354" r:id="rId15"/>
    <p:sldId id="264" r:id="rId16"/>
    <p:sldId id="265" r:id="rId17"/>
    <p:sldId id="313" r:id="rId18"/>
    <p:sldId id="314" r:id="rId19"/>
    <p:sldId id="315" r:id="rId20"/>
    <p:sldId id="266" r:id="rId21"/>
    <p:sldId id="267" r:id="rId22"/>
    <p:sldId id="316" r:id="rId23"/>
    <p:sldId id="268" r:id="rId24"/>
    <p:sldId id="269" r:id="rId25"/>
    <p:sldId id="271" r:id="rId26"/>
    <p:sldId id="270" r:id="rId27"/>
    <p:sldId id="318" r:id="rId28"/>
    <p:sldId id="319" r:id="rId29"/>
    <p:sldId id="321" r:id="rId30"/>
    <p:sldId id="322" r:id="rId31"/>
    <p:sldId id="323" r:id="rId32"/>
    <p:sldId id="324" r:id="rId33"/>
    <p:sldId id="325" r:id="rId34"/>
    <p:sldId id="326" r:id="rId35"/>
    <p:sldId id="327" r:id="rId36"/>
    <p:sldId id="273" r:id="rId37"/>
    <p:sldId id="274" r:id="rId38"/>
    <p:sldId id="275" r:id="rId39"/>
    <p:sldId id="276" r:id="rId40"/>
    <p:sldId id="277" r:id="rId41"/>
    <p:sldId id="328" r:id="rId42"/>
    <p:sldId id="329" r:id="rId43"/>
    <p:sldId id="330" r:id="rId44"/>
    <p:sldId id="331" r:id="rId45"/>
    <p:sldId id="332" r:id="rId46"/>
    <p:sldId id="333" r:id="rId47"/>
    <p:sldId id="334" r:id="rId48"/>
    <p:sldId id="336" r:id="rId49"/>
    <p:sldId id="337" r:id="rId50"/>
    <p:sldId id="338" r:id="rId51"/>
    <p:sldId id="339" r:id="rId52"/>
    <p:sldId id="340" r:id="rId53"/>
    <p:sldId id="341" r:id="rId54"/>
    <p:sldId id="342" r:id="rId55"/>
    <p:sldId id="343" r:id="rId56"/>
    <p:sldId id="278" r:id="rId57"/>
    <p:sldId id="279" r:id="rId58"/>
    <p:sldId id="358" r:id="rId59"/>
    <p:sldId id="35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5200"/>
    <a:srgbClr val="8EFA00"/>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0" autoAdjust="0"/>
    <p:restoredTop sz="78571"/>
  </p:normalViewPr>
  <p:slideViewPr>
    <p:cSldViewPr snapToGrid="0">
      <p:cViewPr varScale="1">
        <p:scale>
          <a:sx n="99" d="100"/>
          <a:sy n="99" d="100"/>
        </p:scale>
        <p:origin x="1344" y="17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9C0CB-851F-974C-A57B-D8B6247B9FC8}" type="datetimeFigureOut">
              <a:rPr lang="en-US" smtClean="0"/>
              <a:t>7/12/24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FFDC1B-633B-9D46-A760-94AD7E6DEF05}" type="slidenum">
              <a:rPr lang="en-US" smtClean="0"/>
              <a:t>‹#›</a:t>
            </a:fld>
            <a:endParaRPr lang="en-US"/>
          </a:p>
        </p:txBody>
      </p:sp>
    </p:spTree>
    <p:extLst>
      <p:ext uri="{BB962C8B-B14F-4D97-AF65-F5344CB8AC3E}">
        <p14:creationId xmlns:p14="http://schemas.microsoft.com/office/powerpoint/2010/main" val="1051226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Introduction</a:t>
            </a:r>
          </a:p>
          <a:p>
            <a:endParaRPr lang="en-US" dirty="0"/>
          </a:p>
          <a:p>
            <a:pPr marL="171450" indent="-171450">
              <a:buFontTx/>
              <a:buChar char="-"/>
            </a:pPr>
            <a:r>
              <a:rPr lang="en-US" dirty="0"/>
              <a:t>Memory-wall gap is increasing between CPU and memory, since the processors are typically designed for high speed and throughput, </a:t>
            </a:r>
          </a:p>
          <a:p>
            <a:pPr marL="171450" indent="-171450">
              <a:buFontTx/>
              <a:buChar char="-"/>
            </a:pPr>
            <a:r>
              <a:rPr lang="en-US" dirty="0"/>
              <a:t>While the main memory focuses on capacity and bandwidth.</a:t>
            </a:r>
          </a:p>
          <a:p>
            <a:pPr marL="171450" indent="-171450">
              <a:buFontTx/>
              <a:buChar char="-"/>
            </a:pPr>
            <a:r>
              <a:rPr lang="en-US" dirty="0"/>
              <a:t>This difference creates a “memory-wall” performance gap</a:t>
            </a:r>
          </a:p>
          <a:p>
            <a:pPr marL="171450" indent="-171450">
              <a:buFontTx/>
              <a:buChar char="-"/>
            </a:pPr>
            <a:endParaRPr lang="en-US" dirty="0"/>
          </a:p>
          <a:p>
            <a:pPr marL="171450" indent="-171450">
              <a:buFontTx/>
              <a:buChar char="-"/>
            </a:pPr>
            <a:r>
              <a:rPr lang="en-US" dirty="0"/>
              <a:t>Furthermore, DRAM volatile memories has been the preferred technology for main memory and it can no longer keep up with the modern-day applications , </a:t>
            </a:r>
          </a:p>
          <a:p>
            <a:pPr marL="171450" indent="-171450">
              <a:buFontTx/>
              <a:buChar char="-"/>
            </a:pPr>
            <a:r>
              <a:rPr lang="en-US" dirty="0"/>
              <a:t>As they require much larger capacity and higher bandwidth.</a:t>
            </a:r>
          </a:p>
          <a:p>
            <a:pPr marL="171450" indent="-171450">
              <a:buFontTx/>
              <a:buChar char="-"/>
            </a:pPr>
            <a:r>
              <a:rPr lang="en-US" dirty="0"/>
              <a:t>DRAM consumes on average 30% of total system’s energy, which makes it a limiting factor for many server platforms.</a:t>
            </a:r>
          </a:p>
          <a:p>
            <a:pPr marL="171450" indent="-171450">
              <a:buFontTx/>
              <a:buChar char="-"/>
            </a:pPr>
            <a:endParaRPr lang="en-US" dirty="0"/>
          </a:p>
          <a:p>
            <a:pPr marL="171450" indent="-171450">
              <a:buFontTx/>
              <a:buChar char="-"/>
            </a:pPr>
            <a:r>
              <a:rPr lang="en-US" dirty="0"/>
              <a:t>Moreover, to further combat the “memory-wall” issue, data prefetching is used in most modern processors.</a:t>
            </a:r>
          </a:p>
          <a:p>
            <a:pPr marL="171450" indent="-171450">
              <a:buFontTx/>
              <a:buChar char="-"/>
            </a:pPr>
            <a:r>
              <a:rPr lang="en-US" dirty="0"/>
              <a:t>It is a technique to pre-loading data into the cache before it is consumed by the processor.</a:t>
            </a:r>
          </a:p>
          <a:p>
            <a:pPr marL="171450" indent="-171450">
              <a:buFontTx/>
              <a:buChar char="-"/>
            </a:pPr>
            <a:r>
              <a:rPr lang="en-US" dirty="0"/>
              <a:t>However, prefetching can lead to excessive use of memory bandwidth, and lead to cache pollution if the prefetched data is not actually used. </a:t>
            </a:r>
          </a:p>
        </p:txBody>
      </p:sp>
      <p:sp>
        <p:nvSpPr>
          <p:cNvPr id="4" name="Slide Number Placeholder 3"/>
          <p:cNvSpPr>
            <a:spLocks noGrp="1"/>
          </p:cNvSpPr>
          <p:nvPr>
            <p:ph type="sldNum" sz="quarter" idx="5"/>
          </p:nvPr>
        </p:nvSpPr>
        <p:spPr/>
        <p:txBody>
          <a:bodyPr/>
          <a:lstStyle/>
          <a:p>
            <a:fld id="{1BFFDC1B-633B-9D46-A760-94AD7E6DEF05}" type="slidenum">
              <a:rPr lang="en-US" smtClean="0"/>
              <a:t>3</a:t>
            </a:fld>
            <a:endParaRPr lang="en-US"/>
          </a:p>
        </p:txBody>
      </p:sp>
    </p:spTree>
    <p:extLst>
      <p:ext uri="{BB962C8B-B14F-4D97-AF65-F5344CB8AC3E}">
        <p14:creationId xmlns:p14="http://schemas.microsoft.com/office/powerpoint/2010/main" val="49115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a:t>
            </a:r>
          </a:p>
          <a:p>
            <a:endParaRPr lang="en-US" dirty="0"/>
          </a:p>
          <a:p>
            <a:r>
              <a:rPr lang="en-US" dirty="0"/>
              <a:t>Our first 2 works, POMI and DGS, were presented at my preliminary exam before. </a:t>
            </a:r>
          </a:p>
          <a:p>
            <a:pPr marL="285750" indent="-285750" algn="l">
              <a:buFont typeface="Arial" panose="020B0604020202020204" pitchFamily="34" charset="0"/>
              <a:buChar char="•"/>
            </a:pPr>
            <a:r>
              <a:rPr lang="en-US" sz="2000" b="1" dirty="0">
                <a:solidFill>
                  <a:schemeClr val="accent5">
                    <a:lumMod val="50000"/>
                  </a:schemeClr>
                </a:solidFill>
              </a:rPr>
              <a:t>POMI: Polling-Based Memory Interface for Hybrid Memory System</a:t>
            </a:r>
          </a:p>
          <a:p>
            <a:pPr marL="800100" lvl="1" indent="-342900">
              <a:buFontTx/>
              <a:buChar char="-"/>
            </a:pPr>
            <a:r>
              <a:rPr lang="en-US" sz="2000" dirty="0"/>
              <a:t>Hybrid memory architecture framework </a:t>
            </a:r>
          </a:p>
          <a:p>
            <a:pPr marL="800100" lvl="1" indent="-342900">
              <a:buFontTx/>
              <a:buChar char="-"/>
            </a:pPr>
            <a:r>
              <a:rPr lang="en-US" sz="2000" dirty="0"/>
              <a:t>Supports both DRAM and NVM under one memory subsystem</a:t>
            </a:r>
          </a:p>
          <a:p>
            <a:pPr marL="800100" lvl="1" indent="-342900">
              <a:buFontTx/>
              <a:buChar char="-"/>
            </a:pPr>
            <a:r>
              <a:rPr lang="en-US" sz="2000" dirty="0"/>
              <a:t>Uses polling-based bus protocol for communications</a:t>
            </a:r>
          </a:p>
          <a:p>
            <a:pPr marL="800100" lvl="1" indent="-342900">
              <a:buFontTx/>
              <a:buChar char="-"/>
            </a:pPr>
            <a:endParaRPr lang="en-US" sz="2000" dirty="0"/>
          </a:p>
          <a:p>
            <a:pPr marL="342900" indent="-342900">
              <a:buFont typeface="Arial" panose="020B0604020202020204" pitchFamily="34" charset="0"/>
              <a:buChar char="•"/>
            </a:pPr>
            <a:r>
              <a:rPr lang="en-US" sz="2000" b="1" dirty="0">
                <a:solidFill>
                  <a:schemeClr val="accent5">
                    <a:lumMod val="50000"/>
                  </a:schemeClr>
                </a:solidFill>
              </a:rPr>
              <a:t>DGS: Dynamic Grouping Scheduler for Polling-Based Memory Interface</a:t>
            </a:r>
            <a:endParaRPr lang="en-US" sz="2000" dirty="0"/>
          </a:p>
          <a:p>
            <a:pPr marL="800100" lvl="1" indent="-342900">
              <a:buFontTx/>
              <a:buChar char="-"/>
            </a:pPr>
            <a:r>
              <a:rPr lang="en-US" sz="2000" dirty="0"/>
              <a:t>Optimized polling-based memory interface design</a:t>
            </a:r>
          </a:p>
          <a:p>
            <a:pPr marL="800100" lvl="1" indent="-342900">
              <a:buFontTx/>
              <a:buChar char="-"/>
            </a:pPr>
            <a:r>
              <a:rPr lang="en-US" sz="2000" dirty="0"/>
              <a:t>Utilizes Command/Address bus for communications via 2 new scheduling policies</a:t>
            </a:r>
            <a:endParaRPr lang="en-US" sz="2000" b="1" dirty="0">
              <a:solidFill>
                <a:schemeClr val="accent5">
                  <a:lumMod val="50000"/>
                </a:schemeClr>
              </a:solidFill>
            </a:endParaRPr>
          </a:p>
          <a:p>
            <a:pPr marL="342900" indent="-342900">
              <a:buFont typeface="Arial" panose="020B0604020202020204" pitchFamily="34" charset="0"/>
              <a:buChar char="•"/>
            </a:pPr>
            <a:endParaRPr lang="en-US" sz="2000" b="1" dirty="0">
              <a:solidFill>
                <a:schemeClr val="accent5">
                  <a:lumMod val="50000"/>
                </a:schemeClr>
              </a:solidFill>
            </a:endParaRPr>
          </a:p>
          <a:p>
            <a:pPr marL="342900" indent="-342900">
              <a:buFont typeface="Arial" panose="020B0604020202020204" pitchFamily="34" charset="0"/>
              <a:buChar char="•"/>
            </a:pPr>
            <a:r>
              <a:rPr lang="en-US" sz="2000" b="1" dirty="0">
                <a:solidFill>
                  <a:schemeClr val="accent5">
                    <a:lumMod val="50000"/>
                  </a:schemeClr>
                </a:solidFill>
              </a:rPr>
              <a:t>MSF: Memory-Side Perceptron-Based Prefetch Filtering</a:t>
            </a:r>
          </a:p>
          <a:p>
            <a:r>
              <a:rPr lang="en-US" sz="2000" dirty="0">
                <a:solidFill>
                  <a:schemeClr val="accent5">
                    <a:lumMod val="50000"/>
                  </a:schemeClr>
                </a:solidFill>
              </a:rPr>
              <a:t>         -     </a:t>
            </a:r>
            <a:r>
              <a:rPr lang="en-US" sz="2000" dirty="0"/>
              <a:t>Discards useless prefetch requests via hashed perceptron learning</a:t>
            </a:r>
          </a:p>
          <a:p>
            <a:r>
              <a:rPr lang="en-US" sz="2000" dirty="0"/>
              <a:t>         -     Works for any underlying prefetcher, low storage overhead</a:t>
            </a:r>
          </a:p>
          <a:p>
            <a:endParaRPr lang="en-US" sz="2000" dirty="0"/>
          </a:p>
          <a:p>
            <a:endParaRPr lang="en-US" sz="2000" dirty="0"/>
          </a:p>
        </p:txBody>
      </p:sp>
      <p:sp>
        <p:nvSpPr>
          <p:cNvPr id="4" name="Slide Number Placeholder 3"/>
          <p:cNvSpPr>
            <a:spLocks noGrp="1"/>
          </p:cNvSpPr>
          <p:nvPr>
            <p:ph type="sldNum" sz="quarter" idx="5"/>
          </p:nvPr>
        </p:nvSpPr>
        <p:spPr/>
        <p:txBody>
          <a:bodyPr/>
          <a:lstStyle/>
          <a:p>
            <a:fld id="{1BFFDC1B-633B-9D46-A760-94AD7E6DEF05}" type="slidenum">
              <a:rPr lang="en-US" smtClean="0"/>
              <a:t>4</a:t>
            </a:fld>
            <a:endParaRPr lang="en-US"/>
          </a:p>
        </p:txBody>
      </p:sp>
    </p:spTree>
    <p:extLst>
      <p:ext uri="{BB962C8B-B14F-4D97-AF65-F5344CB8AC3E}">
        <p14:creationId xmlns:p14="http://schemas.microsoft.com/office/powerpoint/2010/main" val="2789430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Non-Volatile memory technologies</a:t>
            </a:r>
          </a:p>
          <a:p>
            <a:endParaRPr lang="en-US" dirty="0"/>
          </a:p>
          <a:p>
            <a:pPr marL="228600" indent="-228600">
              <a:buAutoNum type="arabicParenR"/>
            </a:pPr>
            <a:r>
              <a:rPr lang="en-US" dirty="0"/>
              <a:t>Non-Volatile memories are actively being researched as DRAM alternative because</a:t>
            </a:r>
          </a:p>
          <a:p>
            <a:pPr marL="171450" indent="-171450">
              <a:buFontTx/>
              <a:buChar char="-"/>
            </a:pPr>
            <a:r>
              <a:rPr lang="en-US" dirty="0"/>
              <a:t>They have higher densities, zero refresh power, and lower cos—per-bit compared to DRAM</a:t>
            </a:r>
          </a:p>
          <a:p>
            <a:pPr marL="171450" indent="-171450">
              <a:buFontTx/>
              <a:buChar char="-"/>
            </a:pPr>
            <a:r>
              <a:rPr lang="en-US" dirty="0"/>
              <a:t>Furthermore, volatile memories (such as DRAM) has to periodically refresh itself to retain data. While DRAM is being refreshed, its operations are temporarily stalled until refresh is done. </a:t>
            </a:r>
          </a:p>
          <a:p>
            <a:pPr marL="171450" indent="-171450">
              <a:buFontTx/>
              <a:buChar char="-"/>
            </a:pPr>
            <a:r>
              <a:rPr lang="en-US" dirty="0"/>
              <a:t>In comparison, Non-Volatile memory does not need to refresh to maintain data as it is persistent storage. </a:t>
            </a:r>
          </a:p>
          <a:p>
            <a:pPr marL="171450" indent="-171450">
              <a:buFontTx/>
              <a:buChar char="-"/>
            </a:pPr>
            <a:r>
              <a:rPr lang="en-US" dirty="0"/>
              <a:t>There are few available NVM such as Phase-Change Memory, Spin-Transfer-Torque RAM, and Magnetic RAM.  They all use different mechanism to store data bits and are significantly more energy efficient than DRAM. </a:t>
            </a:r>
          </a:p>
          <a:p>
            <a:pPr marL="171450" indent="-171450">
              <a:buFontTx/>
              <a:buChar char="-"/>
            </a:pPr>
            <a:endParaRPr lang="en-US" dirty="0"/>
          </a:p>
          <a:p>
            <a:pPr marL="171450" indent="-171450">
              <a:buFontTx/>
              <a:buChar char="-"/>
            </a:pPr>
            <a:r>
              <a:rPr lang="en-US" dirty="0"/>
              <a:t>2) It is a good idea to use both DRAM and NVM in a system</a:t>
            </a:r>
          </a:p>
          <a:p>
            <a:pPr marL="171450" indent="-171450">
              <a:buFontTx/>
              <a:buChar char="-"/>
            </a:pPr>
            <a:r>
              <a:rPr lang="en-US" dirty="0"/>
              <a:t>While NVM offers greater cost-per-bit, densities and zero-refresh power,  it has higher access latency, lower bandwidth as compared to DRAM</a:t>
            </a:r>
          </a:p>
          <a:p>
            <a:pPr marL="171450" indent="-171450">
              <a:buFontTx/>
              <a:buChar char="-"/>
            </a:pPr>
            <a:r>
              <a:rPr lang="en-US" dirty="0">
                <a:effectLst/>
                <a:latin typeface="Arial" panose="020B0604020202020204" pitchFamily="34" charset="0"/>
              </a:rPr>
              <a:t>The co-existence of both DRAM and NVM under the same system is called hybrid memory</a:t>
            </a:r>
            <a:br>
              <a:rPr lang="en-US" dirty="0"/>
            </a:br>
            <a:r>
              <a:rPr lang="en-US" dirty="0">
                <a:effectLst/>
                <a:latin typeface="Arial" panose="020B0604020202020204" pitchFamily="34" charset="0"/>
              </a:rPr>
              <a:t>system, usually consists of high performance, low-latency memory component, like DRAM, and a</a:t>
            </a:r>
            <a:br>
              <a:rPr lang="en-US" dirty="0"/>
            </a:br>
            <a:r>
              <a:rPr lang="en-US" dirty="0">
                <a:effectLst/>
                <a:latin typeface="Arial" panose="020B0604020202020204" pitchFamily="34" charset="0"/>
              </a:rPr>
              <a:t>slower, highly dense, energy-efficient memory, such as NVM</a:t>
            </a: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a:t>
            </a:fld>
            <a:endParaRPr lang="en-US"/>
          </a:p>
        </p:txBody>
      </p:sp>
    </p:spTree>
    <p:extLst>
      <p:ext uri="{BB962C8B-B14F-4D97-AF65-F5344CB8AC3E}">
        <p14:creationId xmlns:p14="http://schemas.microsoft.com/office/powerpoint/2010/main" val="1499764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enable Hybrid memory system, we propose POMI: a polling-based memory interface for hybrid memory system.</a:t>
            </a:r>
          </a:p>
          <a:p>
            <a:endParaRPr lang="en-US" dirty="0"/>
          </a:p>
          <a:p>
            <a:r>
              <a:rPr lang="en-US" dirty="0"/>
              <a:t>POMI is a </a:t>
            </a:r>
            <a:r>
              <a:rPr lang="en-US" dirty="0" err="1"/>
              <a:t>hybtrid</a:t>
            </a:r>
            <a:r>
              <a:rPr lang="en-US" dirty="0"/>
              <a:t> memory architecture framework to support both DRAM and NVM under one memory subsystem. </a:t>
            </a:r>
          </a:p>
          <a:p>
            <a:endParaRPr lang="en-US" dirty="0"/>
          </a:p>
          <a:p>
            <a:pPr marL="171450" indent="-171450">
              <a:buFontTx/>
              <a:buChar char="-"/>
            </a:pPr>
            <a:r>
              <a:rPr lang="en-US" dirty="0"/>
              <a:t>A buffer chip is inserted on each memory module that performs local scheduling of operations, such as read, write, activate, precharge, refresh. </a:t>
            </a:r>
          </a:p>
          <a:p>
            <a:pPr marL="171450" indent="-171450">
              <a:buFontTx/>
              <a:buChar char="-"/>
            </a:pPr>
            <a:r>
              <a:rPr lang="en-US" dirty="0"/>
              <a:t>Since all the </a:t>
            </a:r>
            <a:r>
              <a:rPr lang="en-US" dirty="0" err="1"/>
              <a:t>schedulings</a:t>
            </a:r>
            <a:r>
              <a:rPr lang="en-US" dirty="0"/>
              <a:t> are offloaded to the buffer chip, the memory controller now uses new polling-based protocol for communications between itself and the buffer chips. </a:t>
            </a:r>
          </a:p>
          <a:p>
            <a:pPr marL="171450" indent="-171450">
              <a:buFontTx/>
              <a:buChar char="-"/>
            </a:pPr>
            <a:r>
              <a:rPr lang="en-US" dirty="0"/>
              <a:t>The bus protocol sends Detail and Transfer packets to communicate when the data is ready, and when to grant a DIMM bus ownership.</a:t>
            </a:r>
          </a:p>
          <a:p>
            <a:pPr marL="171450" indent="-171450">
              <a:buFontTx/>
              <a:buChar char="-"/>
            </a:pPr>
            <a:endParaRPr lang="en-US" dirty="0"/>
          </a:p>
          <a:p>
            <a:pPr marL="171450" indent="-171450">
              <a:buFontTx/>
              <a:buChar char="-"/>
            </a:pPr>
            <a:r>
              <a:rPr lang="en-US" dirty="0"/>
              <a:t>Combined together, POMI enables hybrid memory system, allowing both DRAM and NVM technologies to be housed under one system. </a:t>
            </a:r>
          </a:p>
          <a:p>
            <a:pPr marL="171450" indent="-171450">
              <a:buFontTx/>
              <a:buChar cha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6</a:t>
            </a:fld>
            <a:endParaRPr lang="en-US"/>
          </a:p>
        </p:txBody>
      </p:sp>
    </p:spTree>
    <p:extLst>
      <p:ext uri="{BB962C8B-B14F-4D97-AF65-F5344CB8AC3E}">
        <p14:creationId xmlns:p14="http://schemas.microsoft.com/office/powerpoint/2010/main" val="2637664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a:t>
            </a:r>
          </a:p>
          <a:p>
            <a:endParaRPr lang="en-US" dirty="0"/>
          </a:p>
          <a:p>
            <a:pPr marL="171450" indent="-171450">
              <a:buFontTx/>
              <a:buChar char="-"/>
            </a:pPr>
            <a:r>
              <a:rPr lang="en-US" dirty="0"/>
              <a:t>We implemented the proposed framework in gem5 simulator, and used </a:t>
            </a:r>
            <a:r>
              <a:rPr lang="en-US" dirty="0" err="1"/>
              <a:t>DRAMPower</a:t>
            </a:r>
            <a:r>
              <a:rPr lang="en-US" dirty="0"/>
              <a:t> for energy analysis.</a:t>
            </a:r>
          </a:p>
          <a:p>
            <a:pPr marL="171450" indent="-171450">
              <a:buFontTx/>
              <a:buChar char="-"/>
            </a:pPr>
            <a:r>
              <a:rPr lang="en-US" dirty="0"/>
              <a:t>The simulation used SPEC CPU2006 and CPU2017 benchmarks</a:t>
            </a:r>
          </a:p>
          <a:p>
            <a:pPr marL="171450" indent="-171450">
              <a:buFontTx/>
              <a:buChar char="-"/>
            </a:pPr>
            <a:endParaRPr lang="en-US" dirty="0"/>
          </a:p>
          <a:p>
            <a:pPr marL="171450" indent="-171450">
              <a:buFontTx/>
              <a:buChar char="-"/>
            </a:pPr>
            <a:r>
              <a:rPr lang="en-US" sz="1200" b="1" i="1" dirty="0">
                <a:cs typeface="Arial" panose="020B0604020202020204"/>
              </a:rPr>
              <a:t>Homogeneous performance:</a:t>
            </a:r>
          </a:p>
          <a:p>
            <a:pPr marL="171450" indent="-171450">
              <a:buFontTx/>
              <a:buChar char="-"/>
            </a:pPr>
            <a:r>
              <a:rPr lang="en-US" sz="1200" b="1" i="1" dirty="0">
                <a:cs typeface="Arial" panose="020B0604020202020204"/>
              </a:rPr>
              <a:t>POMI </a:t>
            </a:r>
            <a:r>
              <a:rPr lang="en-US" sz="1200" b="0" i="0" dirty="0">
                <a:cs typeface="Arial" panose="020B0604020202020204"/>
              </a:rPr>
              <a:t>performs 9.7% better than </a:t>
            </a:r>
            <a:r>
              <a:rPr lang="en-US" sz="1200" b="0" i="0" dirty="0" err="1">
                <a:cs typeface="Arial" panose="020B0604020202020204"/>
              </a:rPr>
              <a:t>Twinload</a:t>
            </a:r>
            <a:r>
              <a:rPr lang="en-US" sz="1200" b="0" i="0" dirty="0">
                <a:cs typeface="Arial" panose="020B0604020202020204"/>
              </a:rPr>
              <a:t>, and 5.1% over baseline in memory-intensive workloads</a:t>
            </a:r>
          </a:p>
          <a:p>
            <a:pPr marL="171450" indent="-171450">
              <a:buFontTx/>
              <a:buChar char="-"/>
            </a:pPr>
            <a:r>
              <a:rPr lang="en-US" sz="1200" b="0" i="0" dirty="0">
                <a:cs typeface="Arial" panose="020B0604020202020204"/>
              </a:rPr>
              <a:t>And for mixed workloads, POMI outperforms TL by 4.2%, and over baseline by 1.3%</a:t>
            </a:r>
          </a:p>
          <a:p>
            <a:pPr marL="171450" indent="-171450">
              <a:buFontTx/>
              <a:buChar char="-"/>
            </a:pPr>
            <a:r>
              <a:rPr lang="en-US" sz="1200" b="0" i="0" dirty="0">
                <a:cs typeface="Arial" panose="020B0604020202020204"/>
              </a:rPr>
              <a:t>This shows that POMI can perform as efficient as conventional system in homogeneous configurations.</a:t>
            </a:r>
          </a:p>
          <a:p>
            <a:pPr marL="171450" indent="-171450">
              <a:buFontTx/>
              <a:buChar char="-"/>
            </a:pPr>
            <a:endParaRPr lang="en-US" sz="1200" b="0" i="0" dirty="0">
              <a:cs typeface="Arial" panose="020B0604020202020204"/>
            </a:endParaRPr>
          </a:p>
          <a:p>
            <a:pPr marL="171450" indent="-171450">
              <a:buFontTx/>
              <a:buChar char="-"/>
            </a:pPr>
            <a:r>
              <a:rPr lang="en-US" sz="1200" b="0" i="0" dirty="0">
                <a:cs typeface="Arial" panose="020B0604020202020204"/>
              </a:rPr>
              <a:t>Hybrid Memory Performance</a:t>
            </a:r>
          </a:p>
          <a:p>
            <a:pPr marL="285750" indent="-285750">
              <a:lnSpc>
                <a:spcPct val="100000"/>
              </a:lnSpc>
              <a:buFont typeface="Arial" pitchFamily="2" charset="2"/>
              <a:buChar char="•"/>
            </a:pPr>
            <a:r>
              <a:rPr lang="en-US" sz="1200" dirty="0">
                <a:cs typeface="Arial"/>
              </a:rPr>
              <a:t>Memory-intensive (</a:t>
            </a:r>
            <a:r>
              <a:rPr lang="en-US" sz="1200" b="1" dirty="0">
                <a:cs typeface="Arial"/>
              </a:rPr>
              <a:t>HIGH</a:t>
            </a:r>
            <a:r>
              <a:rPr lang="en-US" sz="1200" dirty="0">
                <a:cs typeface="Arial"/>
              </a:rPr>
              <a:t>): average performance improvement of </a:t>
            </a:r>
            <a:r>
              <a:rPr lang="en-US" sz="1200" b="1" dirty="0">
                <a:solidFill>
                  <a:srgbClr val="00B050"/>
                </a:solidFill>
                <a:cs typeface="Arial"/>
              </a:rPr>
              <a:t>22.0%</a:t>
            </a:r>
            <a:r>
              <a:rPr lang="en-US" sz="1200" dirty="0">
                <a:cs typeface="Arial"/>
              </a:rPr>
              <a:t> over TL,  </a:t>
            </a:r>
            <a:r>
              <a:rPr lang="en-US" sz="1200" dirty="0">
                <a:solidFill>
                  <a:srgbClr val="00B050"/>
                </a:solidFill>
                <a:cs typeface="Arial"/>
              </a:rPr>
              <a:t>14.5%</a:t>
            </a:r>
            <a:r>
              <a:rPr lang="en-US" sz="1200" dirty="0">
                <a:cs typeface="Arial"/>
              </a:rPr>
              <a:t> over TL-dynamic.</a:t>
            </a:r>
          </a:p>
          <a:p>
            <a:pPr marL="285750" indent="-285750">
              <a:lnSpc>
                <a:spcPct val="100000"/>
              </a:lnSpc>
              <a:buClr>
                <a:srgbClr val="689D9B"/>
              </a:buClr>
              <a:buFont typeface="Arial" pitchFamily="2" charset="2"/>
              <a:buChar char="•"/>
            </a:pPr>
            <a:r>
              <a:rPr lang="en-US" sz="1200" dirty="0">
                <a:cs typeface="Arial"/>
              </a:rPr>
              <a:t>Mixed workloads (</a:t>
            </a:r>
            <a:r>
              <a:rPr lang="en-US" sz="1200" b="1" dirty="0">
                <a:cs typeface="Arial"/>
              </a:rPr>
              <a:t>MIX</a:t>
            </a:r>
            <a:r>
              <a:rPr lang="en-US" sz="1200" dirty="0">
                <a:cs typeface="Arial"/>
              </a:rPr>
              <a:t>): </a:t>
            </a:r>
            <a:r>
              <a:rPr lang="en-US" sz="1200" b="1" dirty="0">
                <a:solidFill>
                  <a:srgbClr val="00B050"/>
                </a:solidFill>
                <a:cs typeface="Arial"/>
              </a:rPr>
              <a:t>9.4% </a:t>
            </a:r>
            <a:r>
              <a:rPr lang="en-US" sz="1200" dirty="0">
                <a:cs typeface="Arial"/>
              </a:rPr>
              <a:t>better than TL, and </a:t>
            </a:r>
            <a:r>
              <a:rPr lang="en-US" sz="1200" b="1" dirty="0">
                <a:solidFill>
                  <a:srgbClr val="00B050"/>
                </a:solidFill>
                <a:cs typeface="Arial"/>
              </a:rPr>
              <a:t>7.0%</a:t>
            </a:r>
            <a:r>
              <a:rPr lang="en-US" sz="1200" dirty="0">
                <a:cs typeface="Arial"/>
              </a:rPr>
              <a:t> over TL-dynamic. </a:t>
            </a:r>
          </a:p>
          <a:p>
            <a:pPr marL="285750" indent="-285750">
              <a:lnSpc>
                <a:spcPct val="100000"/>
              </a:lnSpc>
              <a:buClr>
                <a:srgbClr val="689D9B"/>
              </a:buClr>
              <a:buFont typeface="Arial" pitchFamily="2" charset="2"/>
              <a:buChar char="•"/>
            </a:pPr>
            <a:r>
              <a:rPr lang="en-US" sz="1200" dirty="0">
                <a:cs typeface="Arial"/>
              </a:rPr>
              <a:t>This shows that POMI performs significantly better than TL in hybrid memory configurations.</a:t>
            </a:r>
          </a:p>
          <a:p>
            <a:pPr marL="285750" indent="-285750">
              <a:lnSpc>
                <a:spcPct val="100000"/>
              </a:lnSpc>
              <a:buClr>
                <a:srgbClr val="689D9B"/>
              </a:buClr>
              <a:buFont typeface="Arial" pitchFamily="2" charset="2"/>
              <a:buChar char="•"/>
            </a:pPr>
            <a:endParaRPr lang="en-US" sz="1200" dirty="0">
              <a:cs typeface="Arial"/>
            </a:endParaRPr>
          </a:p>
          <a:p>
            <a:pPr marL="285750" indent="-285750">
              <a:lnSpc>
                <a:spcPct val="100000"/>
              </a:lnSpc>
              <a:buClr>
                <a:srgbClr val="689D9B"/>
              </a:buClr>
              <a:buFont typeface="Arial" pitchFamily="2" charset="2"/>
              <a:buChar char="•"/>
            </a:pPr>
            <a:endParaRPr lang="en-US" sz="1200" dirty="0">
              <a:cs typeface="Arial"/>
            </a:endParaRPr>
          </a:p>
          <a:p>
            <a:pPr marL="285750" indent="-285750">
              <a:lnSpc>
                <a:spcPct val="100000"/>
              </a:lnSpc>
              <a:buClr>
                <a:srgbClr val="689D9B"/>
              </a:buClr>
              <a:buFont typeface="Arial" pitchFamily="2" charset="2"/>
              <a:buChar char="•"/>
            </a:pPr>
            <a:endParaRPr lang="en-US" sz="1200" dirty="0">
              <a:cs typeface="Arial"/>
            </a:endParaRPr>
          </a:p>
          <a:p>
            <a:pPr marL="171450" indent="-171450">
              <a:buFontTx/>
              <a:buChar char="-"/>
            </a:pPr>
            <a:endParaRPr lang="en-US" sz="1200" b="0" i="0" dirty="0">
              <a:cs typeface="Arial" panose="020B0604020202020204"/>
            </a:endParaRP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7</a:t>
            </a:fld>
            <a:endParaRPr lang="en-US"/>
          </a:p>
        </p:txBody>
      </p:sp>
    </p:spTree>
    <p:extLst>
      <p:ext uri="{BB962C8B-B14F-4D97-AF65-F5344CB8AC3E}">
        <p14:creationId xmlns:p14="http://schemas.microsoft.com/office/powerpoint/2010/main" val="250716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POMI design adds additional bus lines dedicated to transfer communication packets.</a:t>
            </a:r>
          </a:p>
          <a:p>
            <a:r>
              <a:rPr lang="en-US" dirty="0"/>
              <a:t>-This approach produces the best performance at the cost of adding extra bus lines</a:t>
            </a:r>
          </a:p>
          <a:p>
            <a:endParaRPr lang="en-US" dirty="0"/>
          </a:p>
          <a:p>
            <a:r>
              <a:rPr lang="en-US" dirty="0"/>
              <a:t>- We propose Dynamic Grouping Scheduler (DGS), which is an improvement that utilizes the Command/Address</a:t>
            </a:r>
          </a:p>
          <a:p>
            <a:r>
              <a:rPr lang="en-US" dirty="0"/>
              <a:t>bus to transfer the communication packets.</a:t>
            </a:r>
          </a:p>
          <a:p>
            <a:r>
              <a:rPr lang="en-US" dirty="0"/>
              <a:t>- In order to do so, the Command/Address bus needs to support bi-directional transfer.</a:t>
            </a:r>
          </a:p>
          <a:p>
            <a:pPr marL="171450" indent="-171450">
              <a:buFontTx/>
              <a:buChar char="-"/>
            </a:pPr>
            <a:r>
              <a:rPr lang="en-US" dirty="0"/>
              <a:t>We also proposed 2 new bus scheduling policies due to the new changes</a:t>
            </a:r>
          </a:p>
          <a:p>
            <a:pPr marL="171450" indent="-171450">
              <a:buFontTx/>
              <a:buChar char="-"/>
            </a:pPr>
            <a:r>
              <a:rPr lang="en-US" dirty="0"/>
              <a:t>1) Static grouping: the scheduler groups a fixed K number of requests together to send over the bus before flipping the bus’s direction</a:t>
            </a:r>
          </a:p>
          <a:p>
            <a:pPr marL="171450" indent="-171450">
              <a:buFontTx/>
              <a:buChar char="-"/>
            </a:pPr>
            <a:r>
              <a:rPr lang="en-US" dirty="0"/>
              <a:t>2) Dynamic grouping: dynamically adjust the K number of grouping for best performance.</a:t>
            </a:r>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8</a:t>
            </a:fld>
            <a:endParaRPr lang="en-US"/>
          </a:p>
        </p:txBody>
      </p:sp>
    </p:spTree>
    <p:extLst>
      <p:ext uri="{BB962C8B-B14F-4D97-AF65-F5344CB8AC3E}">
        <p14:creationId xmlns:p14="http://schemas.microsoft.com/office/powerpoint/2010/main" val="167891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Evaluation</a:t>
            </a:r>
          </a:p>
          <a:p>
            <a:endParaRPr lang="en-US" dirty="0"/>
          </a:p>
          <a:p>
            <a:pPr marL="171450" indent="-171450">
              <a:buFontTx/>
              <a:buChar char="-"/>
            </a:pPr>
            <a:r>
              <a:rPr lang="en-US" dirty="0"/>
              <a:t>We implemented the proposed scheme in gem5 simulator, and used </a:t>
            </a:r>
            <a:r>
              <a:rPr lang="en-US" dirty="0" err="1"/>
              <a:t>DRAMPower</a:t>
            </a:r>
            <a:r>
              <a:rPr lang="en-US" dirty="0"/>
              <a:t> for energy analysis.</a:t>
            </a:r>
          </a:p>
          <a:p>
            <a:pPr marL="171450" indent="-171450">
              <a:buFontTx/>
              <a:buChar char="-"/>
            </a:pPr>
            <a:r>
              <a:rPr lang="en-US" dirty="0"/>
              <a:t>The simulations used SPEC CPU2006 and CPU2017 applications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accent5">
                    <a:lumMod val="50000"/>
                  </a:schemeClr>
                </a:solidFill>
              </a:rPr>
              <a:t>Bi-Directional Command/Address performance:</a:t>
            </a:r>
            <a:endParaRPr lang="en-US" dirty="0"/>
          </a:p>
          <a:p>
            <a:pPr marL="285750" indent="-285750">
              <a:lnSpc>
                <a:spcPct val="100000"/>
              </a:lnSpc>
              <a:buFont typeface="Arial" pitchFamily="2" charset="2"/>
              <a:buChar char="•"/>
            </a:pPr>
            <a:r>
              <a:rPr lang="en-US" sz="1200" dirty="0">
                <a:cs typeface="Arial"/>
              </a:rPr>
              <a:t>Memory-intensive (</a:t>
            </a:r>
            <a:r>
              <a:rPr lang="en-US" sz="1200" b="1" dirty="0">
                <a:cs typeface="Arial"/>
              </a:rPr>
              <a:t>HIGH</a:t>
            </a:r>
            <a:r>
              <a:rPr lang="en-US" sz="1200" dirty="0">
                <a:cs typeface="Arial"/>
              </a:rPr>
              <a:t>): POMI-bi performs </a:t>
            </a:r>
            <a:r>
              <a:rPr lang="en-US" sz="1200" b="1" dirty="0">
                <a:solidFill>
                  <a:srgbClr val="FF0000"/>
                </a:solidFill>
                <a:cs typeface="Arial"/>
              </a:rPr>
              <a:t>4.0%</a:t>
            </a:r>
            <a:r>
              <a:rPr lang="en-US" sz="1200" dirty="0">
                <a:cs typeface="Arial"/>
              </a:rPr>
              <a:t> worse than POMI, on average.</a:t>
            </a:r>
          </a:p>
          <a:p>
            <a:pPr marL="285750" indent="-285750">
              <a:lnSpc>
                <a:spcPct val="100000"/>
              </a:lnSpc>
              <a:buClr>
                <a:srgbClr val="689D9B"/>
              </a:buClr>
              <a:buFont typeface="Arial" pitchFamily="2" charset="2"/>
              <a:buChar char="•"/>
            </a:pPr>
            <a:r>
              <a:rPr lang="en-US" sz="1200" dirty="0">
                <a:cs typeface="Arial"/>
              </a:rPr>
              <a:t>Mixed workloads (</a:t>
            </a:r>
            <a:r>
              <a:rPr lang="en-US" sz="1200" b="1" dirty="0">
                <a:cs typeface="Arial"/>
              </a:rPr>
              <a:t>MIX</a:t>
            </a:r>
            <a:r>
              <a:rPr lang="en-US" sz="1200" dirty="0">
                <a:cs typeface="Arial"/>
              </a:rPr>
              <a:t>): POMI-bi performs </a:t>
            </a:r>
            <a:r>
              <a:rPr lang="en-US" sz="1200" b="1" dirty="0">
                <a:solidFill>
                  <a:srgbClr val="FF0000"/>
                </a:solidFill>
                <a:cs typeface="Arial"/>
              </a:rPr>
              <a:t>2.9%</a:t>
            </a:r>
            <a:r>
              <a:rPr lang="en-US" sz="1200" dirty="0">
                <a:cs typeface="Arial"/>
              </a:rPr>
              <a:t> worse than POMI, on average.</a:t>
            </a:r>
          </a:p>
          <a:p>
            <a:pPr marL="0" indent="0">
              <a:lnSpc>
                <a:spcPct val="100000"/>
              </a:lnSpc>
              <a:buNone/>
            </a:pPr>
            <a:r>
              <a:rPr lang="en-US" sz="1400" dirty="0">
                <a:cs typeface="Arial"/>
              </a:rPr>
              <a:t>**</a:t>
            </a:r>
            <a:r>
              <a:rPr lang="en-US" sz="1400" i="1" dirty="0">
                <a:solidFill>
                  <a:srgbClr val="FF0000"/>
                </a:solidFill>
                <a:cs typeface="Arial"/>
              </a:rPr>
              <a:t>Performance degradation comes from inefficiency by continuous bus turnarounds.</a:t>
            </a:r>
          </a:p>
          <a:p>
            <a:pPr marL="0" indent="0">
              <a:lnSpc>
                <a:spcPct val="100000"/>
              </a:lnSpc>
              <a:buNone/>
            </a:pPr>
            <a:r>
              <a:rPr lang="en-US" sz="1400" dirty="0">
                <a:cs typeface="Arial"/>
              </a:rPr>
              <a:t>**</a:t>
            </a:r>
            <a:r>
              <a:rPr lang="en-US" sz="1400" i="1" dirty="0">
                <a:solidFill>
                  <a:srgbClr val="00B050"/>
                </a:solidFill>
                <a:cs typeface="Arial"/>
              </a:rPr>
              <a:t>No longer needs additional Detail/Transfer bus.</a:t>
            </a:r>
            <a:r>
              <a:rPr lang="en-US" sz="1400" dirty="0">
                <a:cs typeface="Arial"/>
              </a:rPr>
              <a:t> </a:t>
            </a:r>
          </a:p>
          <a:p>
            <a:pPr marL="0" indent="0">
              <a:lnSpc>
                <a:spcPct val="100000"/>
              </a:lnSpc>
              <a:buNone/>
            </a:pPr>
            <a:endParaRPr lang="en-US" sz="1400" dirty="0">
              <a:cs typeface="Arial"/>
            </a:endParaRPr>
          </a:p>
          <a:p>
            <a:pPr marL="0" indent="0">
              <a:lnSpc>
                <a:spcPct val="100000"/>
              </a:lnSpc>
              <a:buNone/>
            </a:pPr>
            <a:r>
              <a:rPr lang="en-US" sz="1400" dirty="0">
                <a:cs typeface="Arial"/>
              </a:rPr>
              <a:t>To improve the performance degradation, we proposed the 2 new bus scheduling policies, static-grouping and dynamic-grouping</a:t>
            </a:r>
          </a:p>
          <a:p>
            <a:pPr marL="0" indent="0">
              <a:lnSpc>
                <a:spcPct val="100000"/>
              </a:lnSpc>
              <a:buNone/>
            </a:pPr>
            <a:endParaRPr lang="en-US" sz="1400" dirty="0">
              <a:cs typeface="Arial"/>
            </a:endParaRPr>
          </a:p>
          <a:p>
            <a:pPr marL="0" indent="0">
              <a:lnSpc>
                <a:spcPct val="100000"/>
              </a:lnSpc>
              <a:buNone/>
            </a:pPr>
            <a:r>
              <a:rPr lang="en-US" sz="1400" dirty="0">
                <a:cs typeface="Arial"/>
              </a:rPr>
              <a:t>Memory-intensive (</a:t>
            </a:r>
            <a:r>
              <a:rPr lang="en-US" sz="1400" b="1" dirty="0">
                <a:cs typeface="Arial"/>
              </a:rPr>
              <a:t>HIGH</a:t>
            </a:r>
            <a:r>
              <a:rPr lang="en-US" sz="1400" dirty="0">
                <a:cs typeface="Arial"/>
              </a:rPr>
              <a:t>): POMI-static performs </a:t>
            </a:r>
            <a:r>
              <a:rPr lang="en-US" sz="1400" b="1" dirty="0">
                <a:solidFill>
                  <a:srgbClr val="C00000"/>
                </a:solidFill>
                <a:cs typeface="Arial"/>
              </a:rPr>
              <a:t>1.1%</a:t>
            </a:r>
            <a:r>
              <a:rPr lang="en-US" sz="1400" dirty="0">
                <a:cs typeface="Arial"/>
              </a:rPr>
              <a:t> - </a:t>
            </a:r>
            <a:r>
              <a:rPr lang="en-US" sz="1400" b="1" dirty="0">
                <a:solidFill>
                  <a:srgbClr val="C00000"/>
                </a:solidFill>
                <a:cs typeface="Arial"/>
              </a:rPr>
              <a:t>2.2%</a:t>
            </a:r>
            <a:r>
              <a:rPr lang="en-US" sz="1400" dirty="0">
                <a:cs typeface="Arial"/>
              </a:rPr>
              <a:t> worse than POMI, with K ranges from 2 to 5</a:t>
            </a:r>
          </a:p>
          <a:p>
            <a:pPr marL="0" indent="0">
              <a:lnSpc>
                <a:spcPct val="100000"/>
              </a:lnSpc>
              <a:buNone/>
            </a:pPr>
            <a:r>
              <a:rPr lang="en-US" sz="1400" dirty="0">
                <a:cs typeface="Arial"/>
              </a:rPr>
              <a:t>For mixed workloads, POMI-static performs 1.2% to 1.6% worse than POMI.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cs typeface="Arial"/>
              </a:rPr>
              <a:t>As compared to the static grouping scheduler,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cs typeface="Arial"/>
              </a:rPr>
              <a:t>Dynamic Grouping Scheduler can still outperforms </a:t>
            </a:r>
            <a:r>
              <a:rPr lang="en-US" sz="1400" i="1" dirty="0">
                <a:cs typeface="Arial"/>
              </a:rPr>
              <a:t>optimally-picked </a:t>
            </a:r>
            <a:r>
              <a:rPr lang="en-US" sz="1400" dirty="0">
                <a:cs typeface="Arial"/>
              </a:rPr>
              <a:t>K-value Static Grouping.</a:t>
            </a: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0" indent="0">
              <a:lnSpc>
                <a:spcPct val="100000"/>
              </a:lnSpc>
              <a:buNone/>
            </a:pPr>
            <a:endParaRPr lang="en-US" sz="1400" dirty="0">
              <a:cs typeface="Arial"/>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9</a:t>
            </a:fld>
            <a:endParaRPr lang="en-US"/>
          </a:p>
        </p:txBody>
      </p:sp>
    </p:spTree>
    <p:extLst>
      <p:ext uri="{BB962C8B-B14F-4D97-AF65-F5344CB8AC3E}">
        <p14:creationId xmlns:p14="http://schemas.microsoft.com/office/powerpoint/2010/main" val="3854764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FFDC1B-633B-9D46-A760-94AD7E6DEF05}" type="slidenum">
              <a:rPr lang="en-US" smtClean="0"/>
              <a:t>10</a:t>
            </a:fld>
            <a:endParaRPr lang="en-US"/>
          </a:p>
        </p:txBody>
      </p:sp>
    </p:spTree>
    <p:extLst>
      <p:ext uri="{BB962C8B-B14F-4D97-AF65-F5344CB8AC3E}">
        <p14:creationId xmlns:p14="http://schemas.microsoft.com/office/powerpoint/2010/main" val="257961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Data prefetching is a technique used in most modern processors to bring data into cache before it is requested by the core, effectively hiding the memory access latency.</a:t>
            </a:r>
          </a:p>
          <a:p>
            <a:pPr marL="171450" indent="-171450">
              <a:buFontTx/>
              <a:buChar char="-"/>
            </a:pPr>
            <a:r>
              <a:rPr lang="en-US" dirty="0"/>
              <a:t>However, inaccurate prefetcher negatively impact performance by consuming valuable bandwidth and pollutes the cache.</a:t>
            </a:r>
          </a:p>
          <a:p>
            <a:pPr marL="171450" indent="-171450">
              <a:buFontTx/>
              <a:buChar char="-"/>
            </a:pPr>
            <a:r>
              <a:rPr lang="en-US" dirty="0"/>
              <a:t>On the right side is a figure, showing the percentage of prefetches used/evicted from L2 cache for several SPEC CPU workloads.</a:t>
            </a:r>
          </a:p>
          <a:p>
            <a:pPr marL="628650" lvl="1" indent="-171450">
              <a:buFontTx/>
              <a:buChar char="-"/>
            </a:pPr>
            <a:r>
              <a:rPr lang="en-US" dirty="0"/>
              <a:t>On average, 62.7% of the prefetched data are evicted without being referenced once.</a:t>
            </a:r>
          </a:p>
          <a:p>
            <a:pPr marL="628650" lvl="1" indent="-171450">
              <a:buFontTx/>
              <a:buChar char="-"/>
            </a:pPr>
            <a:r>
              <a:rPr lang="en-US" dirty="0"/>
              <a:t>These prefetches consumed resources and bandwidth that could been used for useful requests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11</a:t>
            </a:fld>
            <a:endParaRPr lang="en-US"/>
          </a:p>
        </p:txBody>
      </p:sp>
    </p:spTree>
    <p:extLst>
      <p:ext uri="{BB962C8B-B14F-4D97-AF65-F5344CB8AC3E}">
        <p14:creationId xmlns:p14="http://schemas.microsoft.com/office/powerpoint/2010/main" val="457974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prefetching is a well-studied technique deployed in most computer system nowadays.</a:t>
            </a:r>
          </a:p>
          <a:p>
            <a:r>
              <a:rPr lang="en-US" dirty="0"/>
              <a:t>- The goal of prefetching is to preemptively fetch data into cache before it is actually requested by the processor, effectively hiding the memory access latency. </a:t>
            </a:r>
          </a:p>
          <a:p>
            <a:pPr marL="171450" indent="-171450">
              <a:buFontTx/>
              <a:buChar char="-"/>
            </a:pPr>
            <a:r>
              <a:rPr lang="en-US" dirty="0"/>
              <a:t>Most prefetcher utilize metadata within the core to predict memory access patterns , such as PC, request’s tag, delta, signature</a:t>
            </a:r>
          </a:p>
          <a:p>
            <a:pPr marL="171450" indent="-171450">
              <a:buFontTx/>
              <a:buChar char="-"/>
            </a:pPr>
            <a:r>
              <a:rPr lang="en-US" dirty="0"/>
              <a:t>Most prefetchers aim to increase accuracy while moderating their aggressiveness to prevent over-fetching.</a:t>
            </a:r>
          </a:p>
        </p:txBody>
      </p:sp>
      <p:sp>
        <p:nvSpPr>
          <p:cNvPr id="4" name="Slide Number Placeholder 3"/>
          <p:cNvSpPr>
            <a:spLocks noGrp="1"/>
          </p:cNvSpPr>
          <p:nvPr>
            <p:ph type="sldNum" sz="quarter" idx="5"/>
          </p:nvPr>
        </p:nvSpPr>
        <p:spPr/>
        <p:txBody>
          <a:bodyPr/>
          <a:lstStyle/>
          <a:p>
            <a:fld id="{1BFFDC1B-633B-9D46-A760-94AD7E6DEF05}" type="slidenum">
              <a:rPr lang="en-US" smtClean="0"/>
              <a:t>12</a:t>
            </a:fld>
            <a:endParaRPr lang="en-US"/>
          </a:p>
        </p:txBody>
      </p:sp>
    </p:spTree>
    <p:extLst>
      <p:ext uri="{BB962C8B-B14F-4D97-AF65-F5344CB8AC3E}">
        <p14:creationId xmlns:p14="http://schemas.microsoft.com/office/powerpoint/2010/main" val="3985861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However, inaccurate prefetcher can impact the performance of the system by causing cache pollution </a:t>
            </a:r>
          </a:p>
          <a:p>
            <a:r>
              <a:rPr lang="en-US" dirty="0"/>
              <a:t>and increasing contention on memory bandwidth </a:t>
            </a:r>
          </a:p>
          <a:p>
            <a:endParaRPr lang="en-US" dirty="0"/>
          </a:p>
          <a:p>
            <a:r>
              <a:rPr lang="en-US" dirty="0"/>
              <a:t>Therefore, prefetch filtering is used to filter unnecessary prefetch requests. </a:t>
            </a:r>
          </a:p>
          <a:p>
            <a:r>
              <a:rPr lang="en-US" dirty="0"/>
              <a:t>It acts as an independent check on the quality of incoming prefetches.</a:t>
            </a:r>
          </a:p>
          <a:p>
            <a:r>
              <a:rPr lang="en-US" dirty="0"/>
              <a:t>The hardware-based filter is typically housed directly in the cache hierarchy, and requires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-Previously proposed filters only examine core-side information such as prefetcher accuracy, or confidence level.  However, this decision should consider both the cache and memory status.</a:t>
            </a:r>
          </a:p>
          <a:p>
            <a:endParaRPr lang="en-US" dirty="0"/>
          </a:p>
          <a:p>
            <a:endParaRPr lang="en-US" dirty="0"/>
          </a:p>
          <a:p>
            <a:r>
              <a:rPr lang="en-US" dirty="0"/>
              <a:t>On the right, we have a figure of a typical prefetch filter engine.</a:t>
            </a:r>
          </a:p>
          <a:p>
            <a:r>
              <a:rPr lang="en-US" dirty="0"/>
              <a:t>A question of “Should we proceed with the prefetch?” is asked for every generated request, and the filter usually answers yes or no, meaning that we should continue normally or discard the generated request.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13</a:t>
            </a:fld>
            <a:endParaRPr lang="en-US"/>
          </a:p>
        </p:txBody>
      </p:sp>
    </p:spTree>
    <p:extLst>
      <p:ext uri="{BB962C8B-B14F-4D97-AF65-F5344CB8AC3E}">
        <p14:creationId xmlns:p14="http://schemas.microsoft.com/office/powerpoint/2010/main" val="1915083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Perceptron is a simple neural network to recognize correlation between its input and the pattern.</a:t>
            </a:r>
          </a:p>
          <a:p>
            <a:pPr marL="171450" indent="-171450">
              <a:buFontTx/>
              <a:buChar char="-"/>
            </a:pPr>
            <a:r>
              <a:rPr lang="en-US" dirty="0"/>
              <a:t>However, the original perceptron architecture requires dot-product operation, which is expensive and long calculations which is not acceptable in architectural designs. </a:t>
            </a:r>
          </a:p>
          <a:p>
            <a:pPr marL="171450" indent="-171450">
              <a:buFontTx/>
              <a:buChar char="-"/>
            </a:pPr>
            <a:r>
              <a:rPr lang="en-US" dirty="0"/>
              <a:t>Instead, we will be using hashed perceptron variation of the original perceptron design.</a:t>
            </a:r>
          </a:p>
          <a:p>
            <a:pPr marL="171450" indent="-171450">
              <a:buFontTx/>
              <a:buChar char="-"/>
            </a:pPr>
            <a:r>
              <a:rPr lang="en-US" dirty="0"/>
              <a:t>The hashed perceptron hashes the features into indices of the weight table	</a:t>
            </a:r>
          </a:p>
          <a:p>
            <a:pPr marL="628650" lvl="1" indent="-171450">
              <a:buFontTx/>
              <a:buChar char="-"/>
            </a:pPr>
            <a:r>
              <a:rPr lang="en-US" dirty="0"/>
              <a:t>Then, a sum operation is applied across all indexed weights and a binary decision is made if the sum passes a threshold.</a:t>
            </a:r>
          </a:p>
          <a:p>
            <a:pPr marL="628650" lvl="1" indent="-171450">
              <a:buFontTx/>
              <a:buChar char="-"/>
            </a:pPr>
            <a:r>
              <a:rPr lang="en-US" dirty="0"/>
              <a:t>Furthermore, training hashed perceptron is simple because it’s just increment/decrement the indexed weight values. </a:t>
            </a:r>
          </a:p>
          <a:p>
            <a:pPr marL="628650" lvl="1" indent="-171450">
              <a:buFontTx/>
              <a:buChar char="-"/>
            </a:pPr>
            <a:r>
              <a:rPr lang="en-US" dirty="0"/>
              <a:t>The hashed perceptron significantly reduces latency of both inference and training stage compared to original perceptron architecture.</a:t>
            </a:r>
          </a:p>
          <a:p>
            <a:pPr marL="628650" lvl="1"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14</a:t>
            </a:fld>
            <a:endParaRPr lang="en-US"/>
          </a:p>
        </p:txBody>
      </p:sp>
    </p:spTree>
    <p:extLst>
      <p:ext uri="{BB962C8B-B14F-4D97-AF65-F5344CB8AC3E}">
        <p14:creationId xmlns:p14="http://schemas.microsoft.com/office/powerpoint/2010/main" val="83785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MSF Overview.</a:t>
            </a:r>
          </a:p>
          <a:p>
            <a:r>
              <a:rPr lang="en-US" dirty="0"/>
              <a:t>On the right is a figure showing high-level overview of MSF.</a:t>
            </a:r>
          </a:p>
          <a:p>
            <a:r>
              <a:rPr lang="en-US" dirty="0"/>
              <a:t>- The Prefetch Analyzer Module (PAM) is placed in the memory controller, overseeing all Read memory requests coming from LLC.</a:t>
            </a:r>
          </a:p>
          <a:p>
            <a:r>
              <a:rPr lang="en-US" dirty="0"/>
              <a:t>– PAM uses perceptron learning technique to pull features together, derived from the metadata available within MC.</a:t>
            </a:r>
          </a:p>
          <a:p>
            <a:pPr marL="171450" indent="-171450">
              <a:buFontTx/>
              <a:buChar char="-"/>
            </a:pPr>
            <a:r>
              <a:rPr lang="en-US" dirty="0"/>
              <a:t>There are 2 stages of perceptron learning, inference and training.</a:t>
            </a:r>
          </a:p>
          <a:p>
            <a:pPr marL="628650" lvl="1" indent="-171450">
              <a:buFontTx/>
              <a:buChar char="-"/>
            </a:pPr>
            <a:r>
              <a:rPr lang="en-US" dirty="0"/>
              <a:t>Inference is triggered on every prefetch memory requests</a:t>
            </a:r>
          </a:p>
          <a:p>
            <a:pPr marL="628650" lvl="1" indent="-171450">
              <a:buFontTx/>
              <a:buChar char="-"/>
            </a:pPr>
            <a:r>
              <a:rPr lang="en-US" dirty="0"/>
              <a:t>Training is triggered on LLC feedbacks</a:t>
            </a:r>
          </a:p>
          <a:p>
            <a:pPr marL="171450" lvl="0" indent="-171450">
              <a:buFontTx/>
              <a:buChar char="-"/>
            </a:pPr>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15</a:t>
            </a:fld>
            <a:endParaRPr lang="en-US"/>
          </a:p>
        </p:txBody>
      </p:sp>
    </p:spTree>
    <p:extLst>
      <p:ext uri="{BB962C8B-B14F-4D97-AF65-F5344CB8AC3E}">
        <p14:creationId xmlns:p14="http://schemas.microsoft.com/office/powerpoint/2010/main" val="3201312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Analyzer Module</a:t>
            </a:r>
          </a:p>
          <a:p>
            <a:pPr marL="171450" indent="-171450">
              <a:buFontTx/>
              <a:buChar char="-"/>
            </a:pPr>
            <a:r>
              <a:rPr lang="en-US" dirty="0"/>
              <a:t>On the right is a figure showing the core components of PAM.</a:t>
            </a:r>
          </a:p>
          <a:p>
            <a:pPr marL="171450" indent="-171450">
              <a:buFontTx/>
              <a:buChar char="-"/>
            </a:pPr>
            <a:endParaRPr lang="en-US" dirty="0"/>
          </a:p>
          <a:p>
            <a:pPr marL="171450" indent="-171450">
              <a:buFontTx/>
              <a:buChar char="-"/>
            </a:pPr>
            <a:r>
              <a:rPr lang="en-US" dirty="0"/>
              <a:t>There are a few core components of PAM:</a:t>
            </a:r>
          </a:p>
          <a:p>
            <a:pPr marL="628650" lvl="1" indent="-171450">
              <a:buFontTx/>
              <a:buChar char="-"/>
            </a:pPr>
            <a:r>
              <a:rPr lang="en-US" dirty="0"/>
              <a:t>Feature Collector is in charge of gathering all the metadata required to compute the features.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16</a:t>
            </a:fld>
            <a:endParaRPr lang="en-US"/>
          </a:p>
        </p:txBody>
      </p:sp>
    </p:spTree>
    <p:extLst>
      <p:ext uri="{BB962C8B-B14F-4D97-AF65-F5344CB8AC3E}">
        <p14:creationId xmlns:p14="http://schemas.microsoft.com/office/powerpoint/2010/main" val="4199071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Analyzer Module</a:t>
            </a:r>
          </a:p>
          <a:p>
            <a:pPr marL="171450" indent="-171450">
              <a:buFontTx/>
              <a:buChar char="-"/>
            </a:pPr>
            <a:r>
              <a:rPr lang="en-US" dirty="0"/>
              <a:t>On the right is a figure showing the core components of PAM.</a:t>
            </a:r>
          </a:p>
          <a:p>
            <a:pPr marL="171450" indent="-171450">
              <a:buFontTx/>
              <a:buChar char="-"/>
            </a:pPr>
            <a:endParaRPr lang="en-US" dirty="0"/>
          </a:p>
          <a:p>
            <a:pPr marL="171450" indent="-171450">
              <a:buFontTx/>
              <a:buChar char="-"/>
            </a:pPr>
            <a:r>
              <a:rPr lang="en-US" dirty="0"/>
              <a:t>There are a few core components of PAM:</a:t>
            </a:r>
          </a:p>
          <a:p>
            <a:pPr marL="628650" lvl="1" indent="-171450">
              <a:buFontTx/>
              <a:buChar char="-"/>
            </a:pPr>
            <a:r>
              <a:rPr lang="en-US" dirty="0"/>
              <a:t>Feature Collector is in charge of gathering all the metadata required to compute the features.</a:t>
            </a:r>
          </a:p>
          <a:p>
            <a:pPr marL="628650" lvl="1" indent="-171450">
              <a:buFontTx/>
              <a:buChar char="-"/>
            </a:pPr>
            <a:r>
              <a:rPr lang="en-US" dirty="0"/>
              <a:t>All the features are hashed into their respective index within the Weight Table</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17</a:t>
            </a:fld>
            <a:endParaRPr lang="en-US"/>
          </a:p>
        </p:txBody>
      </p:sp>
    </p:spTree>
    <p:extLst>
      <p:ext uri="{BB962C8B-B14F-4D97-AF65-F5344CB8AC3E}">
        <p14:creationId xmlns:p14="http://schemas.microsoft.com/office/powerpoint/2010/main" val="724562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Analyzer Module</a:t>
            </a:r>
          </a:p>
          <a:p>
            <a:pPr marL="171450" indent="-171450">
              <a:buFontTx/>
              <a:buChar char="-"/>
            </a:pPr>
            <a:r>
              <a:rPr lang="en-US" dirty="0"/>
              <a:t>On the right is a figure showing the core components of PAM.</a:t>
            </a:r>
          </a:p>
          <a:p>
            <a:pPr marL="171450" indent="-171450">
              <a:buFontTx/>
              <a:buChar char="-"/>
            </a:pPr>
            <a:endParaRPr lang="en-US" dirty="0"/>
          </a:p>
          <a:p>
            <a:pPr marL="171450" indent="-171450">
              <a:buFontTx/>
              <a:buChar char="-"/>
            </a:pPr>
            <a:r>
              <a:rPr lang="en-US" dirty="0"/>
              <a:t>There are a few core components of PAM:</a:t>
            </a:r>
          </a:p>
          <a:p>
            <a:pPr marL="628650" lvl="1" indent="-171450">
              <a:buFontTx/>
              <a:buChar char="-"/>
            </a:pPr>
            <a:r>
              <a:rPr lang="en-US" dirty="0"/>
              <a:t>Feature Collector is in charge of gathering all the metadata required to compute the features.</a:t>
            </a:r>
          </a:p>
          <a:p>
            <a:pPr marL="628650" lvl="1" indent="-171450">
              <a:buFontTx/>
              <a:buChar char="-"/>
            </a:pPr>
            <a:r>
              <a:rPr lang="en-US" dirty="0"/>
              <a:t>All the features are hashed into their respective index within the Weight Table</a:t>
            </a:r>
          </a:p>
          <a:p>
            <a:pPr marL="628650" lvl="1" indent="-171450">
              <a:buFontTx/>
              <a:buChar char="-"/>
            </a:pPr>
            <a:r>
              <a:rPr lang="en-US" dirty="0"/>
              <a:t>The weights are accumulated and fed into the Activator for the final decision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18</a:t>
            </a:fld>
            <a:endParaRPr lang="en-US"/>
          </a:p>
        </p:txBody>
      </p:sp>
    </p:spTree>
    <p:extLst>
      <p:ext uri="{BB962C8B-B14F-4D97-AF65-F5344CB8AC3E}">
        <p14:creationId xmlns:p14="http://schemas.microsoft.com/office/powerpoint/2010/main" val="3846694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Prefetch Analyzer Module</a:t>
            </a:r>
          </a:p>
          <a:p>
            <a:pPr marL="171450" indent="-171450">
              <a:buFontTx/>
              <a:buChar char="-"/>
            </a:pPr>
            <a:r>
              <a:rPr lang="en-US" dirty="0"/>
              <a:t>On the right is a figure showing the core components of PAM.</a:t>
            </a:r>
          </a:p>
          <a:p>
            <a:pPr marL="171450" indent="-171450">
              <a:buFontTx/>
              <a:buChar char="-"/>
            </a:pPr>
            <a:endParaRPr lang="en-US" dirty="0"/>
          </a:p>
          <a:p>
            <a:pPr marL="171450" indent="-171450">
              <a:buFontTx/>
              <a:buChar char="-"/>
            </a:pPr>
            <a:r>
              <a:rPr lang="en-US" dirty="0"/>
              <a:t>There are a few core components of PAM:</a:t>
            </a:r>
          </a:p>
          <a:p>
            <a:pPr marL="628650" lvl="1" indent="-171450">
              <a:buFontTx/>
              <a:buChar char="-"/>
            </a:pPr>
            <a:r>
              <a:rPr lang="en-US" dirty="0"/>
              <a:t>Feature Collector is in charge of gathering all the metadata required to compute the features.</a:t>
            </a:r>
          </a:p>
          <a:p>
            <a:pPr marL="628650" lvl="1" indent="-171450">
              <a:buFontTx/>
              <a:buChar char="-"/>
            </a:pPr>
            <a:r>
              <a:rPr lang="en-US" dirty="0"/>
              <a:t>All the features are hashed into their respective index within the Weight Table</a:t>
            </a:r>
          </a:p>
          <a:p>
            <a:pPr marL="628650" lvl="1" indent="-171450">
              <a:buFontTx/>
              <a:buChar char="-"/>
            </a:pPr>
            <a:r>
              <a:rPr lang="en-US" dirty="0"/>
              <a:t>The weights are accumulated and fed into the Activator for the final decision</a:t>
            </a:r>
          </a:p>
          <a:p>
            <a:pPr marL="628650" lvl="1" indent="-171450">
              <a:buFontTx/>
              <a:buChar char="-"/>
            </a:pPr>
            <a:r>
              <a:rPr lang="en-US" dirty="0"/>
              <a:t>Once the decision is finalized, the metadata values are used to form an entry in the Positive and Negative Tables.</a:t>
            </a:r>
          </a:p>
          <a:p>
            <a:pPr marL="628650" lvl="1" indent="-171450">
              <a:buFontTx/>
              <a:buChar char="-"/>
            </a:pPr>
            <a:r>
              <a:rPr lang="en-US" dirty="0"/>
              <a:t>Depending on if the decision is an approved decision (positive), then the entry goes in Positive Table, otherwise Negative Table.</a:t>
            </a:r>
          </a:p>
          <a:p>
            <a:pPr marL="628650" lvl="1" indent="-171450">
              <a:buFontTx/>
              <a:buChar char="-"/>
            </a:pPr>
            <a:r>
              <a:rPr lang="en-US" dirty="0"/>
              <a:t>These entries are used as training opportunities </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19</a:t>
            </a:fld>
            <a:endParaRPr lang="en-US"/>
          </a:p>
        </p:txBody>
      </p:sp>
    </p:spTree>
    <p:extLst>
      <p:ext uri="{BB962C8B-B14F-4D97-AF65-F5344CB8AC3E}">
        <p14:creationId xmlns:p14="http://schemas.microsoft.com/office/powerpoint/2010/main" val="3633661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stage</a:t>
            </a:r>
          </a:p>
          <a:p>
            <a:pPr marL="171450" indent="-171450">
              <a:buFontTx/>
              <a:buChar char="-"/>
            </a:pPr>
            <a:r>
              <a:rPr lang="en-US" dirty="0"/>
              <a:t>There are 2 types of read requests arriving at the controller:</a:t>
            </a:r>
          </a:p>
          <a:p>
            <a:pPr marL="628650" lvl="1" indent="-171450">
              <a:buFontTx/>
              <a:buChar char="-"/>
            </a:pPr>
            <a:r>
              <a:rPr lang="en-US" dirty="0"/>
              <a:t>1) Speculative prefetch request</a:t>
            </a:r>
          </a:p>
          <a:p>
            <a:pPr marL="628650" lvl="1" indent="-171450">
              <a:buFontTx/>
              <a:buChar char="-"/>
            </a:pPr>
            <a:r>
              <a:rPr lang="en-US" dirty="0"/>
              <a:t>2) True demand request</a:t>
            </a:r>
          </a:p>
          <a:p>
            <a:pPr marL="171450" indent="-171450">
              <a:buFontTx/>
              <a:buChar char="-"/>
            </a:pPr>
            <a:r>
              <a:rPr lang="en-US" dirty="0"/>
              <a:t>Inference is triggered on every Read requests:</a:t>
            </a:r>
          </a:p>
          <a:p>
            <a:pPr marL="628650" lvl="1" indent="-171450">
              <a:buFontTx/>
              <a:buChar char="-"/>
            </a:pPr>
            <a:r>
              <a:rPr lang="en-US" dirty="0"/>
              <a:t>1) PAM analyzes the prefetch and makes a binary decision on whether or not the prefetch is needed.</a:t>
            </a:r>
          </a:p>
          <a:p>
            <a:pPr marL="628650" lvl="1" indent="-171450">
              <a:buFontTx/>
              <a:buChar char="-"/>
            </a:pPr>
            <a:r>
              <a:rPr lang="en-US" dirty="0"/>
              <a:t>If a prefetch is deemed unnecessary, it is simply discarded and the MSHR entry can be freed.</a:t>
            </a:r>
          </a:p>
          <a:p>
            <a:pPr marL="628650" lvl="1" indent="-171450">
              <a:buFontTx/>
              <a:buChar char="-"/>
            </a:pPr>
            <a:r>
              <a:rPr lang="en-US" dirty="0"/>
              <a:t>If a prefetch is deemed useful, the request can proceed as normal request.</a:t>
            </a:r>
          </a:p>
          <a:p>
            <a:pPr marL="628650" lvl="1" indent="-171450">
              <a:buFontTx/>
              <a:buChar char="-"/>
            </a:pPr>
            <a:endParaRPr lang="en-US" dirty="0"/>
          </a:p>
          <a:p>
            <a:pPr marL="628650" lvl="1" indent="-171450">
              <a:buFontTx/>
              <a:buChar char="-"/>
            </a:pPr>
            <a:r>
              <a:rPr lang="en-US" dirty="0"/>
              <a:t>After the decision is finalized, the metadata values are stored in the logging tables , along with any information needed to retrieve the state of this decision, for later training stage.</a:t>
            </a:r>
          </a:p>
        </p:txBody>
      </p:sp>
      <p:sp>
        <p:nvSpPr>
          <p:cNvPr id="4" name="Slide Number Placeholder 3"/>
          <p:cNvSpPr>
            <a:spLocks noGrp="1"/>
          </p:cNvSpPr>
          <p:nvPr>
            <p:ph type="sldNum" sz="quarter" idx="5"/>
          </p:nvPr>
        </p:nvSpPr>
        <p:spPr/>
        <p:txBody>
          <a:bodyPr/>
          <a:lstStyle/>
          <a:p>
            <a:fld id="{1BFFDC1B-633B-9D46-A760-94AD7E6DEF05}" type="slidenum">
              <a:rPr lang="en-US" smtClean="0"/>
              <a:t>20</a:t>
            </a:fld>
            <a:endParaRPr lang="en-US"/>
          </a:p>
        </p:txBody>
      </p:sp>
    </p:spTree>
    <p:extLst>
      <p:ext uri="{BB962C8B-B14F-4D97-AF65-F5344CB8AC3E}">
        <p14:creationId xmlns:p14="http://schemas.microsoft.com/office/powerpoint/2010/main" val="225290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Training Stage of Prefetch Analyzer</a:t>
            </a:r>
            <a:endParaRPr lang="en-US" dirty="0"/>
          </a:p>
          <a:p>
            <a:endParaRPr lang="en-US" dirty="0"/>
          </a:p>
          <a:p>
            <a:r>
              <a:rPr lang="en-US" dirty="0"/>
              <a:t>Recall that </a:t>
            </a:r>
          </a:p>
          <a:p>
            <a:r>
              <a:rPr lang="en-US" dirty="0">
                <a:cs typeface="Calibri"/>
              </a:rPr>
              <a:t>If a prefetch is approved by the PAM, the request proceeds normally and is treated like a typical read request. </a:t>
            </a:r>
          </a:p>
          <a:p>
            <a:endParaRPr lang="en-US" dirty="0">
              <a:cs typeface="Calibri"/>
            </a:endParaRPr>
          </a:p>
          <a:p>
            <a:r>
              <a:rPr lang="en-US" dirty="0">
                <a:cs typeface="Calibri"/>
              </a:rPr>
              <a:t>Therefore, </a:t>
            </a:r>
          </a:p>
          <a:p>
            <a:r>
              <a:rPr lang="en-US" dirty="0"/>
              <a:t>There are 2 scenarios that can happen if a prefetch is approved: </a:t>
            </a:r>
          </a:p>
          <a:p>
            <a:pPr marL="228600" indent="-228600">
              <a:buAutoNum type="arabicParenR"/>
            </a:pPr>
            <a:r>
              <a:rPr lang="en-US" dirty="0"/>
              <a:t>Either it's a good prefetch: meaning the </a:t>
            </a:r>
            <a:r>
              <a:rPr lang="en-US" dirty="0" err="1"/>
              <a:t>cacheline</a:t>
            </a:r>
            <a:r>
              <a:rPr lang="en-US" dirty="0"/>
              <a:t> is used in the LLC,</a:t>
            </a:r>
          </a:p>
          <a:p>
            <a:pPr marL="228600" indent="-228600">
              <a:buAutoNum type="arabicParenR"/>
            </a:pPr>
            <a:r>
              <a:rPr lang="en-US" dirty="0"/>
              <a:t> or it's a bad prefetch: meaning the prefetched data is never used and resides in LLC for a long time until it is evicted.</a:t>
            </a:r>
            <a:endParaRPr lang="en-US" dirty="0">
              <a:cs typeface="Calibri"/>
            </a:endParaRPr>
          </a:p>
          <a:p>
            <a:r>
              <a:rPr lang="en-US" dirty="0">
                <a:cs typeface="Calibri"/>
              </a:rPr>
              <a:t>The Last Level Cache sends feedback if a prefetched </a:t>
            </a:r>
            <a:r>
              <a:rPr lang="en-US" dirty="0" err="1">
                <a:cs typeface="Calibri"/>
              </a:rPr>
              <a:t>cacheline</a:t>
            </a:r>
            <a:r>
              <a:rPr lang="en-US" dirty="0">
                <a:cs typeface="Calibri"/>
              </a:rPr>
              <a:t> is used by the processor, and similarly if a prefetched block is evicted from the LLC. </a:t>
            </a:r>
          </a:p>
          <a:p>
            <a:endParaRPr lang="en-US" dirty="0">
              <a:cs typeface="Calibri"/>
            </a:endParaRPr>
          </a:p>
          <a:p>
            <a:br>
              <a:rPr lang="en-US" dirty="0"/>
            </a:br>
            <a:r>
              <a:rPr lang="en-US" dirty="0">
                <a:effectLst/>
                <a:latin typeface="Arial" panose="020B0604020202020204" pitchFamily="34" charset="0"/>
              </a:rPr>
              <a:t>Once PAM receives feedback from LLC, the address of the cache</a:t>
            </a:r>
            <a:br>
              <a:rPr lang="en-US" dirty="0"/>
            </a:br>
            <a:r>
              <a:rPr lang="en-US" dirty="0">
                <a:effectLst/>
                <a:latin typeface="Arial" panose="020B0604020202020204" pitchFamily="34" charset="0"/>
              </a:rPr>
              <a:t>line is used to retrieve the metadata and the decision from the</a:t>
            </a:r>
            <a:br>
              <a:rPr lang="en-US" dirty="0"/>
            </a:br>
            <a:r>
              <a:rPr lang="en-US" dirty="0">
                <a:effectLst/>
                <a:latin typeface="Arial" panose="020B0604020202020204" pitchFamily="34" charset="0"/>
              </a:rPr>
              <a:t>logging tables, previously stored at the inference stage. Next, the</a:t>
            </a:r>
            <a:br>
              <a:rPr lang="en-US" dirty="0"/>
            </a:br>
            <a:r>
              <a:rPr lang="en-US" dirty="0">
                <a:effectLst/>
                <a:latin typeface="Arial" panose="020B0604020202020204" pitchFamily="34" charset="0"/>
              </a:rPr>
              <a:t>metadata values are hashed into indices to their corresponding</a:t>
            </a:r>
            <a:br>
              <a:rPr lang="en-US" dirty="0"/>
            </a:br>
            <a:r>
              <a:rPr lang="en-US" dirty="0">
                <a:effectLst/>
                <a:latin typeface="Arial" panose="020B0604020202020204" pitchFamily="34" charset="0"/>
              </a:rPr>
              <a:t>weight tables. The weights are incremented if the true outcome is a</a:t>
            </a:r>
            <a:br>
              <a:rPr lang="en-US" dirty="0"/>
            </a:br>
            <a:r>
              <a:rPr lang="en-US" dirty="0">
                <a:effectLst/>
                <a:latin typeface="Arial" panose="020B0604020202020204" pitchFamily="34" charset="0"/>
              </a:rPr>
              <a:t>positive, increasing the chance a needed prefetch be accepted next</a:t>
            </a:r>
            <a:br>
              <a:rPr lang="en-US" dirty="0"/>
            </a:br>
            <a:r>
              <a:rPr lang="en-US" dirty="0">
                <a:effectLst/>
                <a:latin typeface="Arial" panose="020B0604020202020204" pitchFamily="34" charset="0"/>
              </a:rPr>
              <a:t>time. Vice versa, the weights are decremented if the true outcome</a:t>
            </a:r>
            <a:br>
              <a:rPr lang="en-US" dirty="0"/>
            </a:br>
            <a:r>
              <a:rPr lang="en-US" dirty="0">
                <a:effectLst/>
                <a:latin typeface="Arial" panose="020B0604020202020204" pitchFamily="34" charset="0"/>
              </a:rPr>
              <a:t>is a negative</a:t>
            </a:r>
            <a:endParaRPr lang="en-US" dirty="0">
              <a:cs typeface="Calibri"/>
            </a:endParaRPr>
          </a:p>
          <a:p>
            <a:endParaRPr lang="en-US" dirty="0">
              <a:cs typeface="Calibri"/>
            </a:endParaRPr>
          </a:p>
          <a:p>
            <a:endParaRPr lang="en-US" dirty="0">
              <a:cs typeface="Calibri"/>
            </a:endParaRPr>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21</a:t>
            </a:fld>
            <a:endParaRPr lang="en-US"/>
          </a:p>
        </p:txBody>
      </p:sp>
    </p:spTree>
    <p:extLst>
      <p:ext uri="{BB962C8B-B14F-4D97-AF65-F5344CB8AC3E}">
        <p14:creationId xmlns:p14="http://schemas.microsoft.com/office/powerpoint/2010/main" val="336109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Similarly, there are 2 scenarios that can happen if a prefetch is rejected.</a:t>
            </a:r>
          </a:p>
          <a:p>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cs typeface="Calibri"/>
              </a:rPr>
              <a:t>Either it's a good reject: meaning the discarded prefetch is correct, and no true demand comes from the processor to that specific address.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cs typeface="Calibri"/>
              </a:rPr>
              <a:t>Or it’s a bad reject, meaning the discarded prefetch is actually correct, and a true demand comes later to the same address of the prefetch.</a:t>
            </a:r>
          </a:p>
          <a:p>
            <a:endParaRPr lang="en-US" dirty="0"/>
          </a:p>
          <a:p>
            <a:r>
              <a:rPr lang="en-US" dirty="0"/>
              <a:t>Hence, PAM need to analyze every true demand requests coming from LLC to see if previously rejected prefetch matches with the current request</a:t>
            </a:r>
          </a:p>
          <a:p>
            <a:r>
              <a:rPr lang="en-US" dirty="0"/>
              <a:t>For each of the true demand’s address, a lookup is performed on the Negative Table to check if there exists an entry for the same address.</a:t>
            </a:r>
          </a:p>
          <a:p>
            <a:pPr marL="228600" indent="-228600">
              <a:buAutoNum type="arabicParenR"/>
            </a:pPr>
            <a:r>
              <a:rPr lang="en-US" dirty="0"/>
              <a:t>If an entry is found,  that means a previous prefetch was rejected, and turns out it was actually needed by the processor.</a:t>
            </a:r>
          </a:p>
          <a:p>
            <a:pPr marL="228600" indent="-228600">
              <a:buAutoNum type="arabicParenR"/>
            </a:pPr>
            <a:r>
              <a:rPr lang="en-US" dirty="0"/>
              <a:t>If the entry is not found, then nothing happens.</a:t>
            </a:r>
          </a:p>
          <a:p>
            <a:pPr marL="228600" indent="-228600">
              <a:buAutoNum type="arabicParenR"/>
            </a:pPr>
            <a:endParaRPr lang="en-US" dirty="0"/>
          </a:p>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22</a:t>
            </a:fld>
            <a:endParaRPr lang="en-US"/>
          </a:p>
        </p:txBody>
      </p:sp>
    </p:spTree>
    <p:extLst>
      <p:ext uri="{BB962C8B-B14F-4D97-AF65-F5344CB8AC3E}">
        <p14:creationId xmlns:p14="http://schemas.microsoft.com/office/powerpoint/2010/main" val="3919792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 Tables</a:t>
            </a:r>
          </a:p>
          <a:p>
            <a:endParaRPr lang="en-US" dirty="0"/>
          </a:p>
          <a:p>
            <a:r>
              <a:rPr lang="en-US" dirty="0">
                <a:effectLst/>
                <a:latin typeface="Arial" panose="020B0604020202020204" pitchFamily="34" charset="0"/>
              </a:rPr>
              <a:t>If the prediction is a positive, meaning the requested prefetch will</a:t>
            </a:r>
            <a:br>
              <a:rPr lang="en-US" dirty="0"/>
            </a:br>
            <a:r>
              <a:rPr lang="en-US" dirty="0">
                <a:effectLst/>
                <a:latin typeface="Arial" panose="020B0604020202020204" pitchFamily="34" charset="0"/>
              </a:rPr>
              <a:t>proceed as a typical read request, PAM logs the metadata values</a:t>
            </a:r>
            <a:br>
              <a:rPr lang="en-US" dirty="0"/>
            </a:br>
            <a:r>
              <a:rPr lang="en-US" dirty="0">
                <a:effectLst/>
                <a:latin typeface="Arial" panose="020B0604020202020204" pitchFamily="34" charset="0"/>
              </a:rPr>
              <a:t>in the Positive Table. Otherwise, PAM logs the metadata values in</a:t>
            </a:r>
            <a:br>
              <a:rPr lang="en-US" dirty="0"/>
            </a:br>
            <a:r>
              <a:rPr lang="en-US" dirty="0">
                <a:effectLst/>
                <a:latin typeface="Arial" panose="020B0604020202020204" pitchFamily="34" charset="0"/>
              </a:rPr>
              <a:t>the Negative Table.</a:t>
            </a:r>
          </a:p>
          <a:p>
            <a:endParaRPr lang="en-US" dirty="0">
              <a:effectLst/>
              <a:latin typeface="Arial" panose="020B0604020202020204" pitchFamily="34" charset="0"/>
            </a:endParaRPr>
          </a:p>
          <a:p>
            <a:r>
              <a:rPr lang="en-US" dirty="0">
                <a:effectLst/>
                <a:latin typeface="Arial" panose="020B0604020202020204" pitchFamily="34" charset="0"/>
              </a:rPr>
              <a:t>The table is a simple 4-way cache with LRU replacement policy</a:t>
            </a:r>
          </a:p>
          <a:p>
            <a:endParaRPr lang="en-US" dirty="0"/>
          </a:p>
          <a:p>
            <a:r>
              <a:rPr lang="en-US" dirty="0">
                <a:effectLst/>
                <a:latin typeface="Arial" panose="020B0604020202020204" pitchFamily="34" charset="0"/>
              </a:rPr>
              <a:t>The entry in the logging table contains enough information to retrieve each feature and its</a:t>
            </a:r>
            <a:br>
              <a:rPr lang="en-US" dirty="0"/>
            </a:br>
            <a:r>
              <a:rPr lang="en-US" dirty="0">
                <a:effectLst/>
                <a:latin typeface="Arial" panose="020B0604020202020204" pitchFamily="34" charset="0"/>
              </a:rPr>
              <a:t>state when the prediction was made.</a:t>
            </a:r>
          </a:p>
          <a:p>
            <a:endParaRPr lang="en-US" dirty="0">
              <a:effectLst/>
              <a:latin typeface="Arial" panose="020B0604020202020204" pitchFamily="34" charset="0"/>
            </a:endParaRPr>
          </a:p>
          <a:p>
            <a:r>
              <a:rPr lang="en-US" dirty="0">
                <a:effectLst/>
                <a:latin typeface="Arial" panose="020B0604020202020204" pitchFamily="34" charset="0"/>
              </a:rPr>
              <a:t>Furthermore, PAM also trains and improves itself if an entry is evicted from the tables.</a:t>
            </a:r>
          </a:p>
          <a:p>
            <a:r>
              <a:rPr lang="en-US" dirty="0">
                <a:effectLst/>
                <a:latin typeface="Arial" panose="020B0604020202020204" pitchFamily="34" charset="0"/>
              </a:rPr>
              <a:t>1) If an entry is evicted from the Positive Table, it means the approved prefetch data is currently sitting in the cache hierarchy without being used</a:t>
            </a:r>
            <a:br>
              <a:rPr lang="en-US" dirty="0"/>
            </a:br>
            <a:r>
              <a:rPr lang="en-US" dirty="0">
                <a:effectLst/>
                <a:latin typeface="Arial" panose="020B0604020202020204" pitchFamily="34" charset="0"/>
              </a:rPr>
              <a:t>once. PAM treats this as a bad decision and train itself. </a:t>
            </a:r>
          </a:p>
          <a:p>
            <a:r>
              <a:rPr lang="en-US" dirty="0">
                <a:effectLst/>
                <a:latin typeface="Arial" panose="020B0604020202020204" pitchFamily="34" charset="0"/>
              </a:rPr>
              <a:t>2) If an entry is evicted from Negative Table, it means no true-demand request was sent to the same address. PAM treats this as a good decision  </a:t>
            </a:r>
          </a:p>
          <a:p>
            <a:endParaRPr lang="en-US" dirty="0">
              <a:effectLst/>
              <a:latin typeface="Arial" panose="020B0604020202020204" pitchFamily="34" charset="0"/>
            </a:endParaRPr>
          </a:p>
          <a:p>
            <a:endParaRPr lang="en-US" dirty="0">
              <a:effectLst/>
              <a:latin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23</a:t>
            </a:fld>
            <a:endParaRPr lang="en-US"/>
          </a:p>
        </p:txBody>
      </p:sp>
    </p:spTree>
    <p:extLst>
      <p:ext uri="{BB962C8B-B14F-4D97-AF65-F5344CB8AC3E}">
        <p14:creationId xmlns:p14="http://schemas.microsoft.com/office/powerpoint/2010/main" val="3143468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feature selection</a:t>
            </a:r>
          </a:p>
          <a:p>
            <a:endParaRPr lang="en-US" dirty="0"/>
          </a:p>
          <a:p>
            <a:r>
              <a:rPr lang="en-US" dirty="0"/>
              <a:t>Let’s discuss on the offline feature selection</a:t>
            </a:r>
          </a:p>
          <a:p>
            <a:r>
              <a:rPr lang="en-US" dirty="0">
                <a:effectLst/>
                <a:latin typeface="Arial" panose="020B0604020202020204" pitchFamily="34" charset="0"/>
              </a:rPr>
              <a:t>All the features can be derived from the information available in the</a:t>
            </a:r>
            <a:br>
              <a:rPr lang="en-US" dirty="0"/>
            </a:br>
            <a:r>
              <a:rPr lang="en-US" dirty="0">
                <a:effectLst/>
                <a:latin typeface="Arial" panose="020B0604020202020204" pitchFamily="34" charset="0"/>
              </a:rPr>
              <a:t>Memory Controller or from LLC.</a:t>
            </a:r>
          </a:p>
          <a:p>
            <a:endParaRPr lang="en-US" dirty="0">
              <a:effectLst/>
              <a:latin typeface="Arial" panose="020B0604020202020204" pitchFamily="34" charset="0"/>
            </a:endParaRPr>
          </a:p>
          <a:p>
            <a:r>
              <a:rPr lang="en-US" dirty="0">
                <a:effectLst/>
                <a:latin typeface="Arial" panose="020B0604020202020204" pitchFamily="34" charset="0"/>
              </a:rPr>
              <a:t>First, we initially produced 14 single features, as shown on the table to the right</a:t>
            </a:r>
          </a:p>
          <a:p>
            <a:endParaRPr lang="en-US" dirty="0">
              <a:effectLst/>
              <a:latin typeface="Arial" panose="020B0604020202020204" pitchFamily="34" charset="0"/>
            </a:endParaRPr>
          </a:p>
          <a:p>
            <a:r>
              <a:rPr lang="en-US" dirty="0">
                <a:effectLst/>
                <a:latin typeface="Arial" panose="020B0604020202020204" pitchFamily="34" charset="0"/>
              </a:rPr>
              <a:t>Features such as rank, bank, row, request address, </a:t>
            </a:r>
            <a:r>
              <a:rPr lang="en-US" dirty="0" err="1">
                <a:effectLst/>
                <a:latin typeface="Arial" panose="020B0604020202020204" pitchFamily="34" charset="0"/>
              </a:rPr>
              <a:t>etc</a:t>
            </a:r>
            <a:r>
              <a:rPr lang="en-US" dirty="0">
                <a:effectLst/>
                <a:latin typeface="Arial" panose="020B0604020202020204" pitchFamily="34" charset="0"/>
              </a:rPr>
              <a:t> are easily derived within the controller</a:t>
            </a:r>
          </a:p>
          <a:p>
            <a:r>
              <a:rPr lang="en-US" dirty="0">
                <a:effectLst/>
                <a:latin typeface="Arial" panose="020B0604020202020204" pitchFamily="34" charset="0"/>
              </a:rPr>
              <a:t>A few feature such as Bank Hit rate, Page Hit rate require additional counters, which we will discuss later</a:t>
            </a:r>
          </a:p>
          <a:p>
            <a:endParaRPr lang="en-US" dirty="0">
              <a:effectLst/>
              <a:latin typeface="Arial" panose="020B0604020202020204" pitchFamily="34" charset="0"/>
            </a:endParaRPr>
          </a:p>
          <a:p>
            <a:r>
              <a:rPr lang="en-US" dirty="0">
                <a:effectLst/>
                <a:latin typeface="Arial" panose="020B0604020202020204" pitchFamily="34" charset="0"/>
              </a:rPr>
              <a:t>We combine the single features to form 23 set of features that are used together to convey more meaningful information.</a:t>
            </a:r>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24</a:t>
            </a:fld>
            <a:endParaRPr lang="en-US"/>
          </a:p>
        </p:txBody>
      </p:sp>
    </p:spTree>
    <p:extLst>
      <p:ext uri="{BB962C8B-B14F-4D97-AF65-F5344CB8AC3E}">
        <p14:creationId xmlns:p14="http://schemas.microsoft.com/office/powerpoint/2010/main" val="74544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list of 23 features that are used in the offline training stage. </a:t>
            </a:r>
          </a:p>
          <a:p>
            <a:endParaRPr lang="en-US" dirty="0"/>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25</a:t>
            </a:fld>
            <a:endParaRPr lang="en-US"/>
          </a:p>
        </p:txBody>
      </p:sp>
    </p:spTree>
    <p:extLst>
      <p:ext uri="{BB962C8B-B14F-4D97-AF65-F5344CB8AC3E}">
        <p14:creationId xmlns:p14="http://schemas.microsoft.com/office/powerpoint/2010/main" val="1488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latin typeface="Arial" panose="020B0604020202020204" pitchFamily="34" charset="0"/>
            </a:endParaRPr>
          </a:p>
          <a:p>
            <a:r>
              <a:rPr lang="en-US" dirty="0">
                <a:effectLst/>
                <a:latin typeface="Arial" panose="020B0604020202020204" pitchFamily="34" charset="0"/>
              </a:rPr>
              <a:t>1) At each training iteration, a random set of five high memory-</a:t>
            </a:r>
            <a:br>
              <a:rPr lang="en-US" dirty="0"/>
            </a:br>
            <a:r>
              <a:rPr lang="en-US" dirty="0">
                <a:effectLst/>
                <a:latin typeface="Arial" panose="020B0604020202020204" pitchFamily="34" charset="0"/>
              </a:rPr>
              <a:t>intensive (HIGH) and five mixed (MIX) workloads are selected.</a:t>
            </a:r>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26</a:t>
            </a:fld>
            <a:endParaRPr lang="en-US"/>
          </a:p>
        </p:txBody>
      </p:sp>
    </p:spTree>
    <p:extLst>
      <p:ext uri="{BB962C8B-B14F-4D97-AF65-F5344CB8AC3E}">
        <p14:creationId xmlns:p14="http://schemas.microsoft.com/office/powerpoint/2010/main" val="639394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latin typeface="Arial" panose="020B0604020202020204" pitchFamily="34" charset="0"/>
            </a:endParaRPr>
          </a:p>
          <a:p>
            <a:pPr marL="228600" indent="-228600">
              <a:buAutoNum type="arabicParenR"/>
            </a:pPr>
            <a:r>
              <a:rPr lang="en-US" dirty="0">
                <a:effectLst/>
                <a:latin typeface="Arial" panose="020B0604020202020204" pitchFamily="34" charset="0"/>
              </a:rPr>
              <a:t>At each training iteration, a random set of five high memory-</a:t>
            </a:r>
            <a:br>
              <a:rPr lang="en-US" dirty="0"/>
            </a:br>
            <a:r>
              <a:rPr lang="en-US" dirty="0">
                <a:effectLst/>
                <a:latin typeface="Arial" panose="020B0604020202020204" pitchFamily="34" charset="0"/>
              </a:rPr>
              <a:t>intensive (HIGH) and five mixed (MIX) workloads are selected.</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effectLst/>
                <a:latin typeface="Arial" panose="020B0604020202020204" pitchFamily="34" charset="0"/>
              </a:rPr>
              <a:t>Next, Simulation is launched with one single feature to collect statistics, this is repeated for all 23 single feature.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 Top-N features are selected to pass onto the next training iteration.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In our paper, we used N = 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27</a:t>
            </a:fld>
            <a:endParaRPr lang="en-US"/>
          </a:p>
        </p:txBody>
      </p:sp>
    </p:spTree>
    <p:extLst>
      <p:ext uri="{BB962C8B-B14F-4D97-AF65-F5344CB8AC3E}">
        <p14:creationId xmlns:p14="http://schemas.microsoft.com/office/powerpoint/2010/main" val="2595184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latin typeface="Arial" panose="020B0604020202020204" pitchFamily="34" charset="0"/>
            </a:endParaRPr>
          </a:p>
          <a:p>
            <a:pPr marL="228600" indent="-228600">
              <a:buAutoNum type="arabicParenR"/>
            </a:pPr>
            <a:r>
              <a:rPr lang="en-US" dirty="0">
                <a:effectLst/>
                <a:latin typeface="Arial" panose="020B0604020202020204" pitchFamily="34" charset="0"/>
              </a:rPr>
              <a:t>At each training iteration, a random set of five high memory-</a:t>
            </a:r>
            <a:br>
              <a:rPr lang="en-US" dirty="0"/>
            </a:br>
            <a:r>
              <a:rPr lang="en-US" dirty="0">
                <a:effectLst/>
                <a:latin typeface="Arial" panose="020B0604020202020204" pitchFamily="34" charset="0"/>
              </a:rPr>
              <a:t>intensive (HIGH) and five mixed (MIX) workloads are selected.</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effectLst/>
                <a:latin typeface="Arial" panose="020B0604020202020204" pitchFamily="34" charset="0"/>
              </a:rPr>
              <a:t>Next, Simulation is launched with one single feature to collect statistics, this is repeated for all 23 single feature.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 Top-N features are selected to pass onto the next training iteration.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In our paper, we used N = 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3) The selected features are coupled with another single feature to form a set-of-2 combinations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Once the new feature set are formed, the steps are repeated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28</a:t>
            </a:fld>
            <a:endParaRPr lang="en-US"/>
          </a:p>
        </p:txBody>
      </p:sp>
    </p:spTree>
    <p:extLst>
      <p:ext uri="{BB962C8B-B14F-4D97-AF65-F5344CB8AC3E}">
        <p14:creationId xmlns:p14="http://schemas.microsoft.com/office/powerpoint/2010/main" val="1142024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latin typeface="Arial" panose="020B0604020202020204" pitchFamily="34" charset="0"/>
            </a:endParaRPr>
          </a:p>
          <a:p>
            <a:pPr marL="228600" indent="-228600">
              <a:buAutoNum type="arabicParenR"/>
            </a:pPr>
            <a:r>
              <a:rPr lang="en-US" dirty="0">
                <a:effectLst/>
                <a:latin typeface="Arial" panose="020B0604020202020204" pitchFamily="34" charset="0"/>
              </a:rPr>
              <a:t>At each training iteration, a random set of five high memory-</a:t>
            </a:r>
            <a:br>
              <a:rPr lang="en-US" dirty="0"/>
            </a:br>
            <a:r>
              <a:rPr lang="en-US" dirty="0">
                <a:effectLst/>
                <a:latin typeface="Arial" panose="020B0604020202020204" pitchFamily="34" charset="0"/>
              </a:rPr>
              <a:t>intensive (HIGH) and five mixed (MIX) workloads are selected.</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effectLst/>
                <a:latin typeface="Arial" panose="020B0604020202020204" pitchFamily="34" charset="0"/>
              </a:rPr>
              <a:t>Next, Simulation is launched with one single feature to collect statistics, this is repeated for all 23 single feature.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 Top-N features are selected to pass onto the next training iteration.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In our paper, we used N = 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3) The selected features are coupled with another single feature to form a set-of-2 combinations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Once the new feature set are formed, the steps are repeated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4) New 5 set of HIGH and 5 set of MIX are randomly selected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Then, the simulations are launched again on set-of-2 combination to get the Top-N features.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29</a:t>
            </a:fld>
            <a:endParaRPr lang="en-US"/>
          </a:p>
        </p:txBody>
      </p:sp>
    </p:spTree>
    <p:extLst>
      <p:ext uri="{BB962C8B-B14F-4D97-AF65-F5344CB8AC3E}">
        <p14:creationId xmlns:p14="http://schemas.microsoft.com/office/powerpoint/2010/main" val="1090722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4) New 5 set of HIGH and 5 set of MIX are randomly selected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latin typeface="Arial" panose="020B0604020202020204" pitchFamily="34" charset="0"/>
              </a:rPr>
              <a:t>Then, the simulations are launched again on set-of-2 combination to get the Top-N features.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latin typeface="Arial" panose="020B0604020202020204" pitchFamily="34" charset="0"/>
            </a:endParaRPr>
          </a:p>
          <a:p>
            <a:r>
              <a:rPr lang="en-US" dirty="0"/>
              <a:t>5)  Based on the simulation results, set-of-3 combinations are formed and this repetitive process continues until there are no more improvement on the performance.</a:t>
            </a:r>
          </a:p>
        </p:txBody>
      </p:sp>
      <p:sp>
        <p:nvSpPr>
          <p:cNvPr id="4" name="Slide Number Placeholder 3"/>
          <p:cNvSpPr>
            <a:spLocks noGrp="1"/>
          </p:cNvSpPr>
          <p:nvPr>
            <p:ph type="sldNum" sz="quarter" idx="5"/>
          </p:nvPr>
        </p:nvSpPr>
        <p:spPr/>
        <p:txBody>
          <a:bodyPr/>
          <a:lstStyle/>
          <a:p>
            <a:fld id="{1BFFDC1B-633B-9D46-A760-94AD7E6DEF05}" type="slidenum">
              <a:rPr lang="en-US" smtClean="0"/>
              <a:t>30</a:t>
            </a:fld>
            <a:endParaRPr lang="en-US"/>
          </a:p>
        </p:txBody>
      </p:sp>
    </p:spTree>
    <p:extLst>
      <p:ext uri="{BB962C8B-B14F-4D97-AF65-F5344CB8AC3E}">
        <p14:creationId xmlns:p14="http://schemas.microsoft.com/office/powerpoint/2010/main" val="110269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final list of 8 selected program features in the offline training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Rank + Bank + Bank </a:t>
            </a:r>
            <a:r>
              <a:rPr lang="en-US" dirty="0" err="1"/>
              <a:t>HitRate</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Page Hit Rate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Row XOR Bank Access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Previous-K PCs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PC + Row-recently-accessed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 Prefetcher Accuracy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 Row + Row-recently-accessed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 Number Demand Reads in Queue + Number Prefetches in Queue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the list of features are finalized, we launched simulations to determine the optimal activation threshold.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 on our experiments, the activation threshold is 16</a:t>
            </a:r>
          </a:p>
        </p:txBody>
      </p:sp>
      <p:sp>
        <p:nvSpPr>
          <p:cNvPr id="4" name="Slide Number Placeholder 3"/>
          <p:cNvSpPr>
            <a:spLocks noGrp="1"/>
          </p:cNvSpPr>
          <p:nvPr>
            <p:ph type="sldNum" sz="quarter" idx="5"/>
          </p:nvPr>
        </p:nvSpPr>
        <p:spPr/>
        <p:txBody>
          <a:bodyPr/>
          <a:lstStyle/>
          <a:p>
            <a:fld id="{1BFFDC1B-633B-9D46-A760-94AD7E6DEF05}" type="slidenum">
              <a:rPr lang="en-US" smtClean="0"/>
              <a:t>31</a:t>
            </a:fld>
            <a:endParaRPr lang="en-US"/>
          </a:p>
        </p:txBody>
      </p:sp>
    </p:spTree>
    <p:extLst>
      <p:ext uri="{BB962C8B-B14F-4D97-AF65-F5344CB8AC3E}">
        <p14:creationId xmlns:p14="http://schemas.microsoft.com/office/powerpoint/2010/main" val="5887559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Pearson Correlation Coefficient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we analyze the Pearson Correlation Coefficient (PCC) for all the selected features.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PCC measures the linear correlation and its strength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between two sets of data. The coefficient ranges from -1 to +1, where a value of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 indicates no association, and +1/-1 indicates strong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positive/negative association between the two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statistics are collected at the end of each simulation run to calculate PCC value for each of the 8 feature.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Feature 5 (PC + Row-recently-accessed) has the highest PCC value at 0.91,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Feature 4 (Previous-K PC) has the second highest PCC value at 0.84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shown, all the selected features provide moderate to high correlation to the prefetching usefulness prediction.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32</a:t>
            </a:fld>
            <a:endParaRPr lang="en-US"/>
          </a:p>
        </p:txBody>
      </p:sp>
    </p:spTree>
    <p:extLst>
      <p:ext uri="{BB962C8B-B14F-4D97-AF65-F5344CB8AC3E}">
        <p14:creationId xmlns:p14="http://schemas.microsoft.com/office/powerpoint/2010/main" val="16151454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Overhead: Logging Tables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each decision MSF makes, it stores all the metadata values in logging tables.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entry has enough information to retrieve the system state when the prediction was made, along with all the features used.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entry is 85-bits, and the Positive Table contains 1024 entries, while the Negative Table has 512 entries.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means the Positive Table overhead is 10.75KB, and the Negative Table consumes 5.375KB of storage overhead.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33</a:t>
            </a:fld>
            <a:endParaRPr lang="en-US"/>
          </a:p>
        </p:txBody>
      </p:sp>
    </p:spTree>
    <p:extLst>
      <p:ext uri="{BB962C8B-B14F-4D97-AF65-F5344CB8AC3E}">
        <p14:creationId xmlns:p14="http://schemas.microsoft.com/office/powerpoint/2010/main" val="18914113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Overhead: Counters and Buffers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To compute the features in MSF, the MC has several counters and buffers to store necessary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Overall, the Memory Controller requires 7274 bits of counters and buffers.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34</a:t>
            </a:fld>
            <a:endParaRPr lang="en-US"/>
          </a:p>
        </p:txBody>
      </p:sp>
    </p:spTree>
    <p:extLst>
      <p:ext uri="{BB962C8B-B14F-4D97-AF65-F5344CB8AC3E}">
        <p14:creationId xmlns:p14="http://schemas.microsoft.com/office/powerpoint/2010/main" val="17072464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Total Overhead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MSF consumes 29.99 KB of storage overhead.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this overhead is per memory controller, instead of per core as in similar prefetch filtering schemes. Which means MSF consumes significantly less storage overhead since there are typically only one to two memory channels in a system, while there could be up to 16 cores in a processor.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35</a:t>
            </a:fld>
            <a:endParaRPr lang="en-US"/>
          </a:p>
        </p:txBody>
      </p:sp>
    </p:spTree>
    <p:extLst>
      <p:ext uri="{BB962C8B-B14F-4D97-AF65-F5344CB8AC3E}">
        <p14:creationId xmlns:p14="http://schemas.microsoft.com/office/powerpoint/2010/main" val="3661305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Experiments and Simulation</a:t>
            </a:r>
          </a:p>
          <a:p>
            <a:endParaRPr lang="en-US" dirty="0">
              <a:cs typeface="Calibri"/>
            </a:endParaRPr>
          </a:p>
          <a:p>
            <a:endParaRPr lang="en-US" dirty="0"/>
          </a:p>
          <a:p>
            <a:r>
              <a:rPr lang="en-US" dirty="0"/>
              <a:t>We evaluate our proposed scheme by using cycle accurate x86-64 simulator gem5 \cite{gem5}. The gem5 simulator is extended </a:t>
            </a:r>
          </a:p>
          <a:p>
            <a:r>
              <a:rPr lang="en-US" dirty="0"/>
              <a:t>to support our scheme MSF. </a:t>
            </a:r>
          </a:p>
          <a:p>
            <a:r>
              <a:rPr lang="en-US" dirty="0"/>
              <a:t>- We also extended the codebase to simulate 2 related schemes: PPF and PADC. Which we will discuss the details later</a:t>
            </a:r>
          </a:p>
          <a:p>
            <a:r>
              <a:rPr lang="en-US" dirty="0"/>
              <a:t>The details of our baseline simulation </a:t>
            </a:r>
          </a:p>
          <a:p>
            <a:r>
              <a:rPr lang="en-US" dirty="0"/>
              <a:t>configurations are shown in Table to the right. </a:t>
            </a:r>
          </a:p>
          <a:p>
            <a:pPr marL="171450" indent="-171450">
              <a:buFontTx/>
              <a:buChar char="-"/>
            </a:pPr>
            <a:r>
              <a:rPr lang="en-US" dirty="0"/>
              <a:t>We are running a 4.0GHz 8 out-of-order cores, with 3 level of caches, the LLC has 16MB size</a:t>
            </a:r>
          </a:p>
          <a:p>
            <a:pPr marL="171450" indent="-171450">
              <a:buFontTx/>
              <a:buChar char="-"/>
            </a:pPr>
            <a:endParaRPr lang="en-US" dirty="0"/>
          </a:p>
          <a:p>
            <a:pPr marL="171450" indent="-171450">
              <a:buFontTx/>
              <a:buChar char="-"/>
            </a:pPr>
            <a:r>
              <a:rPr lang="en-US" dirty="0"/>
              <a:t>The simulations are fast-forwarded to their checkpoints, which is generated by SimPoint3.0, then the detailed simulation is run for 1 billion instructions</a:t>
            </a:r>
          </a:p>
          <a:p>
            <a:pPr marL="171450" indent="-171450">
              <a:buFontTx/>
              <a:buChar char="-"/>
            </a:pPr>
            <a:endParaRPr lang="en-US" dirty="0"/>
          </a:p>
          <a:p>
            <a:endParaRPr lang="en-US" dirty="0">
              <a:cs typeface="+mn-cs"/>
            </a:endParaRPr>
          </a:p>
        </p:txBody>
      </p:sp>
      <p:sp>
        <p:nvSpPr>
          <p:cNvPr id="4" name="Slide Number Placeholder 3"/>
          <p:cNvSpPr>
            <a:spLocks noGrp="1"/>
          </p:cNvSpPr>
          <p:nvPr>
            <p:ph type="sldNum" sz="quarter" idx="5"/>
          </p:nvPr>
        </p:nvSpPr>
        <p:spPr/>
        <p:txBody>
          <a:bodyPr/>
          <a:lstStyle/>
          <a:p>
            <a:fld id="{1BFFDC1B-633B-9D46-A760-94AD7E6DEF05}" type="slidenum">
              <a:rPr lang="en-US" smtClean="0"/>
              <a:t>36</a:t>
            </a:fld>
            <a:endParaRPr lang="en-US"/>
          </a:p>
        </p:txBody>
      </p:sp>
    </p:spTree>
    <p:extLst>
      <p:ext uri="{BB962C8B-B14F-4D97-AF65-F5344CB8AC3E}">
        <p14:creationId xmlns:p14="http://schemas.microsoft.com/office/powerpoint/2010/main" val="3296942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Workloads</a:t>
            </a:r>
          </a:p>
          <a:p>
            <a:endParaRPr lang="en-US" dirty="0"/>
          </a:p>
          <a:p>
            <a:r>
              <a:rPr lang="en-US" dirty="0"/>
              <a:t>-We evaluate our schemes using SPEC CPU2006 and SPEC CPU2017 benchmarks</a:t>
            </a:r>
          </a:p>
          <a:p>
            <a:r>
              <a:rPr lang="en-US" dirty="0"/>
              <a:t>-The workload is categorized based on misses-per-kilo-instruction (MPKI)</a:t>
            </a:r>
          </a:p>
          <a:p>
            <a:pPr marL="171450" indent="-171450">
              <a:buFontTx/>
              <a:buChar char="-"/>
            </a:pPr>
            <a:r>
              <a:rPr lang="en-US" dirty="0"/>
              <a:t>Applications with LLC MPKI values higher than ten will be categorized as memory-intensive applications.  </a:t>
            </a:r>
          </a:p>
          <a:p>
            <a:pPr marL="171450" indent="-171450">
              <a:buFontTx/>
              <a:buChar char="-"/>
            </a:pPr>
            <a:r>
              <a:rPr lang="en-US" dirty="0"/>
              <a:t>Those with MPKI values lower or equal to ten will  be classified as compute-intensive applications</a:t>
            </a:r>
          </a:p>
          <a:p>
            <a:pPr marL="171450" indent="-171450">
              <a:buFontTx/>
              <a:buChar char="-"/>
            </a:pPr>
            <a:r>
              <a:rPr lang="en-US" dirty="0"/>
              <a:t>Each HIGH workload consists of eight randomly selected memory-intensive </a:t>
            </a:r>
          </a:p>
          <a:p>
            <a:r>
              <a:rPr lang="en-US" dirty="0"/>
              <a:t>applications; while each MIX workload consists of randomly selected </a:t>
            </a:r>
          </a:p>
          <a:p>
            <a:r>
              <a:rPr lang="en-US" dirty="0"/>
              <a:t>four memory-intensive applications and four compute-intensive applications.</a:t>
            </a:r>
          </a:p>
          <a:p>
            <a:endParaRPr lang="en-US" dirty="0"/>
          </a:p>
          <a:p>
            <a:r>
              <a:rPr lang="en-US" dirty="0"/>
              <a:t>- After combining the applications together to form a set, we discard any workload sets that have below three LLC MPKI </a:t>
            </a:r>
          </a:p>
          <a:p>
            <a:r>
              <a:rPr lang="en-US" dirty="0"/>
              <a:t>values for our experiments.</a:t>
            </a:r>
          </a:p>
          <a:p>
            <a:endParaRPr lang="en-US" dirty="0"/>
          </a:p>
          <a:p>
            <a:r>
              <a:rPr lang="en-US" dirty="0"/>
              <a:t>- Overall, we have 55 workload sets, with 37 memory-intensive (HIGH) ones </a:t>
            </a:r>
          </a:p>
          <a:p>
            <a:r>
              <a:rPr lang="en-US" dirty="0"/>
              <a:t>and 18 mixed (MIX) workloads.  </a:t>
            </a:r>
          </a:p>
        </p:txBody>
      </p:sp>
      <p:sp>
        <p:nvSpPr>
          <p:cNvPr id="4" name="Slide Number Placeholder 3"/>
          <p:cNvSpPr>
            <a:spLocks noGrp="1"/>
          </p:cNvSpPr>
          <p:nvPr>
            <p:ph type="sldNum" sz="quarter" idx="5"/>
          </p:nvPr>
        </p:nvSpPr>
        <p:spPr/>
        <p:txBody>
          <a:bodyPr/>
          <a:lstStyle/>
          <a:p>
            <a:fld id="{1BFFDC1B-633B-9D46-A760-94AD7E6DEF05}" type="slidenum">
              <a:rPr lang="en-US" smtClean="0"/>
              <a:t>37</a:t>
            </a:fld>
            <a:endParaRPr lang="en-US"/>
          </a:p>
        </p:txBody>
      </p:sp>
    </p:spTree>
    <p:extLst>
      <p:ext uri="{BB962C8B-B14F-4D97-AF65-F5344CB8AC3E}">
        <p14:creationId xmlns:p14="http://schemas.microsoft.com/office/powerpoint/2010/main" val="2626353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Underlying Prefetchers</a:t>
            </a:r>
          </a:p>
          <a:p>
            <a:endParaRPr lang="en-US" dirty="0"/>
          </a:p>
          <a:p>
            <a:r>
              <a:rPr lang="en-US" dirty="0"/>
              <a:t>In our simulations, we implemented 4 prefetchers in gem5 </a:t>
            </a:r>
          </a:p>
          <a:p>
            <a:endParaRPr lang="en-US" dirty="0"/>
          </a:p>
          <a:p>
            <a:pPr marL="228600" indent="-228600">
              <a:buAutoNum type="arabicParenR"/>
            </a:pPr>
            <a:r>
              <a:rPr lang="en-US" dirty="0">
                <a:effectLst/>
                <a:latin typeface="Arial" panose="020B0604020202020204" pitchFamily="34" charset="0"/>
              </a:rPr>
              <a:t>Signature Path Prefetcher</a:t>
            </a:r>
          </a:p>
          <a:p>
            <a:pPr marL="228600" indent="-228600">
              <a:buAutoNum type="arabicParenR"/>
            </a:pPr>
            <a:r>
              <a:rPr lang="en-US" dirty="0">
                <a:effectLst/>
                <a:latin typeface="Arial" panose="020B0604020202020204" pitchFamily="34" charset="0"/>
              </a:rPr>
              <a:t>AMPM Prefetcher</a:t>
            </a:r>
          </a:p>
          <a:p>
            <a:pPr marL="228600" indent="-228600">
              <a:buAutoNum type="arabicParenR"/>
            </a:pPr>
            <a:r>
              <a:rPr lang="en-US" dirty="0">
                <a:effectLst/>
                <a:latin typeface="Arial" panose="020B0604020202020204" pitchFamily="34" charset="0"/>
              </a:rPr>
              <a:t>DCPT Prefetcher</a:t>
            </a:r>
          </a:p>
          <a:p>
            <a:pPr marL="228600" indent="-228600">
              <a:buAutoNum type="arabicParenR"/>
            </a:pPr>
            <a:r>
              <a:rPr lang="en-US" dirty="0">
                <a:effectLst/>
                <a:latin typeface="Arial" panose="020B0604020202020204" pitchFamily="34" charset="0"/>
              </a:rPr>
              <a:t>Tagged-Correlating Prefetcher</a:t>
            </a:r>
          </a:p>
          <a:p>
            <a:pPr marL="228600" indent="-228600">
              <a:buAutoNum type="arabicParenR"/>
            </a:pPr>
            <a:endParaRPr lang="en-US" dirty="0">
              <a:effectLst/>
              <a:latin typeface="Arial" panose="020B0604020202020204" pitchFamily="34" charset="0"/>
            </a:endParaRPr>
          </a:p>
          <a:p>
            <a:pPr marL="228600" indent="-228600">
              <a:buAutoNum type="arabicParenR"/>
            </a:pPr>
            <a:r>
              <a:rPr lang="en-US" dirty="0">
                <a:effectLst/>
                <a:latin typeface="Arial" panose="020B0604020202020204" pitchFamily="34" charset="0"/>
              </a:rPr>
              <a:t>We will not go into much details of each prefetcher, but they do have different behavior and aggressiveness on generating prefetch requests.</a:t>
            </a:r>
          </a:p>
        </p:txBody>
      </p:sp>
      <p:sp>
        <p:nvSpPr>
          <p:cNvPr id="4" name="Slide Number Placeholder 3"/>
          <p:cNvSpPr>
            <a:spLocks noGrp="1"/>
          </p:cNvSpPr>
          <p:nvPr>
            <p:ph type="sldNum" sz="quarter" idx="5"/>
          </p:nvPr>
        </p:nvSpPr>
        <p:spPr/>
        <p:txBody>
          <a:bodyPr/>
          <a:lstStyle/>
          <a:p>
            <a:fld id="{1BFFDC1B-633B-9D46-A760-94AD7E6DEF05}" type="slidenum">
              <a:rPr lang="en-US" smtClean="0"/>
              <a:t>38</a:t>
            </a:fld>
            <a:endParaRPr lang="en-US"/>
          </a:p>
        </p:txBody>
      </p:sp>
    </p:spTree>
    <p:extLst>
      <p:ext uri="{BB962C8B-B14F-4D97-AF65-F5344CB8AC3E}">
        <p14:creationId xmlns:p14="http://schemas.microsoft.com/office/powerpoint/2010/main" val="12290748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Schemes</a:t>
            </a:r>
          </a:p>
          <a:p>
            <a:endParaRPr lang="en-US" dirty="0"/>
          </a:p>
          <a:p>
            <a:r>
              <a:rPr lang="en-US" dirty="0"/>
              <a:t>In our </a:t>
            </a:r>
            <a:r>
              <a:rPr lang="en-US" dirty="0" err="1"/>
              <a:t>experiemnts</a:t>
            </a:r>
            <a:r>
              <a:rPr lang="en-US" dirty="0"/>
              <a:t>, we evaluate the following related schemes that are implemented in gem5</a:t>
            </a:r>
          </a:p>
          <a:p>
            <a:endParaRPr lang="en-US" dirty="0"/>
          </a:p>
          <a:p>
            <a:pPr marL="228600" indent="-228600">
              <a:buAutoNum type="arabicParenR"/>
            </a:pPr>
            <a:r>
              <a:rPr lang="en-US" dirty="0"/>
              <a:t>PPF: The scheme uses perceptron-learning mechanism to filter prefetch requests generated by SignaturePath prefetcher specifically. </a:t>
            </a:r>
          </a:p>
          <a:p>
            <a:pPr marL="0" indent="0">
              <a:buNone/>
            </a:pPr>
            <a:r>
              <a:rPr lang="en-US" dirty="0"/>
              <a:t>The filter engine uses metadata directly from SPP such as signature, depth and confidence metrics. </a:t>
            </a:r>
          </a:p>
          <a:p>
            <a:pPr marL="0" indent="0">
              <a:buNone/>
            </a:pPr>
            <a:r>
              <a:rPr lang="en-US" dirty="0"/>
              <a:t>Moreover, the engine is placed directly in the underlying prefetcher, and it only works for SPP.</a:t>
            </a:r>
          </a:p>
          <a:p>
            <a:pPr marL="228600" indent="-228600">
              <a:buAutoNum type="arabicParenR"/>
            </a:pPr>
            <a:endParaRPr lang="en-US" dirty="0"/>
          </a:p>
          <a:p>
            <a:pPr marL="0" indent="0">
              <a:buNone/>
            </a:pPr>
            <a:r>
              <a:rPr lang="en-US" dirty="0"/>
              <a:t>2) PADC: the scheme monitors the underlying prefetcher’s accuracy to adaptively schedule requests with different policies. </a:t>
            </a:r>
          </a:p>
          <a:p>
            <a:pPr marL="0" indent="0">
              <a:buNone/>
            </a:pPr>
            <a:r>
              <a:rPr lang="en-US" dirty="0"/>
              <a:t>PADC also remove prefetch requests from read queue based on age metric.</a:t>
            </a:r>
          </a:p>
          <a:p>
            <a:pPr marL="0" indent="0">
              <a:buNone/>
            </a:pPr>
            <a:endParaRPr lang="en-US" dirty="0"/>
          </a:p>
          <a:p>
            <a:pPr marL="0" indent="0">
              <a:buNone/>
            </a:pPr>
            <a:r>
              <a:rPr lang="en-US" dirty="0"/>
              <a:t>3) Lastly, we have MSF </a:t>
            </a:r>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39</a:t>
            </a:fld>
            <a:endParaRPr lang="en-US"/>
          </a:p>
        </p:txBody>
      </p:sp>
    </p:spTree>
    <p:extLst>
      <p:ext uri="{BB962C8B-B14F-4D97-AF65-F5344CB8AC3E}">
        <p14:creationId xmlns:p14="http://schemas.microsoft.com/office/powerpoint/2010/main" val="288824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Performance with Different Prefetchers</a:t>
            </a:r>
          </a:p>
          <a:p>
            <a:endParaRPr lang="en-US" dirty="0"/>
          </a:p>
          <a:p>
            <a:r>
              <a:rPr lang="en-US" dirty="0"/>
              <a:t>- The figure shows the performance comparison between different underlying prefetchers using our prefetch filter. </a:t>
            </a:r>
          </a:p>
          <a:p>
            <a:r>
              <a:rPr lang="en-US" dirty="0"/>
              <a:t>All the results are normalized to their respective baseline with the prefetcher enabled, and sorted in increasing order using IPC values.</a:t>
            </a:r>
          </a:p>
          <a:p>
            <a:endParaRPr lang="en-US" dirty="0"/>
          </a:p>
          <a:p>
            <a:r>
              <a:rPr lang="en-US" dirty="0"/>
              <a:t>- </a:t>
            </a:r>
            <a:r>
              <a:rPr lang="en-US" dirty="0">
                <a:effectLst/>
                <a:latin typeface="Arial" panose="020B0604020202020204" pitchFamily="34" charset="0"/>
              </a:rPr>
              <a:t>For memory-intensive workloads, MSF improves the performance by 7.5% on av-</a:t>
            </a:r>
            <a:br>
              <a:rPr lang="en-US" dirty="0"/>
            </a:br>
            <a:r>
              <a:rPr lang="en-US" dirty="0" err="1">
                <a:effectLst/>
                <a:latin typeface="Arial" panose="020B0604020202020204" pitchFamily="34" charset="0"/>
              </a:rPr>
              <a:t>erage</a:t>
            </a:r>
            <a:r>
              <a:rPr lang="en-US" dirty="0">
                <a:effectLst/>
                <a:latin typeface="Arial" panose="020B0604020202020204" pitchFamily="34" charset="0"/>
              </a:rPr>
              <a:t> (up to 18.4%) with SignaturePath, 3.2% on average (up to 8.1%) with AMPM, 5.8% on average (up to 20.9%) with DCPT, and</a:t>
            </a:r>
            <a:br>
              <a:rPr lang="en-US" dirty="0"/>
            </a:br>
            <a:r>
              <a:rPr lang="en-US" dirty="0">
                <a:effectLst/>
                <a:latin typeface="Arial" panose="020B0604020202020204" pitchFamily="34" charset="0"/>
              </a:rPr>
              <a:t>11.2% on average (up to 33.4%) with Tagged-Correlating as the underlying prefetcher, respectively. </a:t>
            </a: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40</a:t>
            </a:fld>
            <a:endParaRPr lang="en-US"/>
          </a:p>
        </p:txBody>
      </p:sp>
    </p:spTree>
    <p:extLst>
      <p:ext uri="{BB962C8B-B14F-4D97-AF65-F5344CB8AC3E}">
        <p14:creationId xmlns:p14="http://schemas.microsoft.com/office/powerpoint/2010/main" val="17238086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Performance with Different Prefetchers</a:t>
            </a:r>
          </a:p>
          <a:p>
            <a:endParaRPr lang="en-US" dirty="0"/>
          </a:p>
          <a:p>
            <a:r>
              <a:rPr lang="en-US" dirty="0"/>
              <a:t>- The figure shows the performance comparison between different underlying prefetchers using our prefetch filter. </a:t>
            </a:r>
          </a:p>
          <a:p>
            <a:r>
              <a:rPr lang="en-US" dirty="0"/>
              <a:t>All the results are normalized to their respective baseline with the prefetcher enabled, and sorted in increasing order using IPC values.</a:t>
            </a:r>
          </a:p>
          <a:p>
            <a:endParaRPr lang="en-US" dirty="0"/>
          </a:p>
          <a:p>
            <a:pPr marL="171450" indent="-171450">
              <a:buFontTx/>
              <a:buChar char="-"/>
            </a:pPr>
            <a:r>
              <a:rPr lang="en-US" dirty="0">
                <a:effectLst/>
                <a:latin typeface="Arial" panose="020B0604020202020204" pitchFamily="34" charset="0"/>
              </a:rPr>
              <a:t>For memory-intensive workloads, MSF improves the performance by 7.5% on av-</a:t>
            </a:r>
            <a:br>
              <a:rPr lang="en-US" dirty="0"/>
            </a:br>
            <a:r>
              <a:rPr lang="en-US" dirty="0" err="1">
                <a:effectLst/>
                <a:latin typeface="Arial" panose="020B0604020202020204" pitchFamily="34" charset="0"/>
              </a:rPr>
              <a:t>erage</a:t>
            </a:r>
            <a:r>
              <a:rPr lang="en-US" dirty="0">
                <a:effectLst/>
                <a:latin typeface="Arial" panose="020B0604020202020204" pitchFamily="34" charset="0"/>
              </a:rPr>
              <a:t> (up to 18.4%) with SignaturePath, 3.2% on average (up to 8.1%) with AMPM, 5.8% on average (up to 20.9%) with DCPT, and</a:t>
            </a:r>
            <a:br>
              <a:rPr lang="en-US" dirty="0"/>
            </a:br>
            <a:r>
              <a:rPr lang="en-US" dirty="0">
                <a:effectLst/>
                <a:latin typeface="Arial" panose="020B0604020202020204" pitchFamily="34" charset="0"/>
              </a:rPr>
              <a:t>11.2% on average (up to 33.4%) with Tagged-Correlating as the underlying prefetcher, respectively. </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For mixed (MIX) workloads, MSF performs better by 5.9% on average (up to 12.8%) than the baseline with SignaturePath prefetcher,</a:t>
            </a:r>
            <a:br>
              <a:rPr lang="en-US" dirty="0"/>
            </a:br>
            <a:r>
              <a:rPr lang="en-US" dirty="0">
                <a:effectLst/>
                <a:latin typeface="Arial" panose="020B0604020202020204" pitchFamily="34" charset="0"/>
              </a:rPr>
              <a:t>3.7% on average (up to 8.7%) with AMPM, 4.5% on average (up to 10.4%) with DCPT, and 8.0% on average (up to 23.8%) with Tagged-</a:t>
            </a:r>
            <a:br>
              <a:rPr lang="en-US" dirty="0"/>
            </a:br>
            <a:r>
              <a:rPr lang="en-US" dirty="0">
                <a:effectLst/>
                <a:latin typeface="Arial" panose="020B0604020202020204" pitchFamily="34" charset="0"/>
              </a:rPr>
              <a:t>Correlating prefetcher, respectively. </a:t>
            </a: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41</a:t>
            </a:fld>
            <a:endParaRPr lang="en-US"/>
          </a:p>
        </p:txBody>
      </p:sp>
    </p:spTree>
    <p:extLst>
      <p:ext uri="{BB962C8B-B14F-4D97-AF65-F5344CB8AC3E}">
        <p14:creationId xmlns:p14="http://schemas.microsoft.com/office/powerpoint/2010/main" val="25165342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Performance with Different Prefetchers</a:t>
            </a:r>
          </a:p>
          <a:p>
            <a:endParaRPr lang="en-US" dirty="0"/>
          </a:p>
          <a:p>
            <a:r>
              <a:rPr lang="en-US" dirty="0"/>
              <a:t>- </a:t>
            </a:r>
            <a:r>
              <a:rPr lang="en-US" dirty="0">
                <a:effectLst/>
                <a:latin typeface="Arial" panose="020B0604020202020204" pitchFamily="34" charset="0"/>
              </a:rPr>
              <a:t>Overall, out of the full 55 SPEC workloads, MSF improves performance over the baseline by 7.0% with SignaturePath, 3.3% with</a:t>
            </a:r>
            <a:br>
              <a:rPr lang="en-US" dirty="0"/>
            </a:br>
            <a:r>
              <a:rPr lang="en-US" dirty="0">
                <a:effectLst/>
                <a:latin typeface="Arial" panose="020B0604020202020204" pitchFamily="34" charset="0"/>
              </a:rPr>
              <a:t>AMPM, 5.3% with DCPT, and 10.5% with Tagged-Correlating as their underlying prefetcher, respectively. This proves that MSF can</a:t>
            </a:r>
            <a:br>
              <a:rPr lang="en-US" dirty="0"/>
            </a:br>
            <a:r>
              <a:rPr lang="en-US" dirty="0">
                <a:effectLst/>
                <a:latin typeface="Arial" panose="020B0604020202020204" pitchFamily="34" charset="0"/>
              </a:rPr>
              <a:t>work well with any prefetcher respectively.</a:t>
            </a: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42</a:t>
            </a:fld>
            <a:endParaRPr lang="en-US"/>
          </a:p>
        </p:txBody>
      </p:sp>
    </p:spTree>
    <p:extLst>
      <p:ext uri="{BB962C8B-B14F-4D97-AF65-F5344CB8AC3E}">
        <p14:creationId xmlns:p14="http://schemas.microsoft.com/office/powerpoint/2010/main" val="29930183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r>
              <a:rPr lang="en-US" dirty="0"/>
              <a:t>The main benefit of MSF is that it filters out unnecessary prefetch requests coming in from LLC. </a:t>
            </a:r>
          </a:p>
          <a:p>
            <a:r>
              <a:rPr lang="en-US" dirty="0"/>
              <a:t>Here we show the prefetcher’s accuracy comparison between the baseline with no filter, and with MSF as the filter</a:t>
            </a:r>
          </a:p>
          <a:p>
            <a:r>
              <a:rPr lang="en-US" dirty="0"/>
              <a:t>Since we have total of 55 workloads, we will only show a representative set of workloads. </a:t>
            </a:r>
          </a:p>
          <a:p>
            <a:endParaRPr lang="en-US" dirty="0"/>
          </a:p>
          <a:p>
            <a:r>
              <a:rPr lang="en-US" dirty="0"/>
              <a:t>- Overall, Across 55 workloads, MSF increases SPP’s accuracy by 11.4% </a:t>
            </a:r>
          </a:p>
        </p:txBody>
      </p:sp>
      <p:sp>
        <p:nvSpPr>
          <p:cNvPr id="4" name="Slide Number Placeholder 3"/>
          <p:cNvSpPr>
            <a:spLocks noGrp="1"/>
          </p:cNvSpPr>
          <p:nvPr>
            <p:ph type="sldNum" sz="quarter" idx="5"/>
          </p:nvPr>
        </p:nvSpPr>
        <p:spPr/>
        <p:txBody>
          <a:bodyPr/>
          <a:lstStyle/>
          <a:p>
            <a:fld id="{1BFFDC1B-633B-9D46-A760-94AD7E6DEF05}" type="slidenum">
              <a:rPr lang="en-US" smtClean="0"/>
              <a:t>43</a:t>
            </a:fld>
            <a:endParaRPr lang="en-US"/>
          </a:p>
        </p:txBody>
      </p:sp>
    </p:spTree>
    <p:extLst>
      <p:ext uri="{BB962C8B-B14F-4D97-AF65-F5344CB8AC3E}">
        <p14:creationId xmlns:p14="http://schemas.microsoft.com/office/powerpoint/2010/main" val="39718769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r>
              <a:rPr lang="en-US" dirty="0"/>
              <a:t>For AMPM Prefetcher, MSF increases the accuracy by 9.1% across all workloads.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44</a:t>
            </a:fld>
            <a:endParaRPr lang="en-US"/>
          </a:p>
        </p:txBody>
      </p:sp>
    </p:spTree>
    <p:extLst>
      <p:ext uri="{BB962C8B-B14F-4D97-AF65-F5344CB8AC3E}">
        <p14:creationId xmlns:p14="http://schemas.microsoft.com/office/powerpoint/2010/main" val="13182101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r>
              <a:rPr lang="en-US" dirty="0"/>
              <a:t>For DCPT Prefetcher, MSF increases the accuracy by 5.1% across all workloads.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45</a:t>
            </a:fld>
            <a:endParaRPr lang="en-US"/>
          </a:p>
        </p:txBody>
      </p:sp>
    </p:spTree>
    <p:extLst>
      <p:ext uri="{BB962C8B-B14F-4D97-AF65-F5344CB8AC3E}">
        <p14:creationId xmlns:p14="http://schemas.microsoft.com/office/powerpoint/2010/main" val="16252432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r>
              <a:rPr lang="en-US" dirty="0"/>
              <a:t>For </a:t>
            </a:r>
            <a:r>
              <a:rPr lang="en-US" sz="1200" b="1" dirty="0">
                <a:solidFill>
                  <a:srgbClr val="00B0F0"/>
                </a:solidFill>
              </a:rPr>
              <a:t>Tagged-Correlating</a:t>
            </a:r>
            <a:r>
              <a:rPr lang="en-US" dirty="0"/>
              <a:t> Prefetcher, MSF increases the accuracy by 14.2% across all workloads.</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46</a:t>
            </a:fld>
            <a:endParaRPr lang="en-US"/>
          </a:p>
        </p:txBody>
      </p:sp>
    </p:spTree>
    <p:extLst>
      <p:ext uri="{BB962C8B-B14F-4D97-AF65-F5344CB8AC3E}">
        <p14:creationId xmlns:p14="http://schemas.microsoft.com/office/powerpoint/2010/main" val="3482545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r>
              <a:rPr lang="en-US" dirty="0"/>
              <a:t>MSF does not always make the correct decision, this leads to decreased coverage overall. </a:t>
            </a:r>
          </a:p>
          <a:p>
            <a:pPr marL="171450" indent="-171450">
              <a:buFontTx/>
              <a:buChar char="-"/>
            </a:pPr>
            <a:r>
              <a:rPr lang="en-US" dirty="0"/>
              <a:t>Coverage measures the proportion of cache misses that are avoided due to prefetching</a:t>
            </a:r>
          </a:p>
          <a:p>
            <a:pPr marL="171450" indent="-171450">
              <a:buFontTx/>
              <a:buChar char="-"/>
            </a:pPr>
            <a:endParaRPr lang="en-US" dirty="0"/>
          </a:p>
          <a:p>
            <a:pPr marL="171450" indent="-171450">
              <a:buFontTx/>
              <a:buChar char="-"/>
            </a:pPr>
            <a:r>
              <a:rPr lang="en-US" dirty="0"/>
              <a:t>The figure below shows the coverage of SPP prefetcher between the baseline of no filter vs MSF filter</a:t>
            </a:r>
          </a:p>
          <a:p>
            <a:pPr marL="171450" indent="-171450">
              <a:buFontTx/>
              <a:buChar char="-"/>
            </a:pPr>
            <a:r>
              <a:rPr lang="en-US" dirty="0"/>
              <a:t>Overall, across 55 workloads, MSF decreases SPP coverage by 6.3%</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47</a:t>
            </a:fld>
            <a:endParaRPr lang="en-US"/>
          </a:p>
        </p:txBody>
      </p:sp>
    </p:spTree>
    <p:extLst>
      <p:ext uri="{BB962C8B-B14F-4D97-AF65-F5344CB8AC3E}">
        <p14:creationId xmlns:p14="http://schemas.microsoft.com/office/powerpoint/2010/main" val="42719728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endParaRPr lang="en-US" dirty="0"/>
          </a:p>
          <a:p>
            <a:pPr marL="171450" indent="-171450">
              <a:buFontTx/>
              <a:buChar char="-"/>
            </a:pPr>
            <a:r>
              <a:rPr lang="en-US" dirty="0"/>
              <a:t>For AMPM Prefetcher, MSF decreases the coverage by 3.3%</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48</a:t>
            </a:fld>
            <a:endParaRPr lang="en-US"/>
          </a:p>
        </p:txBody>
      </p:sp>
    </p:spTree>
    <p:extLst>
      <p:ext uri="{BB962C8B-B14F-4D97-AF65-F5344CB8AC3E}">
        <p14:creationId xmlns:p14="http://schemas.microsoft.com/office/powerpoint/2010/main" val="20150676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endParaRPr lang="en-US" dirty="0"/>
          </a:p>
          <a:p>
            <a:pPr marL="171450" indent="-171450">
              <a:buFontTx/>
              <a:buChar char="-"/>
            </a:pPr>
            <a:r>
              <a:rPr lang="en-US" dirty="0"/>
              <a:t>For DCPT Prefetcher, MSF decreases the coverage by 2.8%</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49</a:t>
            </a:fld>
            <a:endParaRPr lang="en-US"/>
          </a:p>
        </p:txBody>
      </p:sp>
    </p:spTree>
    <p:extLst>
      <p:ext uri="{BB962C8B-B14F-4D97-AF65-F5344CB8AC3E}">
        <p14:creationId xmlns:p14="http://schemas.microsoft.com/office/powerpoint/2010/main" val="41932873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Accuracy and Coverage</a:t>
            </a:r>
          </a:p>
          <a:p>
            <a:endParaRPr lang="en-US" dirty="0"/>
          </a:p>
          <a:p>
            <a:pPr marL="171450" indent="-171450">
              <a:buFontTx/>
              <a:buChar char="-"/>
            </a:pPr>
            <a:endParaRPr lang="en-US" dirty="0"/>
          </a:p>
          <a:p>
            <a:pPr marL="171450" indent="-171450">
              <a:buFontTx/>
              <a:buChar char="-"/>
            </a:pPr>
            <a:r>
              <a:rPr lang="en-US" dirty="0"/>
              <a:t>For </a:t>
            </a:r>
            <a:r>
              <a:rPr lang="en-US" sz="1200" b="1" dirty="0">
                <a:solidFill>
                  <a:srgbClr val="0070C0"/>
                </a:solidFill>
              </a:rPr>
              <a:t>Tagged-Correlating</a:t>
            </a:r>
            <a:r>
              <a:rPr lang="en-US" dirty="0"/>
              <a:t> Prefetcher, MSF decreases the coverage by 6.1%</a:t>
            </a:r>
          </a:p>
          <a:p>
            <a:pPr marL="171450" indent="-171450">
              <a:buFontTx/>
              <a:buChar char="-"/>
            </a:pPr>
            <a:r>
              <a:rPr lang="en-US" dirty="0">
                <a:effectLst/>
                <a:latin typeface="Arial" panose="020B0604020202020204" pitchFamily="34" charset="0"/>
              </a:rPr>
              <a:t>However, even with the decrease in coverage, MSF still manages to improve the overall performance due to</a:t>
            </a:r>
            <a:br>
              <a:rPr lang="en-US" dirty="0">
                <a:effectLst/>
                <a:latin typeface="Arial" panose="020B0604020202020204" pitchFamily="34" charset="0"/>
              </a:rPr>
            </a:br>
            <a:r>
              <a:rPr lang="en-US" dirty="0">
                <a:effectLst/>
                <a:latin typeface="Arial" panose="020B0604020202020204" pitchFamily="34" charset="0"/>
              </a:rPr>
              <a:t>the larger increase on accuracy</a:t>
            </a: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50</a:t>
            </a:fld>
            <a:endParaRPr lang="en-US"/>
          </a:p>
        </p:txBody>
      </p:sp>
    </p:spTree>
    <p:extLst>
      <p:ext uri="{BB962C8B-B14F-4D97-AF65-F5344CB8AC3E}">
        <p14:creationId xmlns:p14="http://schemas.microsoft.com/office/powerpoint/2010/main" val="29634292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Number of LLC Evicted Prefetches</a:t>
            </a:r>
          </a:p>
          <a:p>
            <a:endParaRPr lang="en-US" dirty="0"/>
          </a:p>
          <a:p>
            <a:pPr marL="171450" indent="-171450">
              <a:buFontTx/>
              <a:buChar char="-"/>
            </a:pPr>
            <a:endParaRPr lang="en-US" dirty="0"/>
          </a:p>
          <a:p>
            <a:pPr marL="171450" indent="-171450">
              <a:buFontTx/>
              <a:buChar char="-"/>
            </a:pPr>
            <a:r>
              <a:rPr lang="en-US" dirty="0"/>
              <a:t>Furthermore, inaccurate prefetchers bring data into cache that aren’t used by the core, which causes cache pollution </a:t>
            </a:r>
          </a:p>
          <a:p>
            <a:pPr marL="171450" indent="-171450">
              <a:buFontTx/>
              <a:buChar char="-"/>
            </a:pPr>
            <a:r>
              <a:rPr lang="en-US" dirty="0"/>
              <a:t>The figure below shows the normalized number of LLC evicted prefetches without references between no filter vs MSF filter under SPP prefetcher.</a:t>
            </a:r>
          </a:p>
          <a:p>
            <a:pPr marL="171450" indent="-171450">
              <a:buFontTx/>
              <a:buChar char="-"/>
            </a:pPr>
            <a:endParaRPr lang="en-US" dirty="0"/>
          </a:p>
          <a:p>
            <a:pPr marL="171450" indent="-171450">
              <a:buFontTx/>
              <a:buChar char="-"/>
            </a:pPr>
            <a:r>
              <a:rPr lang="en-US" dirty="0">
                <a:effectLst/>
                <a:latin typeface="Arial" panose="020B0604020202020204" pitchFamily="34" charset="0"/>
              </a:rPr>
              <a:t>On average, out of 55 workloads, MSF reduces the number of LLC evicted prefetches without references by 52.6%</a:t>
            </a:r>
            <a:br>
              <a:rPr lang="en-US" dirty="0">
                <a:effectLst/>
                <a:latin typeface="Arial" panose="020B0604020202020204" pitchFamily="34" charset="0"/>
              </a:rPr>
            </a:br>
            <a:r>
              <a:rPr lang="en-US" dirty="0">
                <a:effectLst/>
                <a:latin typeface="Arial" panose="020B0604020202020204" pitchFamily="34" charset="0"/>
              </a:rPr>
              <a:t>for SignaturePath, 24.7% for AMPM, 40.8% for DCPT, and 50.8% for Tagged-Correlating</a:t>
            </a:r>
            <a:br>
              <a:rPr lang="en-US" dirty="0">
                <a:effectLst/>
                <a:latin typeface="Arial" panose="020B0604020202020204" pitchFamily="34" charset="0"/>
              </a:rPr>
            </a:br>
            <a:r>
              <a:rPr lang="en-US" dirty="0">
                <a:effectLst/>
                <a:latin typeface="Arial" panose="020B0604020202020204" pitchFamily="34" charset="0"/>
              </a:rPr>
              <a:t>prefetcher, respectively. </a:t>
            </a: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51</a:t>
            </a:fld>
            <a:endParaRPr lang="en-US"/>
          </a:p>
        </p:txBody>
      </p:sp>
    </p:spTree>
    <p:extLst>
      <p:ext uri="{BB962C8B-B14F-4D97-AF65-F5344CB8AC3E}">
        <p14:creationId xmlns:p14="http://schemas.microsoft.com/office/powerpoint/2010/main" val="32440971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Scalability</a:t>
            </a:r>
          </a:p>
          <a:p>
            <a:endParaRPr lang="en-US" dirty="0"/>
          </a:p>
          <a:p>
            <a:r>
              <a:rPr lang="en-US" dirty="0"/>
              <a:t>To showcase that MSF is scalable, we ran </a:t>
            </a:r>
            <a:r>
              <a:rPr lang="en-US" dirty="0" err="1"/>
              <a:t>experiemnts</a:t>
            </a:r>
            <a:r>
              <a:rPr lang="en-US" dirty="0"/>
              <a:t> on two-channel memory system, varying one to eight DIMMs per channel.</a:t>
            </a:r>
          </a:p>
          <a:p>
            <a:endParaRPr lang="en-US" dirty="0"/>
          </a:p>
          <a:p>
            <a:pPr marL="171450" indent="-171450">
              <a:buFontTx/>
              <a:buChar char="-"/>
            </a:pPr>
            <a:r>
              <a:rPr lang="en-US" dirty="0"/>
              <a:t>The figure on the left shows the performance comparison under 37 memory-intensive workloads, from 1 DIMM to 8 DIMMs per channel</a:t>
            </a:r>
          </a:p>
          <a:p>
            <a:pPr marL="171450" indent="-171450">
              <a:buFontTx/>
              <a:buChar char="-"/>
            </a:pPr>
            <a:r>
              <a:rPr lang="en-US" dirty="0"/>
              <a:t>And the figure on the right shows the performance of the remaining 18 mixed workloads. </a:t>
            </a:r>
          </a:p>
          <a:p>
            <a:pPr marL="171450" indent="-171450">
              <a:buFontTx/>
              <a:buChar char="-"/>
            </a:pPr>
            <a:endParaRPr lang="en-US" dirty="0"/>
          </a:p>
          <a:p>
            <a:pPr marL="171450" indent="-171450">
              <a:buFontTx/>
              <a:buChar char="-"/>
            </a:pPr>
            <a:r>
              <a:rPr lang="en-US" dirty="0"/>
              <a:t>For memory-intensive workloads, MSF improves the performance compared to the baseline from 7.0% to 8.7% as the number of DIMMs grow from 1D to 8D</a:t>
            </a:r>
          </a:p>
          <a:p>
            <a:pPr marL="171450" indent="-171450">
              <a:buFontTx/>
              <a:buChar char="-"/>
            </a:pPr>
            <a:r>
              <a:rPr lang="en-US" dirty="0"/>
              <a:t>For mixed workloads, MSF increases the performance by 5.2% to 6.2%.</a:t>
            </a:r>
          </a:p>
          <a:p>
            <a:pPr marL="171450" indent="-171450">
              <a:buFontTx/>
              <a:buChar char="-"/>
            </a:pPr>
            <a:endParaRPr lang="en-US" dirty="0"/>
          </a:p>
          <a:p>
            <a:pPr marL="171450" indent="-171450">
              <a:buFontTx/>
              <a:buChar char="-"/>
            </a:pPr>
            <a:r>
              <a:rPr lang="en-US" dirty="0">
                <a:effectLst/>
                <a:latin typeface="Arial" panose="020B0604020202020204" pitchFamily="34" charset="0"/>
              </a:rPr>
              <a:t>The results indicate that MSF can scale well as the number of DIMMs per</a:t>
            </a:r>
            <a:br>
              <a:rPr lang="en-US" dirty="0"/>
            </a:br>
            <a:r>
              <a:rPr lang="en-US" dirty="0">
                <a:effectLst/>
                <a:latin typeface="Arial" panose="020B0604020202020204" pitchFamily="34" charset="0"/>
              </a:rPr>
              <a:t>channel increase</a:t>
            </a: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52</a:t>
            </a:fld>
            <a:endParaRPr lang="en-US"/>
          </a:p>
        </p:txBody>
      </p:sp>
    </p:spTree>
    <p:extLst>
      <p:ext uri="{BB962C8B-B14F-4D97-AF65-F5344CB8AC3E}">
        <p14:creationId xmlns:p14="http://schemas.microsoft.com/office/powerpoint/2010/main" val="22013178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t>
            </a:r>
            <a:r>
              <a:rPr lang="en-US" sz="1200" b="1" dirty="0"/>
              <a:t>Reduction in Requests</a:t>
            </a:r>
          </a:p>
          <a:p>
            <a:endParaRPr lang="en-US" dirty="0"/>
          </a:p>
          <a:p>
            <a:r>
              <a:rPr lang="en-US" dirty="0"/>
              <a:t>As shown previously, MSF can successfully filters out unnecessary prefetch requests, saving valuable resources and bandwidth. </a:t>
            </a:r>
          </a:p>
          <a:p>
            <a:endParaRPr lang="en-US" dirty="0"/>
          </a:p>
          <a:p>
            <a:r>
              <a:rPr lang="en-US" dirty="0"/>
              <a:t>- The figure below shows the normalized number of prefetch requests between the baseline of no filtering vs MSF filter under various prefetcher. </a:t>
            </a:r>
          </a:p>
          <a:p>
            <a:pPr marL="171450" indent="-171450">
              <a:buFontTx/>
              <a:buChar char="-"/>
            </a:pPr>
            <a:r>
              <a:rPr lang="en-US" dirty="0"/>
              <a:t>The results are normalized to their respective baseline. </a:t>
            </a:r>
          </a:p>
          <a:p>
            <a:pPr marL="171450" indent="-171450">
              <a:buFontTx/>
              <a:buChar char="-"/>
            </a:pPr>
            <a:r>
              <a:rPr lang="en-US" dirty="0">
                <a:effectLst/>
                <a:latin typeface="Arial" panose="020B0604020202020204" pitchFamily="34" charset="0"/>
              </a:rPr>
              <a:t>Out of all 55 workloads, on average MSF reduces 17.9% prefetch requests for SignaturePath, 10.1% for AMPM, 11.3% for</a:t>
            </a:r>
            <a:br>
              <a:rPr lang="en-US" dirty="0"/>
            </a:br>
            <a:r>
              <a:rPr lang="en-US" dirty="0">
                <a:effectLst/>
                <a:latin typeface="Arial" panose="020B0604020202020204" pitchFamily="34" charset="0"/>
              </a:rPr>
              <a:t>DCPT, and 19.5% for Tagged-Correlating prefetchers, respectively.</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This shows that MSF significantly reduces the total number of prefetch requests that the MC need to serve, as compared to no filtering</a:t>
            </a: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53</a:t>
            </a:fld>
            <a:endParaRPr lang="en-US"/>
          </a:p>
        </p:txBody>
      </p:sp>
    </p:spTree>
    <p:extLst>
      <p:ext uri="{BB962C8B-B14F-4D97-AF65-F5344CB8AC3E}">
        <p14:creationId xmlns:p14="http://schemas.microsoft.com/office/powerpoint/2010/main" val="35514258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Energy Savings</a:t>
            </a:r>
            <a:endParaRPr lang="en-US" sz="1200" b="1" dirty="0"/>
          </a:p>
          <a:p>
            <a:endParaRPr lang="en-US" dirty="0"/>
          </a:p>
          <a:p>
            <a:r>
              <a:rPr lang="en-US" dirty="0">
                <a:effectLst/>
                <a:latin typeface="Arial" panose="020B0604020202020204" pitchFamily="34" charset="0"/>
              </a:rPr>
              <a:t>A direct benefit of filtering out unnecessary prefetches is saving in memory energy consumption, as the memory controller does</a:t>
            </a:r>
            <a:br>
              <a:rPr lang="en-US" dirty="0"/>
            </a:br>
            <a:r>
              <a:rPr lang="en-US" dirty="0">
                <a:effectLst/>
                <a:latin typeface="Arial" panose="020B0604020202020204" pitchFamily="34" charset="0"/>
              </a:rPr>
              <a:t>not waste resources serving unused requests</a:t>
            </a:r>
          </a:p>
          <a:p>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The figure below shows the memory energy consumption breakdown between baseline and MSF with SPP prefetcher.</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There are 6 portions that contribute to the memory energy</a:t>
            </a:r>
          </a:p>
          <a:p>
            <a:pPr marL="171450" indent="-171450">
              <a:buFontTx/>
              <a:buChar char="-"/>
            </a:pPr>
            <a:r>
              <a:rPr lang="en-US" dirty="0">
                <a:effectLst/>
                <a:latin typeface="Arial" panose="020B0604020202020204" pitchFamily="34" charset="0"/>
              </a:rPr>
              <a:t>1) activation energy</a:t>
            </a:r>
          </a:p>
          <a:p>
            <a:pPr marL="171450" indent="-171450">
              <a:buFontTx/>
              <a:buChar char="-"/>
            </a:pPr>
            <a:r>
              <a:rPr lang="en-US" dirty="0">
                <a:effectLst/>
                <a:latin typeface="Arial" panose="020B0604020202020204" pitchFamily="34" charset="0"/>
              </a:rPr>
              <a:t>2) precharge energy</a:t>
            </a:r>
          </a:p>
          <a:p>
            <a:pPr marL="171450" indent="-171450">
              <a:buFontTx/>
              <a:buChar char="-"/>
            </a:pPr>
            <a:r>
              <a:rPr lang="en-US" dirty="0">
                <a:effectLst/>
                <a:latin typeface="Arial" panose="020B0604020202020204" pitchFamily="34" charset="0"/>
              </a:rPr>
              <a:t>3) read energy </a:t>
            </a:r>
          </a:p>
          <a:p>
            <a:pPr marL="171450" indent="-171450">
              <a:buFontTx/>
              <a:buChar char="-"/>
            </a:pPr>
            <a:r>
              <a:rPr lang="en-US" dirty="0">
                <a:effectLst/>
                <a:latin typeface="Arial" panose="020B0604020202020204" pitchFamily="34" charset="0"/>
              </a:rPr>
              <a:t>4) write energy</a:t>
            </a:r>
          </a:p>
          <a:p>
            <a:pPr marL="171450" indent="-171450">
              <a:buFontTx/>
              <a:buChar char="-"/>
            </a:pPr>
            <a:r>
              <a:rPr lang="en-US" dirty="0">
                <a:effectLst/>
                <a:latin typeface="Arial" panose="020B0604020202020204" pitchFamily="34" charset="0"/>
              </a:rPr>
              <a:t>5) refresh  energy</a:t>
            </a:r>
          </a:p>
          <a:p>
            <a:pPr marL="171450" indent="-171450">
              <a:buFontTx/>
              <a:buChar char="-"/>
            </a:pPr>
            <a:r>
              <a:rPr lang="en-US" dirty="0">
                <a:effectLst/>
                <a:latin typeface="Arial" panose="020B0604020202020204" pitchFamily="34" charset="0"/>
              </a:rPr>
              <a:t>6) background energy</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First, compared to that of the baseline, the activation and precharge energy of MSF drops proportionally to the reduced</a:t>
            </a:r>
            <a:br>
              <a:rPr lang="en-US" dirty="0"/>
            </a:br>
            <a:r>
              <a:rPr lang="en-US" dirty="0">
                <a:effectLst/>
                <a:latin typeface="Arial" panose="020B0604020202020204" pitchFamily="34" charset="0"/>
              </a:rPr>
              <a:t>number in requests. This is because the Memory Controller spends less energy preparing the memory devices for fewer number of</a:t>
            </a:r>
            <a:br>
              <a:rPr lang="en-US" dirty="0"/>
            </a:br>
            <a:r>
              <a:rPr lang="en-US" dirty="0">
                <a:effectLst/>
                <a:latin typeface="Arial" panose="020B0604020202020204" pitchFamily="34" charset="0"/>
              </a:rPr>
              <a:t>requests</a:t>
            </a:r>
          </a:p>
          <a:p>
            <a:pPr marL="171450" indent="-171450">
              <a:buFontTx/>
              <a:buChar char="-"/>
            </a:pPr>
            <a:r>
              <a:rPr lang="en-US" dirty="0">
                <a:effectLst/>
                <a:latin typeface="Arial" panose="020B0604020202020204" pitchFamily="34" charset="0"/>
              </a:rPr>
              <a:t>Second, the read energy of MSF also drops significantly, because the controller in MSF sends fewer read bursts back to the</a:t>
            </a:r>
            <a:br>
              <a:rPr lang="en-US" dirty="0"/>
            </a:br>
            <a:r>
              <a:rPr lang="en-US" dirty="0">
                <a:effectLst/>
                <a:latin typeface="Arial" panose="020B0604020202020204" pitchFamily="34" charset="0"/>
              </a:rPr>
              <a:t>core</a:t>
            </a:r>
          </a:p>
          <a:p>
            <a:pPr marL="171450" indent="-171450">
              <a:buFontTx/>
              <a:buChar char="-"/>
            </a:pPr>
            <a:r>
              <a:rPr lang="en-US" dirty="0">
                <a:effectLst/>
                <a:latin typeface="Arial" panose="020B0604020202020204" pitchFamily="34" charset="0"/>
              </a:rPr>
              <a:t>The average read energy reduction is 17.5%,  and the overall energy saving is 10.6% on average as compared to the baseline</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The write energy, refresh energy, and</a:t>
            </a:r>
            <a:br>
              <a:rPr lang="en-US" dirty="0"/>
            </a:br>
            <a:r>
              <a:rPr lang="en-US" dirty="0">
                <a:effectLst/>
                <a:latin typeface="Arial" panose="020B0604020202020204" pitchFamily="34" charset="0"/>
              </a:rPr>
              <a:t>background energy stay almost the same as they are independent</a:t>
            </a:r>
            <a:br>
              <a:rPr lang="en-US" dirty="0"/>
            </a:br>
            <a:r>
              <a:rPr lang="en-US" dirty="0">
                <a:effectLst/>
                <a:latin typeface="Arial" panose="020B0604020202020204" pitchFamily="34" charset="0"/>
              </a:rPr>
              <a:t>to the reduction in read requests</a:t>
            </a:r>
          </a:p>
          <a:p>
            <a:pPr marL="171450" indent="-171450">
              <a:buFontTx/>
              <a:buChar char="-"/>
            </a:pPr>
            <a:endParaRPr lang="en-US" dirty="0">
              <a:effectLst/>
              <a:latin typeface="Arial" panose="020B0604020202020204" pitchFamily="34" charset="0"/>
            </a:endParaRPr>
          </a:p>
          <a:p>
            <a:pPr marL="171450" indent="-171450">
              <a:buFontTx/>
              <a:buChar char="-"/>
            </a:pPr>
            <a:endParaRPr lang="en-US" dirty="0">
              <a:effectLst/>
              <a:latin typeface="Arial" panose="020B0604020202020204" pitchFamily="34" charset="0"/>
            </a:endParaRP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54</a:t>
            </a:fld>
            <a:endParaRPr lang="en-US"/>
          </a:p>
        </p:txBody>
      </p:sp>
    </p:spTree>
    <p:extLst>
      <p:ext uri="{BB962C8B-B14F-4D97-AF65-F5344CB8AC3E}">
        <p14:creationId xmlns:p14="http://schemas.microsoft.com/office/powerpoint/2010/main" val="22340929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t>
            </a:r>
            <a:r>
              <a:rPr lang="en-US" sz="1200" b="1" dirty="0"/>
              <a:t>Performance Versus Related Schemes</a:t>
            </a:r>
            <a:endParaRPr lang="en-US" dirty="0">
              <a:effectLst/>
              <a:latin typeface="Arial" panose="020B0604020202020204" pitchFamily="34" charset="0"/>
            </a:endParaRPr>
          </a:p>
          <a:p>
            <a:pPr marL="171450" indent="-171450">
              <a:buFontTx/>
              <a:buChar char="-"/>
            </a:pPr>
            <a:endParaRPr lang="en-US" dirty="0"/>
          </a:p>
          <a:p>
            <a:pPr marL="171450" indent="-171450">
              <a:buFontTx/>
              <a:buChar char="-"/>
            </a:pPr>
            <a:endParaRPr lang="en-US" dirty="0"/>
          </a:p>
          <a:p>
            <a:pPr marL="171450" indent="-171450">
              <a:buFontTx/>
              <a:buChar char="-"/>
            </a:pPr>
            <a:r>
              <a:rPr lang="en-US" dirty="0">
                <a:effectLst/>
                <a:latin typeface="Arial" panose="020B0604020202020204" pitchFamily="34" charset="0"/>
              </a:rPr>
              <a:t>Figure below compares the performance obtained by MSF, PPF, and PADC under the 2CH-2D-2R configuration with SignaturePath as</a:t>
            </a:r>
            <a:br>
              <a:rPr lang="en-US" dirty="0"/>
            </a:br>
            <a:r>
              <a:rPr lang="en-US" dirty="0">
                <a:effectLst/>
                <a:latin typeface="Arial" panose="020B0604020202020204" pitchFamily="34" charset="0"/>
              </a:rPr>
              <a:t>the underlying prefetcher.</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For memory-intensive workloads, MSF improves performance by 1.6%</a:t>
            </a:r>
            <a:br>
              <a:rPr lang="en-US" dirty="0"/>
            </a:br>
            <a:r>
              <a:rPr lang="en-US" dirty="0">
                <a:effectLst/>
                <a:latin typeface="Arial" panose="020B0604020202020204" pitchFamily="34" charset="0"/>
              </a:rPr>
              <a:t>over PPF and by 5.2% over PADC on average, respectively. </a:t>
            </a:r>
          </a:p>
          <a:p>
            <a:pPr marL="171450" indent="-171450">
              <a:buFontTx/>
              <a:buChar char="-"/>
            </a:pPr>
            <a:r>
              <a:rPr lang="en-US" dirty="0">
                <a:effectLst/>
                <a:latin typeface="Arial" panose="020B0604020202020204" pitchFamily="34" charset="0"/>
              </a:rPr>
              <a:t>For mixed workloads, MSF performs better by 0.1% on average than PPF, and 3.1% on average than PADC, respectively.</a:t>
            </a:r>
          </a:p>
          <a:p>
            <a:pPr marL="171450" indent="-171450">
              <a:buFontTx/>
              <a:buChar char="-"/>
            </a:pPr>
            <a:endParaRPr lang="en-US" dirty="0">
              <a:effectLst/>
              <a:latin typeface="Arial" panose="020B0604020202020204" pitchFamily="34" charset="0"/>
            </a:endParaRPr>
          </a:p>
          <a:p>
            <a:pPr marL="171450" indent="-171450">
              <a:buFontTx/>
              <a:buChar char="-"/>
            </a:pPr>
            <a:r>
              <a:rPr lang="en-US" dirty="0">
                <a:effectLst/>
                <a:latin typeface="Arial" panose="020B0604020202020204" pitchFamily="34" charset="0"/>
              </a:rPr>
              <a:t>MSF is able to perform better than PPF while using only memory-side information, whereas PPF uses specific metadata from SPP prefetcher</a:t>
            </a:r>
          </a:p>
          <a:p>
            <a:pPr marL="171450" indent="-171450">
              <a:buFontTx/>
              <a:buChar char="-"/>
            </a:pPr>
            <a:endParaRPr lang="en-US" dirty="0">
              <a:effectLst/>
              <a:latin typeface="Arial" panose="020B0604020202020204" pitchFamily="34" charset="0"/>
            </a:endParaRPr>
          </a:p>
          <a:p>
            <a:pPr marL="171450" indent="-171450">
              <a:buFontTx/>
              <a:buChar char="-"/>
            </a:pPr>
            <a:endParaRPr lang="en-US" dirty="0">
              <a:effectLst/>
              <a:latin typeface="Arial" panose="020B0604020202020204" pitchFamily="34" charset="0"/>
            </a:endParaRP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55</a:t>
            </a:fld>
            <a:endParaRPr lang="en-US"/>
          </a:p>
        </p:txBody>
      </p:sp>
    </p:spTree>
    <p:extLst>
      <p:ext uri="{BB962C8B-B14F-4D97-AF65-F5344CB8AC3E}">
        <p14:creationId xmlns:p14="http://schemas.microsoft.com/office/powerpoint/2010/main" val="38517235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MSF Summary</a:t>
            </a:r>
            <a:br>
              <a:rPr lang="en-US" dirty="0"/>
            </a:br>
            <a:endParaRPr lang="en-US" dirty="0"/>
          </a:p>
          <a:p>
            <a:pPr marL="171450" indent="-171450">
              <a:buFontTx/>
              <a:buChar char="-"/>
            </a:pPr>
            <a:r>
              <a:rPr lang="en-US" dirty="0"/>
              <a:t>MSF main ideas are</a:t>
            </a:r>
          </a:p>
          <a:p>
            <a:pPr marL="171450" indent="-171450">
              <a:buFontTx/>
              <a:buChar char="-"/>
            </a:pPr>
            <a:r>
              <a:rPr lang="en-US" dirty="0"/>
              <a:t>1) Filtering unnecessary prefetch requests using both memory-side and core-side metadata, whereas a similar scheme uses core-side specific information</a:t>
            </a:r>
          </a:p>
          <a:p>
            <a:pPr marL="171450" indent="-171450">
              <a:buFontTx/>
              <a:buChar char="-"/>
            </a:pPr>
            <a:r>
              <a:rPr lang="en-US" dirty="0"/>
              <a:t>2) MSF uses hashed-perceptron variation to determine the request’s usefulness</a:t>
            </a:r>
          </a:p>
          <a:p>
            <a:pPr marL="171450" indent="-171450">
              <a:buFontTx/>
              <a:buChar char="-"/>
            </a:pPr>
            <a:r>
              <a:rPr lang="en-US" dirty="0"/>
              <a:t>3) MSF is designed to work for any underlying prefetcher</a:t>
            </a:r>
          </a:p>
          <a:p>
            <a:pPr marL="171450" indent="-171450">
              <a:buFontTx/>
              <a:buChar char="-"/>
            </a:pPr>
            <a:endParaRPr lang="en-US" dirty="0"/>
          </a:p>
          <a:p>
            <a:pPr marL="171450" indent="-171450">
              <a:buFontTx/>
              <a:buChar char="-"/>
            </a:pPr>
            <a:r>
              <a:rPr lang="en-US" dirty="0"/>
              <a:t>As for overhead, MSF storage overhead is 29.99KB per memory channel</a:t>
            </a:r>
          </a:p>
          <a:p>
            <a:pPr marL="171450" indent="-171450">
              <a:buFontTx/>
              <a:buChar char="-"/>
            </a:pPr>
            <a:r>
              <a:rPr lang="en-US" dirty="0"/>
              <a:t>Which is significantly less than PPF scheme, they consume 39.34KB of storage overhead per-core, which equals to 314.72KB for an 8-core system.</a:t>
            </a:r>
          </a:p>
          <a:p>
            <a:pPr marL="171450" indent="-171450">
              <a:buFontTx/>
              <a:buChar char="-"/>
            </a:pPr>
            <a:endParaRPr lang="en-US" dirty="0"/>
          </a:p>
          <a:p>
            <a:pPr marL="171450" indent="-171450">
              <a:buFontTx/>
              <a:buChar char="-"/>
            </a:pPr>
            <a:r>
              <a:rPr lang="en-US" dirty="0"/>
              <a:t>For the results, MSF manages to improve performance by 7.0% with SPP as the underlying prefetcher, 3.3% with AMPM, 5.3% with DCPT and 10.5% with Tagged-Correlating prefetcher</a:t>
            </a:r>
          </a:p>
          <a:p>
            <a:pPr marL="171450" indent="-171450">
              <a:buFontTx/>
              <a:buChar char="-"/>
            </a:pPr>
            <a:r>
              <a:rPr lang="en-US" dirty="0"/>
              <a:t>As compared with related schemes, MSF performs better by 5.2% over PADC, and 1.3% over PPF, while consuming significantly less area overhead.</a:t>
            </a:r>
          </a:p>
          <a:p>
            <a:pPr marL="171450" indent="-171450">
              <a:buFontTx/>
              <a:buChar char="-"/>
            </a:pPr>
            <a:r>
              <a:rPr lang="en-US" dirty="0"/>
              <a:t>Finally, MSF saves energy consumption overall because it serves fewer requests, which leads to a reduction of 10.6% energy consumption.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56</a:t>
            </a:fld>
            <a:endParaRPr lang="en-US"/>
          </a:p>
        </p:txBody>
      </p:sp>
    </p:spTree>
    <p:extLst>
      <p:ext uri="{BB962C8B-B14F-4D97-AF65-F5344CB8AC3E}">
        <p14:creationId xmlns:p14="http://schemas.microsoft.com/office/powerpoint/2010/main" val="42141526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Summary</a:t>
            </a:r>
          </a:p>
          <a:p>
            <a:endParaRPr lang="en-US" dirty="0"/>
          </a:p>
          <a:p>
            <a:pPr marL="171450" indent="-171450">
              <a:buFontTx/>
              <a:buChar char="-"/>
            </a:pPr>
            <a:r>
              <a:rPr lang="en-US" dirty="0"/>
              <a:t>The memory-wall gap is increasing between the CPU and memory, as the conventional memory system can no longer keep up with the modern-day applications.</a:t>
            </a:r>
          </a:p>
          <a:p>
            <a:pPr marL="171450" indent="-171450">
              <a:buFontTx/>
              <a:buChar char="-"/>
            </a:pPr>
            <a:r>
              <a:rPr lang="en-US" dirty="0"/>
              <a:t>NVM technology is a promising alternative to DRAM, hence making a system with contains both DRAM and NVM is needed to close the memory-wall gap.</a:t>
            </a:r>
          </a:p>
          <a:p>
            <a:pPr marL="171450" indent="-171450">
              <a:buFontTx/>
              <a:buChar char="-"/>
            </a:pPr>
            <a:r>
              <a:rPr lang="en-US" dirty="0"/>
              <a:t>With that, we proposed several schemes to implement hybrid memory framework, with optimizations to the bus overhead. </a:t>
            </a:r>
          </a:p>
          <a:p>
            <a:pPr marL="171450" indent="-171450">
              <a:buFontTx/>
              <a:buChar char="-"/>
            </a:pPr>
            <a:r>
              <a:rPr lang="en-US" dirty="0"/>
              <a:t>To further combat the memory-wall, prefetching is typically used in most modern processors to pre-loading the data into the cache before it is actually needed.</a:t>
            </a:r>
          </a:p>
          <a:p>
            <a:pPr marL="171450" indent="-171450">
              <a:buFontTx/>
              <a:buChar char="-"/>
            </a:pPr>
            <a:endParaRPr lang="en-US" dirty="0"/>
          </a:p>
          <a:p>
            <a:pPr marL="171450" indent="-171450">
              <a:buFontTx/>
              <a:buChar char="-"/>
            </a:pPr>
            <a:r>
              <a:rPr lang="en-US" dirty="0"/>
              <a:t>We proposed MSF as a technique to filter unnecessary prefetching, it has good performance, low storage overhead and could work for any underlying prefetcher.</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57</a:t>
            </a:fld>
            <a:endParaRPr lang="en-US"/>
          </a:p>
        </p:txBody>
      </p:sp>
    </p:spTree>
    <p:extLst>
      <p:ext uri="{BB962C8B-B14F-4D97-AF65-F5344CB8AC3E}">
        <p14:creationId xmlns:p14="http://schemas.microsoft.com/office/powerpoint/2010/main" val="42514505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58</a:t>
            </a:fld>
            <a:endParaRPr lang="en-US"/>
          </a:p>
        </p:txBody>
      </p:sp>
    </p:spTree>
    <p:extLst>
      <p:ext uri="{BB962C8B-B14F-4D97-AF65-F5344CB8AC3E}">
        <p14:creationId xmlns:p14="http://schemas.microsoft.com/office/powerpoint/2010/main" val="39196248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Summary</a:t>
            </a:r>
          </a:p>
          <a:p>
            <a:endParaRPr lang="en-US" dirty="0"/>
          </a:p>
          <a:p>
            <a:pPr marL="171450" indent="-171450">
              <a:buFontTx/>
              <a:buChar char="-"/>
            </a:pPr>
            <a:r>
              <a:rPr lang="en-US" dirty="0"/>
              <a:t>The memory-wall gap is increasing between the CPU and memory, as the conventional memory system can no longer keep up with the modern-day applications.</a:t>
            </a:r>
          </a:p>
          <a:p>
            <a:pPr marL="171450" indent="-171450">
              <a:buFontTx/>
              <a:buChar char="-"/>
            </a:pPr>
            <a:r>
              <a:rPr lang="en-US" dirty="0"/>
              <a:t>NVM technology is a promising alternative to DRAM, hence making a system with contains both DRAM and NVM is needed to close the memory-wall gap.</a:t>
            </a:r>
          </a:p>
          <a:p>
            <a:pPr marL="171450" indent="-171450">
              <a:buFontTx/>
              <a:buChar char="-"/>
            </a:pPr>
            <a:r>
              <a:rPr lang="en-US" dirty="0"/>
              <a:t>With that, we proposed several schemes to implement hybrid memory framework, with optimizations to the bus overhead. </a:t>
            </a:r>
          </a:p>
          <a:p>
            <a:pPr marL="171450" indent="-171450">
              <a:buFontTx/>
              <a:buChar char="-"/>
            </a:pPr>
            <a:r>
              <a:rPr lang="en-US" dirty="0"/>
              <a:t>To further combat the memory-wall, prefetching is typically used in most modern processors to pre-loading the data into the cache before it is actually needed.</a:t>
            </a:r>
          </a:p>
          <a:p>
            <a:pPr marL="171450" indent="-171450">
              <a:buFontTx/>
              <a:buChar char="-"/>
            </a:pPr>
            <a:endParaRPr lang="en-US" dirty="0"/>
          </a:p>
          <a:p>
            <a:pPr marL="171450" indent="-171450">
              <a:buFontTx/>
              <a:buChar char="-"/>
            </a:pPr>
            <a:r>
              <a:rPr lang="en-US" dirty="0"/>
              <a:t>We proposed MSF as a technique to filter unnecessary prefetching, it has good performance, low storage overhead and could work for any underlying prefetcher.</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1BFFDC1B-633B-9D46-A760-94AD7E6DEF05}" type="slidenum">
              <a:rPr lang="en-US" smtClean="0"/>
              <a:t>59</a:t>
            </a:fld>
            <a:endParaRPr lang="en-US"/>
          </a:p>
        </p:txBody>
      </p:sp>
    </p:spTree>
    <p:extLst>
      <p:ext uri="{BB962C8B-B14F-4D97-AF65-F5344CB8AC3E}">
        <p14:creationId xmlns:p14="http://schemas.microsoft.com/office/powerpoint/2010/main" val="888928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7/12/24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7.emf"/></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8.emf"/></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9.emf"/></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0.emf"/></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32.emf"/><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18098"/>
            <a:ext cx="9144000" cy="897219"/>
          </a:xfrm>
        </p:spPr>
        <p:txBody>
          <a:bodyPr vert="horz" lIns="91440" tIns="45720" rIns="91440" bIns="45720" rtlCol="0" anchor="b">
            <a:noAutofit/>
          </a:bodyPr>
          <a:lstStyle/>
          <a:p>
            <a:r>
              <a:rPr lang="en-US" sz="2800" b="1" dirty="0">
                <a:solidFill>
                  <a:schemeClr val="tx2">
                    <a:lumMod val="75000"/>
                    <a:lumOff val="25000"/>
                  </a:schemeClr>
                </a:solidFill>
                <a:latin typeface="Calibri"/>
                <a:ea typeface="+mj-lt"/>
                <a:cs typeface="+mj-lt"/>
              </a:rPr>
              <a:t>Memory Interface and Controller Designs and Optimizations for Next Generation Memory Systems</a:t>
            </a:r>
            <a:endParaRPr lang="en-US" sz="2800" b="1">
              <a:solidFill>
                <a:schemeClr val="tx2">
                  <a:lumMod val="75000"/>
                  <a:lumOff val="25000"/>
                </a:schemeClr>
              </a:solidFill>
              <a:latin typeface="Calibri"/>
              <a:cs typeface="Calibri"/>
            </a:endParaRPr>
          </a:p>
        </p:txBody>
      </p:sp>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2"/>
          <a:stretch>
            <a:fillRect/>
          </a:stretch>
        </p:blipFill>
        <p:spPr>
          <a:xfrm>
            <a:off x="-547" y="6220717"/>
            <a:ext cx="12197602" cy="637333"/>
          </a:xfrm>
          <a:prstGeom prst="rect">
            <a:avLst/>
          </a:prstGeom>
        </p:spPr>
      </p:pic>
      <p:sp>
        <p:nvSpPr>
          <p:cNvPr id="5" name="TextBox 4">
            <a:extLst>
              <a:ext uri="{FF2B5EF4-FFF2-40B4-BE49-F238E27FC236}">
                <a16:creationId xmlns:a16="http://schemas.microsoft.com/office/drawing/2014/main" id="{982E6F9B-A6C4-CBE4-57F4-F6B03E33BE6E}"/>
              </a:ext>
            </a:extLst>
          </p:cNvPr>
          <p:cNvSpPr txBox="1"/>
          <p:nvPr/>
        </p:nvSpPr>
        <p:spPr>
          <a:xfrm>
            <a:off x="1523259" y="2222294"/>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chemeClr val="tx2">
                    <a:lumMod val="75000"/>
                    <a:lumOff val="25000"/>
                  </a:schemeClr>
                </a:solidFill>
              </a:rPr>
              <a:t>By:</a:t>
            </a:r>
          </a:p>
        </p:txBody>
      </p:sp>
      <p:sp>
        <p:nvSpPr>
          <p:cNvPr id="6" name="TextBox 5">
            <a:extLst>
              <a:ext uri="{FF2B5EF4-FFF2-40B4-BE49-F238E27FC236}">
                <a16:creationId xmlns:a16="http://schemas.microsoft.com/office/drawing/2014/main" id="{29A428B3-5B08-A551-7AFA-B647CE78779B}"/>
              </a:ext>
            </a:extLst>
          </p:cNvPr>
          <p:cNvSpPr txBox="1"/>
          <p:nvPr/>
        </p:nvSpPr>
        <p:spPr>
          <a:xfrm>
            <a:off x="1523259" y="3057132"/>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tx2">
                    <a:lumMod val="75000"/>
                    <a:lumOff val="25000"/>
                  </a:schemeClr>
                </a:solidFill>
              </a:rPr>
              <a:t>Defense Committee:</a:t>
            </a:r>
          </a:p>
        </p:txBody>
      </p:sp>
      <p:sp>
        <p:nvSpPr>
          <p:cNvPr id="7" name="TextBox 6">
            <a:extLst>
              <a:ext uri="{FF2B5EF4-FFF2-40B4-BE49-F238E27FC236}">
                <a16:creationId xmlns:a16="http://schemas.microsoft.com/office/drawing/2014/main" id="{9E67FD90-CCBF-4295-576E-0914A70E333A}"/>
              </a:ext>
            </a:extLst>
          </p:cNvPr>
          <p:cNvSpPr txBox="1"/>
          <p:nvPr/>
        </p:nvSpPr>
        <p:spPr>
          <a:xfrm>
            <a:off x="1523259" y="5180647"/>
            <a:ext cx="37909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accent5">
                    <a:lumMod val="75000"/>
                  </a:schemeClr>
                </a:solidFill>
              </a:rPr>
              <a:t>Doctoral Dissertation Defense</a:t>
            </a:r>
          </a:p>
          <a:p>
            <a:r>
              <a:rPr lang="en-US" b="1" dirty="0">
                <a:solidFill>
                  <a:schemeClr val="accent5">
                    <a:lumMod val="75000"/>
                  </a:schemeClr>
                </a:solidFill>
              </a:rPr>
              <a:t>July 15, 2024</a:t>
            </a:r>
          </a:p>
        </p:txBody>
      </p:sp>
      <p:sp>
        <p:nvSpPr>
          <p:cNvPr id="8" name="TextBox 7">
            <a:extLst>
              <a:ext uri="{FF2B5EF4-FFF2-40B4-BE49-F238E27FC236}">
                <a16:creationId xmlns:a16="http://schemas.microsoft.com/office/drawing/2014/main" id="{F807B112-7F77-C7AF-3822-F02EB3397836}"/>
              </a:ext>
            </a:extLst>
          </p:cNvPr>
          <p:cNvSpPr txBox="1"/>
          <p:nvPr/>
        </p:nvSpPr>
        <p:spPr>
          <a:xfrm>
            <a:off x="1932056" y="2521132"/>
            <a:ext cx="191999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Trung Le</a:t>
            </a:r>
          </a:p>
        </p:txBody>
      </p:sp>
      <p:sp>
        <p:nvSpPr>
          <p:cNvPr id="9" name="TextBox 8">
            <a:extLst>
              <a:ext uri="{FF2B5EF4-FFF2-40B4-BE49-F238E27FC236}">
                <a16:creationId xmlns:a16="http://schemas.microsoft.com/office/drawing/2014/main" id="{FC985164-1089-511E-383A-8044DF1895A9}"/>
              </a:ext>
            </a:extLst>
          </p:cNvPr>
          <p:cNvSpPr txBox="1"/>
          <p:nvPr/>
        </p:nvSpPr>
        <p:spPr>
          <a:xfrm>
            <a:off x="1932056" y="3428808"/>
            <a:ext cx="464862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Zhichun Zhu (Chair and Advisor)</a:t>
            </a:r>
            <a:endParaRPr lang="en-US" dirty="0"/>
          </a:p>
          <a:p>
            <a:r>
              <a:rPr lang="en-US" b="1" dirty="0"/>
              <a:t>Zhao Zhang (Co-advisor)</a:t>
            </a:r>
          </a:p>
          <a:p>
            <a:r>
              <a:rPr lang="en-US" b="1" dirty="0"/>
              <a:t>Ajay Kshemkalyani (Computer Science)</a:t>
            </a:r>
          </a:p>
          <a:p>
            <a:r>
              <a:rPr lang="en-US" b="1" dirty="0"/>
              <a:t>Debjit Pal</a:t>
            </a:r>
          </a:p>
          <a:p>
            <a:r>
              <a:rPr lang="en-US" b="1" dirty="0"/>
              <a:t>Wenjing Rao</a:t>
            </a:r>
          </a:p>
          <a:p>
            <a:endParaRPr lang="en-US" b="1" dirty="0"/>
          </a:p>
        </p:txBody>
      </p:sp>
      <p:pic>
        <p:nvPicPr>
          <p:cNvPr id="12" name="Picture 11" descr="https://upload.wikimedia.org/wikipedia/commons/1/12/UIC_College_of_Engineering_Logo_2015.png">
            <a:extLst>
              <a:ext uri="{FF2B5EF4-FFF2-40B4-BE49-F238E27FC236}">
                <a16:creationId xmlns:a16="http://schemas.microsoft.com/office/drawing/2014/main" id="{8819D612-E6BF-011B-576A-3ED9DCBEF704}"/>
              </a:ext>
            </a:extLst>
          </p:cNvPr>
          <p:cNvPicPr>
            <a:picLocks noChangeAspect="1"/>
          </p:cNvPicPr>
          <p:nvPr/>
        </p:nvPicPr>
        <p:blipFill>
          <a:blip r:embed="rId3"/>
          <a:stretch>
            <a:fillRect/>
          </a:stretch>
        </p:blipFill>
        <p:spPr>
          <a:xfrm>
            <a:off x="8982635" y="5060155"/>
            <a:ext cx="2743200" cy="614924"/>
          </a:xfrm>
          <a:prstGeom prst="rect">
            <a:avLst/>
          </a:prstGeom>
        </p:spPr>
      </p:pic>
      <p:pic>
        <p:nvPicPr>
          <p:cNvPr id="13" name="Picture 12" descr="A blue and white sign&#10;&#10;Description automatically generated">
            <a:extLst>
              <a:ext uri="{FF2B5EF4-FFF2-40B4-BE49-F238E27FC236}">
                <a16:creationId xmlns:a16="http://schemas.microsoft.com/office/drawing/2014/main" id="{6D947ECB-9FD3-9EE0-0BC5-A53F2E256C69}"/>
              </a:ext>
            </a:extLst>
          </p:cNvPr>
          <p:cNvPicPr>
            <a:picLocks noChangeAspect="1"/>
          </p:cNvPicPr>
          <p:nvPr/>
        </p:nvPicPr>
        <p:blipFill>
          <a:blip r:embed="rId4"/>
          <a:stretch>
            <a:fillRect/>
          </a:stretch>
        </p:blipFill>
        <p:spPr>
          <a:xfrm>
            <a:off x="8982636" y="4496360"/>
            <a:ext cx="2765612" cy="560296"/>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2"/>
          <a:stretch>
            <a:fillRect/>
          </a:stretch>
        </p:blipFill>
        <p:spPr>
          <a:xfrm>
            <a:off x="-547" y="6220717"/>
            <a:ext cx="12197602" cy="637333"/>
          </a:xfrm>
          <a:prstGeom prst="rect">
            <a:avLst/>
          </a:prstGeom>
        </p:spPr>
      </p:pic>
      <p:sp>
        <p:nvSpPr>
          <p:cNvPr id="6" name="Title 1">
            <a:extLst>
              <a:ext uri="{FF2B5EF4-FFF2-40B4-BE49-F238E27FC236}">
                <a16:creationId xmlns:a16="http://schemas.microsoft.com/office/drawing/2014/main" id="{F86A477B-85BC-EE0A-9406-1354D545731F}"/>
              </a:ext>
            </a:extLst>
          </p:cNvPr>
          <p:cNvSpPr>
            <a:spLocks noGrp="1"/>
          </p:cNvSpPr>
          <p:nvPr>
            <p:ph type="ctrTitle"/>
          </p:nvPr>
        </p:nvSpPr>
        <p:spPr>
          <a:xfrm>
            <a:off x="1524000" y="618098"/>
            <a:ext cx="9144000" cy="897219"/>
          </a:xfrm>
        </p:spPr>
        <p:txBody>
          <a:bodyPr vert="horz" lIns="91440" tIns="45720" rIns="91440" bIns="45720" rtlCol="0" anchor="b">
            <a:noAutofit/>
          </a:bodyPr>
          <a:lstStyle/>
          <a:p>
            <a:r>
              <a:rPr lang="en-US" sz="3200" b="1" dirty="0">
                <a:latin typeface="Calibri"/>
                <a:ea typeface="+mj-lt"/>
                <a:cs typeface="+mj-lt"/>
              </a:rPr>
              <a:t>Outline</a:t>
            </a:r>
            <a:endParaRPr lang="en-US" sz="6600" dirty="0"/>
          </a:p>
        </p:txBody>
      </p:sp>
      <p:sp>
        <p:nvSpPr>
          <p:cNvPr id="7" name="TextBox 6">
            <a:extLst>
              <a:ext uri="{FF2B5EF4-FFF2-40B4-BE49-F238E27FC236}">
                <a16:creationId xmlns:a16="http://schemas.microsoft.com/office/drawing/2014/main" id="{F9FD9DA7-30B3-7163-8354-6275CFB6EF09}"/>
              </a:ext>
            </a:extLst>
          </p:cNvPr>
          <p:cNvSpPr txBox="1"/>
          <p:nvPr/>
        </p:nvSpPr>
        <p:spPr>
          <a:xfrm>
            <a:off x="987552" y="1773936"/>
            <a:ext cx="1002182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panose="020B0604020202020204" pitchFamily="34" charset="0"/>
              <a:buChar char="•"/>
            </a:pPr>
            <a:r>
              <a:rPr lang="en-US" sz="2400" b="1" dirty="0">
                <a:solidFill>
                  <a:schemeClr val="accent5">
                    <a:lumMod val="50000"/>
                  </a:schemeClr>
                </a:solidFill>
              </a:rPr>
              <a:t>Introduction</a:t>
            </a:r>
          </a:p>
          <a:p>
            <a:pPr marL="285750" indent="-285750" algn="l">
              <a:buFont typeface="Arial" panose="020B0604020202020204" pitchFamily="34" charset="0"/>
              <a:buChar char="•"/>
            </a:pPr>
            <a:r>
              <a:rPr lang="en-US" sz="2400" b="1" dirty="0">
                <a:solidFill>
                  <a:schemeClr val="accent5">
                    <a:lumMod val="50000"/>
                  </a:schemeClr>
                </a:solidFill>
              </a:rPr>
              <a:t>Background and Motivation</a:t>
            </a:r>
          </a:p>
          <a:p>
            <a:pPr marL="285750" indent="-285750" algn="l">
              <a:buFont typeface="Arial" panose="020B0604020202020204" pitchFamily="34" charset="0"/>
              <a:buChar char="•"/>
            </a:pPr>
            <a:r>
              <a:rPr lang="en-US" sz="2400" b="1" dirty="0">
                <a:solidFill>
                  <a:schemeClr val="accent5">
                    <a:lumMod val="50000"/>
                  </a:schemeClr>
                </a:solidFill>
              </a:rPr>
              <a:t>POMI</a:t>
            </a:r>
            <a:r>
              <a:rPr lang="en-US" sz="2400" dirty="0"/>
              <a:t>: Polling-Based Memory Interface for Hybrid Memory System</a:t>
            </a:r>
          </a:p>
          <a:p>
            <a:pPr marL="285750" indent="-285750" algn="l">
              <a:buFont typeface="Arial" panose="020B0604020202020204" pitchFamily="34" charset="0"/>
              <a:buChar char="•"/>
            </a:pPr>
            <a:r>
              <a:rPr lang="en-US" sz="2400" b="1" dirty="0">
                <a:solidFill>
                  <a:schemeClr val="accent5">
                    <a:lumMod val="50000"/>
                  </a:schemeClr>
                </a:solidFill>
              </a:rPr>
              <a:t>DGS</a:t>
            </a:r>
            <a:r>
              <a:rPr lang="en-US" sz="2400" dirty="0"/>
              <a:t>: Dynamic Grouping Scheduler For Polling-Based Memory Interface</a:t>
            </a:r>
          </a:p>
          <a:p>
            <a:pPr marL="285750" indent="-285750" algn="l">
              <a:buFont typeface="Arial" panose="020B0604020202020204" pitchFamily="34" charset="0"/>
              <a:buChar char="•"/>
            </a:pPr>
            <a:r>
              <a:rPr lang="en-US" sz="2400" b="1" dirty="0">
                <a:solidFill>
                  <a:schemeClr val="accent5">
                    <a:lumMod val="50000"/>
                  </a:schemeClr>
                </a:solidFill>
              </a:rPr>
              <a:t>MSF</a:t>
            </a:r>
            <a:r>
              <a:rPr lang="en-US" sz="2400" dirty="0"/>
              <a:t>: Memory-Side Perceptron-Based Prefetch Filtering</a:t>
            </a:r>
          </a:p>
          <a:p>
            <a:pPr marL="285750" indent="-285750" algn="l">
              <a:buFont typeface="Arial" panose="020B0604020202020204" pitchFamily="34" charset="0"/>
              <a:buChar char="•"/>
            </a:pPr>
            <a:r>
              <a:rPr lang="en-US" sz="2400" b="1" dirty="0">
                <a:solidFill>
                  <a:schemeClr val="accent5">
                    <a:lumMod val="50000"/>
                  </a:schemeClr>
                </a:solidFill>
              </a:rPr>
              <a:t>Summary</a:t>
            </a:r>
          </a:p>
        </p:txBody>
      </p:sp>
    </p:spTree>
    <p:extLst>
      <p:ext uri="{BB962C8B-B14F-4D97-AF65-F5344CB8AC3E}">
        <p14:creationId xmlns:p14="http://schemas.microsoft.com/office/powerpoint/2010/main" val="1690549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F1AFA342-A183-1E27-0446-111B4CDE947D}"/>
              </a:ext>
            </a:extLst>
          </p:cNvPr>
          <p:cNvSpPr txBox="1">
            <a:spLocks/>
          </p:cNvSpPr>
          <p:nvPr/>
        </p:nvSpPr>
        <p:spPr>
          <a:xfrm>
            <a:off x="1524000" y="618098"/>
            <a:ext cx="9144000" cy="8972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latin typeface="Calibri"/>
                <a:ea typeface="+mj-lt"/>
                <a:cs typeface="+mj-lt"/>
              </a:rPr>
              <a:t>Introduction</a:t>
            </a:r>
            <a:endParaRPr lang="en-US" sz="6600" dirty="0"/>
          </a:p>
        </p:txBody>
      </p:sp>
      <p:sp>
        <p:nvSpPr>
          <p:cNvPr id="3" name="TextBox 2">
            <a:extLst>
              <a:ext uri="{FF2B5EF4-FFF2-40B4-BE49-F238E27FC236}">
                <a16:creationId xmlns:a16="http://schemas.microsoft.com/office/drawing/2014/main" id="{9B350410-6369-3909-29F0-1B4080A89AC6}"/>
              </a:ext>
            </a:extLst>
          </p:cNvPr>
          <p:cNvSpPr txBox="1"/>
          <p:nvPr/>
        </p:nvSpPr>
        <p:spPr>
          <a:xfrm>
            <a:off x="987552" y="1773936"/>
            <a:ext cx="10021824"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panose="020B0604020202020204" pitchFamily="34" charset="0"/>
              <a:buChar char="•"/>
            </a:pPr>
            <a:r>
              <a:rPr lang="en-US" sz="2000" b="1" dirty="0">
                <a:solidFill>
                  <a:schemeClr val="accent5">
                    <a:lumMod val="50000"/>
                  </a:schemeClr>
                </a:solidFill>
              </a:rPr>
              <a:t>“Memory-wall” gap is increasing between CPU and memory</a:t>
            </a:r>
          </a:p>
          <a:p>
            <a:pPr lvl="1"/>
            <a:r>
              <a:rPr lang="en-US" sz="2000" dirty="0">
                <a:solidFill>
                  <a:schemeClr val="accent5">
                    <a:lumMod val="50000"/>
                  </a:schemeClr>
                </a:solidFill>
              </a:rPr>
              <a:t>-     </a:t>
            </a:r>
            <a:r>
              <a:rPr lang="en-US" sz="2000" dirty="0"/>
              <a:t>Processors are designed for high speed and throughput</a:t>
            </a:r>
          </a:p>
          <a:p>
            <a:pPr marL="800100" lvl="1" indent="-342900">
              <a:buFontTx/>
              <a:buChar char="-"/>
            </a:pPr>
            <a:r>
              <a:rPr lang="en-US" sz="2000" dirty="0"/>
              <a:t>Main memory focuses on capacity and bandwidth</a:t>
            </a:r>
          </a:p>
          <a:p>
            <a:pPr marL="800100" lvl="1" indent="-342900">
              <a:buFontTx/>
              <a:buChar char="-"/>
            </a:pPr>
            <a:endParaRPr lang="en-US" sz="2000" dirty="0"/>
          </a:p>
          <a:p>
            <a:pPr marL="342900" indent="-342900">
              <a:buFont typeface="Arial" panose="020B0604020202020204" pitchFamily="34" charset="0"/>
              <a:buChar char="•"/>
            </a:pPr>
            <a:r>
              <a:rPr lang="en-US" sz="2000" b="1" dirty="0">
                <a:solidFill>
                  <a:schemeClr val="accent5">
                    <a:lumMod val="50000"/>
                  </a:schemeClr>
                </a:solidFill>
              </a:rPr>
              <a:t>Volatile Memories can no longer keep up</a:t>
            </a:r>
          </a:p>
          <a:p>
            <a:r>
              <a:rPr lang="en-US" sz="2000" b="1" dirty="0">
                <a:solidFill>
                  <a:schemeClr val="accent5">
                    <a:lumMod val="50000"/>
                  </a:schemeClr>
                </a:solidFill>
              </a:rPr>
              <a:t>         </a:t>
            </a:r>
            <a:r>
              <a:rPr lang="en-US" sz="2000" dirty="0"/>
              <a:t>-     Modern day applications require large capacity and high bandwidth</a:t>
            </a:r>
          </a:p>
          <a:p>
            <a:r>
              <a:rPr lang="en-US" sz="2000" b="1" dirty="0">
                <a:solidFill>
                  <a:schemeClr val="accent5">
                    <a:lumMod val="50000"/>
                  </a:schemeClr>
                </a:solidFill>
              </a:rPr>
              <a:t>        </a:t>
            </a:r>
            <a:r>
              <a:rPr lang="en-US" sz="2000" dirty="0">
                <a:solidFill>
                  <a:schemeClr val="accent5">
                    <a:lumMod val="50000"/>
                  </a:schemeClr>
                </a:solidFill>
              </a:rPr>
              <a:t> -     </a:t>
            </a:r>
            <a:r>
              <a:rPr lang="en-US" sz="2000" dirty="0"/>
              <a:t>Volatile memories consume 30% of total system’s energy</a:t>
            </a:r>
            <a:endParaRPr lang="en-US" sz="2000" b="1" dirty="0">
              <a:solidFill>
                <a:schemeClr val="accent5">
                  <a:lumMod val="50000"/>
                </a:schemeClr>
              </a:solidFill>
            </a:endParaRPr>
          </a:p>
          <a:p>
            <a:pPr marL="342900" indent="-342900">
              <a:buFont typeface="Arial" panose="020B0604020202020204" pitchFamily="34" charset="0"/>
              <a:buChar char="•"/>
            </a:pPr>
            <a:endParaRPr lang="en-US" sz="2000" b="1" dirty="0">
              <a:solidFill>
                <a:schemeClr val="accent5">
                  <a:lumMod val="50000"/>
                </a:schemeClr>
              </a:solidFill>
            </a:endParaRPr>
          </a:p>
          <a:p>
            <a:pPr marL="342900" indent="-342900">
              <a:buFont typeface="Arial" panose="020B0604020202020204" pitchFamily="34" charset="0"/>
              <a:buChar char="•"/>
            </a:pPr>
            <a:r>
              <a:rPr lang="en-US" sz="2000" b="1" dirty="0">
                <a:solidFill>
                  <a:schemeClr val="accent5">
                    <a:lumMod val="50000"/>
                  </a:schemeClr>
                </a:solidFill>
              </a:rPr>
              <a:t>Prefetching is used to close the memory-wall gap</a:t>
            </a:r>
          </a:p>
          <a:p>
            <a:r>
              <a:rPr lang="en-US" sz="2000" dirty="0">
                <a:solidFill>
                  <a:schemeClr val="accent5">
                    <a:lumMod val="50000"/>
                  </a:schemeClr>
                </a:solidFill>
              </a:rPr>
              <a:t>         -     </a:t>
            </a:r>
            <a:r>
              <a:rPr lang="en-US" sz="2000" dirty="0"/>
              <a:t>Brings data into cache before it is consumed</a:t>
            </a:r>
          </a:p>
          <a:p>
            <a:r>
              <a:rPr lang="en-US" sz="2000" dirty="0"/>
              <a:t>         -     Might lead to cache pollution and wasted resources</a:t>
            </a:r>
          </a:p>
        </p:txBody>
      </p:sp>
    </p:spTree>
    <p:extLst>
      <p:ext uri="{BB962C8B-B14F-4D97-AF65-F5344CB8AC3E}">
        <p14:creationId xmlns:p14="http://schemas.microsoft.com/office/powerpoint/2010/main" val="254236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F1AFA342-A183-1E27-0446-111B4CDE947D}"/>
              </a:ext>
            </a:extLst>
          </p:cNvPr>
          <p:cNvSpPr txBox="1">
            <a:spLocks/>
          </p:cNvSpPr>
          <p:nvPr/>
        </p:nvSpPr>
        <p:spPr>
          <a:xfrm>
            <a:off x="1524000" y="618098"/>
            <a:ext cx="9144000" cy="8972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latin typeface="Calibri"/>
                <a:ea typeface="+mj-lt"/>
                <a:cs typeface="+mj-lt"/>
              </a:rPr>
              <a:t>Our Work</a:t>
            </a:r>
            <a:endParaRPr lang="en-US" sz="6600" dirty="0"/>
          </a:p>
        </p:txBody>
      </p:sp>
      <p:sp>
        <p:nvSpPr>
          <p:cNvPr id="3" name="TextBox 2">
            <a:extLst>
              <a:ext uri="{FF2B5EF4-FFF2-40B4-BE49-F238E27FC236}">
                <a16:creationId xmlns:a16="http://schemas.microsoft.com/office/drawing/2014/main" id="{9B350410-6369-3909-29F0-1B4080A89AC6}"/>
              </a:ext>
            </a:extLst>
          </p:cNvPr>
          <p:cNvSpPr txBox="1"/>
          <p:nvPr/>
        </p:nvSpPr>
        <p:spPr>
          <a:xfrm>
            <a:off x="987551" y="1773936"/>
            <a:ext cx="1059055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panose="020B0604020202020204" pitchFamily="34" charset="0"/>
              <a:buChar char="•"/>
            </a:pPr>
            <a:r>
              <a:rPr lang="en-US" sz="2000" b="1" dirty="0">
                <a:solidFill>
                  <a:schemeClr val="accent5">
                    <a:lumMod val="50000"/>
                  </a:schemeClr>
                </a:solidFill>
              </a:rPr>
              <a:t>POMI: Polling-Based Memory Interface for Hybrid Memory System [ICCD2021]</a:t>
            </a:r>
          </a:p>
          <a:p>
            <a:pPr marL="800100" lvl="1" indent="-342900">
              <a:buFontTx/>
              <a:buChar char="-"/>
            </a:pPr>
            <a:r>
              <a:rPr lang="en-US" sz="2000" dirty="0"/>
              <a:t>Hybrid memory architecture framework </a:t>
            </a:r>
          </a:p>
          <a:p>
            <a:pPr marL="800100" lvl="1" indent="-342900">
              <a:buFontTx/>
              <a:buChar char="-"/>
            </a:pPr>
            <a:r>
              <a:rPr lang="en-US" sz="2000" dirty="0"/>
              <a:t>Supports both DRAM and NVM under one memory subsystem</a:t>
            </a:r>
          </a:p>
          <a:p>
            <a:pPr marL="800100" lvl="1" indent="-342900">
              <a:buFontTx/>
              <a:buChar char="-"/>
            </a:pPr>
            <a:r>
              <a:rPr lang="en-US" sz="2000" dirty="0"/>
              <a:t>Uses polling-based bus protocol for communications</a:t>
            </a:r>
          </a:p>
          <a:p>
            <a:pPr marL="800100" lvl="1" indent="-342900">
              <a:buFontTx/>
              <a:buChar char="-"/>
            </a:pPr>
            <a:endParaRPr lang="en-US" sz="2000" dirty="0"/>
          </a:p>
          <a:p>
            <a:pPr marL="342900" indent="-342900">
              <a:buFont typeface="Arial" panose="020B0604020202020204" pitchFamily="34" charset="0"/>
              <a:buChar char="•"/>
            </a:pPr>
            <a:r>
              <a:rPr lang="en-US" sz="2000" b="1" dirty="0">
                <a:solidFill>
                  <a:schemeClr val="accent5">
                    <a:lumMod val="50000"/>
                  </a:schemeClr>
                </a:solidFill>
              </a:rPr>
              <a:t>DGS: Dynamic Grouping Scheduler for Polling-Based Memory Interface [TODAES2022]</a:t>
            </a:r>
            <a:endParaRPr lang="en-US" sz="2000" dirty="0"/>
          </a:p>
          <a:p>
            <a:pPr marL="800100" lvl="1" indent="-342900">
              <a:buFontTx/>
              <a:buChar char="-"/>
            </a:pPr>
            <a:r>
              <a:rPr lang="en-US" sz="2000" dirty="0"/>
              <a:t>Optimized polling-based memory interface design</a:t>
            </a:r>
          </a:p>
          <a:p>
            <a:pPr marL="800100" lvl="1" indent="-342900">
              <a:buFontTx/>
              <a:buChar char="-"/>
            </a:pPr>
            <a:r>
              <a:rPr lang="en-US" sz="2000" dirty="0"/>
              <a:t>Utilizes Command/Address bus for communications via 2 new scheduling policies</a:t>
            </a:r>
            <a:endParaRPr lang="en-US" sz="2000" b="1" dirty="0">
              <a:solidFill>
                <a:schemeClr val="accent5">
                  <a:lumMod val="50000"/>
                </a:schemeClr>
              </a:solidFill>
            </a:endParaRPr>
          </a:p>
          <a:p>
            <a:pPr marL="342900" indent="-342900">
              <a:buFont typeface="Arial" panose="020B0604020202020204" pitchFamily="34" charset="0"/>
              <a:buChar char="•"/>
            </a:pPr>
            <a:endParaRPr lang="en-US" sz="2000" b="1" dirty="0">
              <a:solidFill>
                <a:schemeClr val="accent5">
                  <a:lumMod val="50000"/>
                </a:schemeClr>
              </a:solidFill>
            </a:endParaRPr>
          </a:p>
          <a:p>
            <a:pPr marL="342900" indent="-342900">
              <a:buFont typeface="Arial" panose="020B0604020202020204" pitchFamily="34" charset="0"/>
              <a:buChar char="•"/>
            </a:pPr>
            <a:r>
              <a:rPr lang="en-US" sz="2000" b="1" dirty="0">
                <a:solidFill>
                  <a:schemeClr val="accent5">
                    <a:lumMod val="50000"/>
                  </a:schemeClr>
                </a:solidFill>
              </a:rPr>
              <a:t>MSF: Memory-Side Perceptron-Based Prefetch Filtering [Submitted HPCA2024]</a:t>
            </a:r>
          </a:p>
          <a:p>
            <a:r>
              <a:rPr lang="en-US" sz="2000" dirty="0">
                <a:solidFill>
                  <a:schemeClr val="accent5">
                    <a:lumMod val="50000"/>
                  </a:schemeClr>
                </a:solidFill>
              </a:rPr>
              <a:t>         -     </a:t>
            </a:r>
            <a:r>
              <a:rPr lang="en-US" sz="2000" dirty="0"/>
              <a:t>Discards useless prefetch requests via hashed perceptron learning</a:t>
            </a:r>
          </a:p>
          <a:p>
            <a:r>
              <a:rPr lang="en-US" sz="2000" dirty="0"/>
              <a:t>         -     Works for any underlying prefetcher, low storage overhead</a:t>
            </a:r>
          </a:p>
          <a:p>
            <a:endParaRPr lang="en-US" sz="2000" dirty="0"/>
          </a:p>
          <a:p>
            <a:r>
              <a:rPr lang="en-US" sz="2000" dirty="0"/>
              <a:t>	</a:t>
            </a:r>
          </a:p>
        </p:txBody>
      </p:sp>
    </p:spTree>
    <p:extLst>
      <p:ext uri="{BB962C8B-B14F-4D97-AF65-F5344CB8AC3E}">
        <p14:creationId xmlns:p14="http://schemas.microsoft.com/office/powerpoint/2010/main" val="3018659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F1AFA342-A183-1E27-0446-111B4CDE947D}"/>
              </a:ext>
            </a:extLst>
          </p:cNvPr>
          <p:cNvSpPr txBox="1">
            <a:spLocks/>
          </p:cNvSpPr>
          <p:nvPr/>
        </p:nvSpPr>
        <p:spPr>
          <a:xfrm>
            <a:off x="1524000" y="618098"/>
            <a:ext cx="9144000" cy="8972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latin typeface="Calibri"/>
                <a:ea typeface="+mj-lt"/>
                <a:cs typeface="+mj-lt"/>
              </a:rPr>
              <a:t>Non-Volatile Memory Technologies</a:t>
            </a:r>
            <a:endParaRPr lang="en-US" sz="6600" dirty="0"/>
          </a:p>
        </p:txBody>
      </p:sp>
      <p:sp>
        <p:nvSpPr>
          <p:cNvPr id="2" name="TextBox 1">
            <a:extLst>
              <a:ext uri="{FF2B5EF4-FFF2-40B4-BE49-F238E27FC236}">
                <a16:creationId xmlns:a16="http://schemas.microsoft.com/office/drawing/2014/main" id="{7BF989B9-B88B-B56F-CAD1-8FCBF70C9093}"/>
              </a:ext>
            </a:extLst>
          </p:cNvPr>
          <p:cNvSpPr txBox="1"/>
          <p:nvPr/>
        </p:nvSpPr>
        <p:spPr>
          <a:xfrm>
            <a:off x="987552" y="1773936"/>
            <a:ext cx="10021824"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panose="020B0604020202020204" pitchFamily="34" charset="0"/>
              <a:buChar char="•"/>
            </a:pPr>
            <a:r>
              <a:rPr lang="en-US" sz="2000" b="1" dirty="0">
                <a:solidFill>
                  <a:schemeClr val="accent5">
                    <a:lumMod val="50000"/>
                  </a:schemeClr>
                </a:solidFill>
              </a:rPr>
              <a:t>Actively researched as DRAM alternative</a:t>
            </a:r>
          </a:p>
          <a:p>
            <a:pPr marL="742950" lvl="1" indent="-285750">
              <a:buFont typeface="Arial" panose="020B0604020202020204" pitchFamily="34" charset="0"/>
              <a:buChar char="•"/>
            </a:pPr>
            <a:r>
              <a:rPr lang="en-US" sz="2000" dirty="0"/>
              <a:t>Higher densities, zero refresh power, and lower cost-per-bit</a:t>
            </a:r>
          </a:p>
          <a:p>
            <a:pPr marL="742950" lvl="1" indent="-285750">
              <a:buFont typeface="Arial" panose="020B0604020202020204" pitchFamily="34" charset="0"/>
              <a:buChar char="•"/>
            </a:pPr>
            <a:r>
              <a:rPr lang="en-US" sz="2000" dirty="0"/>
              <a:t>Volatile memory (DRAM) must periodically refresh to retain data</a:t>
            </a:r>
          </a:p>
          <a:p>
            <a:pPr marL="742950" lvl="1" indent="-285750">
              <a:buFont typeface="Arial" panose="020B0604020202020204" pitchFamily="34" charset="0"/>
              <a:buChar char="•"/>
            </a:pPr>
            <a:r>
              <a:rPr lang="en-US" sz="2000" dirty="0"/>
              <a:t>Non-Volatile memory does not need to refresh</a:t>
            </a:r>
          </a:p>
          <a:p>
            <a:pPr marL="742950" lvl="1" indent="-285750">
              <a:buFont typeface="Arial" panose="020B0604020202020204" pitchFamily="34" charset="0"/>
              <a:buChar char="•"/>
            </a:pPr>
            <a:r>
              <a:rPr lang="en-US" sz="2000" dirty="0"/>
              <a:t>Example:  Phase-Change Memory (PCM), Spin-Transfer-Torque RAM (STT-RAM), Magnetic RAM (MRAM)</a:t>
            </a:r>
          </a:p>
          <a:p>
            <a:pPr marL="285750" indent="-285750">
              <a:buFont typeface="Arial" panose="020B0604020202020204" pitchFamily="34" charset="0"/>
              <a:buChar char="•"/>
            </a:pPr>
            <a:endParaRPr lang="en-US" sz="2000" dirty="0">
              <a:solidFill>
                <a:schemeClr val="accent5">
                  <a:lumMod val="50000"/>
                </a:schemeClr>
              </a:solidFill>
            </a:endParaRPr>
          </a:p>
          <a:p>
            <a:pPr marL="285750" indent="-285750">
              <a:buFont typeface="Arial" panose="020B0604020202020204" pitchFamily="34" charset="0"/>
              <a:buChar char="•"/>
            </a:pPr>
            <a:r>
              <a:rPr lang="en-US" sz="2000" dirty="0">
                <a:solidFill>
                  <a:schemeClr val="accent5">
                    <a:lumMod val="50000"/>
                  </a:schemeClr>
                </a:solidFill>
              </a:rPr>
              <a:t> </a:t>
            </a:r>
            <a:r>
              <a:rPr lang="en-US" sz="2000" b="1" dirty="0">
                <a:solidFill>
                  <a:schemeClr val="accent5">
                    <a:lumMod val="50000"/>
                  </a:schemeClr>
                </a:solidFill>
              </a:rPr>
              <a:t>Good idea to use both DRAM and NVM in a system</a:t>
            </a:r>
          </a:p>
          <a:p>
            <a:pPr marL="742950" lvl="1" indent="-285750">
              <a:buFont typeface="Arial" panose="020B0604020202020204" pitchFamily="34" charset="0"/>
              <a:buChar char="•"/>
            </a:pPr>
            <a:r>
              <a:rPr lang="en-US" sz="2000" dirty="0"/>
              <a:t>NVM offers better cost-per-bit, densities and zero-refresh power</a:t>
            </a:r>
          </a:p>
          <a:p>
            <a:pPr marL="742950" lvl="1" indent="-285750">
              <a:buFont typeface="Arial" panose="020B0604020202020204" pitchFamily="34" charset="0"/>
              <a:buChar char="•"/>
            </a:pPr>
            <a:r>
              <a:rPr lang="en-US" sz="2000" dirty="0"/>
              <a:t>DRAM is faster and has higher bandwidth</a:t>
            </a:r>
          </a:p>
          <a:p>
            <a:pPr marL="742950" lvl="1" indent="-285750">
              <a:buFont typeface="Arial" panose="020B0604020202020204" pitchFamily="34" charset="0"/>
              <a:buChar char="•"/>
            </a:pPr>
            <a:r>
              <a:rPr lang="en-US" sz="2000" i="1" dirty="0"/>
              <a:t>Hybrid Memory System:  </a:t>
            </a:r>
            <a:r>
              <a:rPr lang="en-US" sz="2000" dirty="0"/>
              <a:t>contains both high-performance, low-latency DRAM and slower but energy-efficient NVM</a:t>
            </a:r>
            <a:r>
              <a:rPr lang="en-US" sz="2000" dirty="0">
                <a:solidFill>
                  <a:schemeClr val="accent5">
                    <a:lumMod val="50000"/>
                  </a:schemeClr>
                </a:solidFill>
              </a:rPr>
              <a:t>.  </a:t>
            </a:r>
            <a:endParaRPr lang="en-US" sz="2000" i="1" dirty="0">
              <a:solidFill>
                <a:schemeClr val="accent5">
                  <a:lumMod val="50000"/>
                </a:schemeClr>
              </a:solidFill>
            </a:endParaRPr>
          </a:p>
          <a:p>
            <a:pPr marL="742950" lvl="1"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1785649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6401633-E41B-57B7-6A17-16CACBA61968}"/>
              </a:ext>
            </a:extLst>
          </p:cNvPr>
          <p:cNvSpPr txBox="1">
            <a:spLocks/>
          </p:cNvSpPr>
          <p:nvPr/>
        </p:nvSpPr>
        <p:spPr>
          <a:xfrm>
            <a:off x="1524000" y="405245"/>
            <a:ext cx="9144000" cy="12343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solidFill>
                  <a:schemeClr val="accent5">
                    <a:lumMod val="50000"/>
                  </a:schemeClr>
                </a:solidFill>
                <a:latin typeface="Calibri"/>
                <a:ea typeface="+mj-lt"/>
                <a:cs typeface="+mj-lt"/>
              </a:rPr>
              <a:t>POMI: Polling-Based Memory Interface for Hybrid Memory System</a:t>
            </a:r>
            <a:endParaRPr lang="en-US" sz="8800" dirty="0">
              <a:solidFill>
                <a:schemeClr val="accent5">
                  <a:lumMod val="50000"/>
                </a:schemeClr>
              </a:solidFill>
            </a:endParaRPr>
          </a:p>
        </p:txBody>
      </p:sp>
      <p:sp>
        <p:nvSpPr>
          <p:cNvPr id="6" name="TextBox 5">
            <a:extLst>
              <a:ext uri="{FF2B5EF4-FFF2-40B4-BE49-F238E27FC236}">
                <a16:creationId xmlns:a16="http://schemas.microsoft.com/office/drawing/2014/main" id="{74EFB5B5-DEFE-73F6-2603-1E7634FFCC4B}"/>
              </a:ext>
            </a:extLst>
          </p:cNvPr>
          <p:cNvSpPr txBox="1"/>
          <p:nvPr/>
        </p:nvSpPr>
        <p:spPr>
          <a:xfrm>
            <a:off x="8726424" y="1561961"/>
            <a:ext cx="3465576" cy="461665"/>
          </a:xfrm>
          <a:prstGeom prst="rect">
            <a:avLst/>
          </a:prstGeom>
          <a:noFill/>
        </p:spPr>
        <p:txBody>
          <a:bodyPr wrap="square" rtlCol="0">
            <a:spAutoFit/>
          </a:bodyPr>
          <a:lstStyle/>
          <a:p>
            <a:r>
              <a:rPr lang="en-US" sz="2400" b="1" dirty="0"/>
              <a:t>ICCD 2021</a:t>
            </a:r>
          </a:p>
        </p:txBody>
      </p:sp>
      <p:sp>
        <p:nvSpPr>
          <p:cNvPr id="2" name="TextBox 1">
            <a:extLst>
              <a:ext uri="{FF2B5EF4-FFF2-40B4-BE49-F238E27FC236}">
                <a16:creationId xmlns:a16="http://schemas.microsoft.com/office/drawing/2014/main" id="{D8BAA8B1-21FC-9C69-C08F-D35354D43D34}"/>
              </a:ext>
            </a:extLst>
          </p:cNvPr>
          <p:cNvSpPr txBox="1"/>
          <p:nvPr/>
        </p:nvSpPr>
        <p:spPr>
          <a:xfrm>
            <a:off x="977161" y="2023626"/>
            <a:ext cx="10021824"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chemeClr val="accent5">
                    <a:lumMod val="50000"/>
                  </a:schemeClr>
                </a:solidFill>
              </a:rPr>
              <a:t>POMI:</a:t>
            </a:r>
          </a:p>
          <a:p>
            <a:pPr marL="800100" lvl="1" indent="-342900">
              <a:buFont typeface="Wingdings" pitchFamily="2" charset="2"/>
              <a:buChar char="§"/>
            </a:pPr>
            <a:r>
              <a:rPr lang="en-US" sz="2000" dirty="0"/>
              <a:t>Hybrid memory architecture framework to support both DRAM and NVM</a:t>
            </a:r>
          </a:p>
          <a:p>
            <a:pPr marL="800100" lvl="1" indent="-342900">
              <a:buFont typeface="Wingdings" pitchFamily="2" charset="2"/>
              <a:buChar char="§"/>
            </a:pPr>
            <a:r>
              <a:rPr lang="en-US" sz="2000" dirty="0"/>
              <a:t>A buffer chip is inserted on each memory module to perform local operations </a:t>
            </a:r>
          </a:p>
          <a:p>
            <a:pPr marL="800100" lvl="1" indent="-342900">
              <a:buFont typeface="Wingdings" pitchFamily="2" charset="2"/>
              <a:buChar char="§"/>
            </a:pPr>
            <a:r>
              <a:rPr lang="en-US" sz="2000" dirty="0"/>
              <a:t>Uses new polling-based protocol for communications</a:t>
            </a:r>
          </a:p>
          <a:p>
            <a:pPr marL="800100" lvl="1" indent="-342900">
              <a:buFont typeface="Wingdings" pitchFamily="2" charset="2"/>
              <a:buChar char="§"/>
            </a:pPr>
            <a:r>
              <a:rPr lang="en-US" sz="2000" dirty="0"/>
              <a:t> Sends ‘Detail’ and ‘Transfer’ packets to communicate data ready time, and to grant bus ownership</a:t>
            </a:r>
          </a:p>
          <a:p>
            <a:pPr lvl="1"/>
            <a:endParaRPr lang="en-US" sz="2000" dirty="0">
              <a:solidFill>
                <a:schemeClr val="accent5">
                  <a:lumMod val="50000"/>
                </a:schemeClr>
              </a:solidFill>
            </a:endParaRPr>
          </a:p>
          <a:p>
            <a:r>
              <a:rPr lang="en-US" sz="2000" b="1" dirty="0">
                <a:solidFill>
                  <a:schemeClr val="accent5">
                    <a:lumMod val="50000"/>
                  </a:schemeClr>
                </a:solidFill>
              </a:rPr>
              <a:t>POMI enables hybrid memory system, allowing both DRAM and NVM </a:t>
            </a:r>
          </a:p>
        </p:txBody>
      </p:sp>
    </p:spTree>
    <p:extLst>
      <p:ext uri="{BB962C8B-B14F-4D97-AF65-F5344CB8AC3E}">
        <p14:creationId xmlns:p14="http://schemas.microsoft.com/office/powerpoint/2010/main" val="352006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2" name="TextBox 1">
            <a:extLst>
              <a:ext uri="{FF2B5EF4-FFF2-40B4-BE49-F238E27FC236}">
                <a16:creationId xmlns:a16="http://schemas.microsoft.com/office/drawing/2014/main" id="{D89E4C4C-3B8B-C9D2-82D0-3D1E3366F2E5}"/>
              </a:ext>
            </a:extLst>
          </p:cNvPr>
          <p:cNvSpPr txBox="1"/>
          <p:nvPr/>
        </p:nvSpPr>
        <p:spPr>
          <a:xfrm>
            <a:off x="623870" y="1883441"/>
            <a:ext cx="10899648"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chemeClr val="accent5">
                    <a:lumMod val="50000"/>
                  </a:schemeClr>
                </a:solidFill>
              </a:rPr>
              <a:t>Simulation:</a:t>
            </a:r>
          </a:p>
          <a:p>
            <a:pPr marL="800100" lvl="1" indent="-342900">
              <a:buFont typeface="Wingdings" pitchFamily="2" charset="2"/>
              <a:buChar char="§"/>
            </a:pPr>
            <a:r>
              <a:rPr lang="en-US" sz="2000" dirty="0"/>
              <a:t>Gem5 simulation + </a:t>
            </a:r>
            <a:r>
              <a:rPr lang="en-US" sz="2000" dirty="0" err="1"/>
              <a:t>DRAMPower</a:t>
            </a:r>
            <a:r>
              <a:rPr lang="en-US" sz="2000" dirty="0"/>
              <a:t> energy analysis. </a:t>
            </a:r>
          </a:p>
          <a:p>
            <a:pPr marL="800100" lvl="1" indent="-342900">
              <a:buFont typeface="Wingdings" pitchFamily="2" charset="2"/>
              <a:buChar char="§"/>
            </a:pPr>
            <a:r>
              <a:rPr lang="en-US" sz="2000" dirty="0"/>
              <a:t>SPEC CPU2006 and CPU2017 benchmarks</a:t>
            </a:r>
          </a:p>
          <a:p>
            <a:pPr algn="l"/>
            <a:endParaRPr lang="en-US" sz="2000" dirty="0">
              <a:solidFill>
                <a:schemeClr val="accent5">
                  <a:lumMod val="50000"/>
                </a:schemeClr>
              </a:solidFill>
            </a:endParaRPr>
          </a:p>
          <a:p>
            <a:pPr algn="l"/>
            <a:r>
              <a:rPr lang="en-US" sz="2000" b="1" dirty="0">
                <a:solidFill>
                  <a:schemeClr val="accent5">
                    <a:lumMod val="50000"/>
                  </a:schemeClr>
                </a:solidFill>
              </a:rPr>
              <a:t>Homogeneous Performance</a:t>
            </a:r>
            <a:r>
              <a:rPr lang="en-US" sz="2000" dirty="0">
                <a:solidFill>
                  <a:schemeClr val="accent5">
                    <a:lumMod val="50000"/>
                  </a:schemeClr>
                </a:solidFill>
              </a:rPr>
              <a:t>:</a:t>
            </a:r>
          </a:p>
          <a:p>
            <a:pPr marL="800100" lvl="1" indent="-342900">
              <a:buFont typeface="Wingdings" pitchFamily="2" charset="2"/>
              <a:buChar char="§"/>
            </a:pPr>
            <a:r>
              <a:rPr lang="en-US" sz="2000" dirty="0"/>
              <a:t>POMI performs </a:t>
            </a:r>
            <a:r>
              <a:rPr lang="en-US" sz="2000" b="1" dirty="0"/>
              <a:t>9.7% </a:t>
            </a:r>
            <a:r>
              <a:rPr lang="en-US" sz="2000" dirty="0"/>
              <a:t>better than TL, </a:t>
            </a:r>
            <a:r>
              <a:rPr lang="en-US" sz="2000" b="1" dirty="0"/>
              <a:t>5.1% </a:t>
            </a:r>
            <a:r>
              <a:rPr lang="en-US" sz="2000" dirty="0"/>
              <a:t>over baseline in memory-intensive workloads</a:t>
            </a:r>
          </a:p>
          <a:p>
            <a:pPr marL="800100" lvl="1" indent="-342900">
              <a:buFont typeface="Wingdings" pitchFamily="2" charset="2"/>
              <a:buChar char="§"/>
            </a:pPr>
            <a:r>
              <a:rPr lang="en-US" sz="2000" dirty="0"/>
              <a:t>POMI outperforms TL by </a:t>
            </a:r>
            <a:r>
              <a:rPr lang="en-US" sz="2000" b="1" dirty="0"/>
              <a:t>4.2%</a:t>
            </a:r>
            <a:r>
              <a:rPr lang="en-US" sz="2000" dirty="0"/>
              <a:t>, and </a:t>
            </a:r>
            <a:r>
              <a:rPr lang="en-US" sz="2000" b="1" dirty="0"/>
              <a:t>1.3%</a:t>
            </a:r>
            <a:r>
              <a:rPr lang="en-US" sz="2000" dirty="0"/>
              <a:t> over baseline in mixed workloads</a:t>
            </a:r>
          </a:p>
          <a:p>
            <a:pPr marL="800100" lvl="1" indent="-342900">
              <a:buFont typeface="Wingdings" pitchFamily="2" charset="2"/>
              <a:buChar char="à"/>
            </a:pPr>
            <a:r>
              <a:rPr lang="en-US" sz="2000" dirty="0">
                <a:sym typeface="Wingdings" pitchFamily="2" charset="2"/>
              </a:rPr>
              <a:t>POMI performs well in homogeneous configurations</a:t>
            </a:r>
          </a:p>
          <a:p>
            <a:pPr lvl="1"/>
            <a:endParaRPr lang="en-US" sz="2000" dirty="0">
              <a:sym typeface="Wingdings" pitchFamily="2" charset="2"/>
            </a:endParaRPr>
          </a:p>
          <a:p>
            <a:r>
              <a:rPr lang="en-US" sz="2000" b="1" dirty="0">
                <a:solidFill>
                  <a:schemeClr val="accent5">
                    <a:lumMod val="50000"/>
                  </a:schemeClr>
                </a:solidFill>
              </a:rPr>
              <a:t>Hybrid Memory Performance</a:t>
            </a:r>
            <a:r>
              <a:rPr lang="en-US" sz="2000" dirty="0">
                <a:solidFill>
                  <a:schemeClr val="accent5">
                    <a:lumMod val="50000"/>
                  </a:schemeClr>
                </a:solidFill>
              </a:rPr>
              <a:t>:</a:t>
            </a:r>
          </a:p>
          <a:p>
            <a:pPr marL="800100" lvl="1" indent="-342900">
              <a:buFont typeface="Wingdings" pitchFamily="2" charset="2"/>
              <a:buChar char="§"/>
            </a:pPr>
            <a:r>
              <a:rPr lang="en-US" sz="2000" dirty="0"/>
              <a:t>Memory-intensive workloads, POMI outperforms by </a:t>
            </a:r>
            <a:r>
              <a:rPr lang="en-US" sz="2000" b="1" dirty="0"/>
              <a:t>22.0%</a:t>
            </a:r>
            <a:r>
              <a:rPr lang="en-US" sz="2000" dirty="0"/>
              <a:t> over TL, </a:t>
            </a:r>
            <a:r>
              <a:rPr lang="en-US" sz="2000" b="1" dirty="0"/>
              <a:t>14.5%</a:t>
            </a:r>
            <a:r>
              <a:rPr lang="en-US" sz="2000" dirty="0"/>
              <a:t> over TL-dynamic</a:t>
            </a:r>
          </a:p>
          <a:p>
            <a:pPr marL="800100" lvl="1" indent="-342900">
              <a:buFont typeface="Wingdings" pitchFamily="2" charset="2"/>
              <a:buChar char="§"/>
            </a:pPr>
            <a:r>
              <a:rPr lang="en-US" sz="2000" dirty="0"/>
              <a:t>Mixed workloads, POMI improves performance by </a:t>
            </a:r>
            <a:r>
              <a:rPr lang="en-US" sz="2000" b="1" dirty="0"/>
              <a:t>9.4% </a:t>
            </a:r>
            <a:r>
              <a:rPr lang="en-US" sz="2000" dirty="0"/>
              <a:t>over TL, and </a:t>
            </a:r>
            <a:r>
              <a:rPr lang="en-US" sz="2000" b="1" dirty="0"/>
              <a:t>7.0% </a:t>
            </a:r>
            <a:r>
              <a:rPr lang="en-US" sz="2000" dirty="0"/>
              <a:t>over TL-dynamic</a:t>
            </a:r>
          </a:p>
          <a:p>
            <a:pPr lvl="1"/>
            <a:r>
              <a:rPr lang="en-US" sz="2000" dirty="0">
                <a:sym typeface="Wingdings" pitchFamily="2" charset="2"/>
              </a:rPr>
              <a:t> POMI performs significantly better than TL in hybrid memory environments</a:t>
            </a:r>
            <a:endParaRPr lang="en-US" sz="2000" dirty="0"/>
          </a:p>
          <a:p>
            <a:endParaRPr lang="en-US" sz="2000" dirty="0">
              <a:sym typeface="Wingdings" pitchFamily="2" charset="2"/>
            </a:endParaRPr>
          </a:p>
        </p:txBody>
      </p:sp>
      <p:sp>
        <p:nvSpPr>
          <p:cNvPr id="3" name="Title 1">
            <a:extLst>
              <a:ext uri="{FF2B5EF4-FFF2-40B4-BE49-F238E27FC236}">
                <a16:creationId xmlns:a16="http://schemas.microsoft.com/office/drawing/2014/main" id="{08C4D215-AB1B-CE26-AAFA-47EFE2A76BF1}"/>
              </a:ext>
            </a:extLst>
          </p:cNvPr>
          <p:cNvSpPr txBox="1">
            <a:spLocks/>
          </p:cNvSpPr>
          <p:nvPr/>
        </p:nvSpPr>
        <p:spPr>
          <a:xfrm>
            <a:off x="1524000" y="405245"/>
            <a:ext cx="9144000" cy="12343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solidFill>
                  <a:schemeClr val="accent5">
                    <a:lumMod val="50000"/>
                  </a:schemeClr>
                </a:solidFill>
                <a:latin typeface="Calibri"/>
                <a:ea typeface="+mj-lt"/>
                <a:cs typeface="+mj-lt"/>
              </a:rPr>
              <a:t>POMI: Evaluation</a:t>
            </a:r>
            <a:endParaRPr lang="en-US" sz="8800" dirty="0">
              <a:solidFill>
                <a:schemeClr val="accent5">
                  <a:lumMod val="50000"/>
                </a:schemeClr>
              </a:solidFill>
            </a:endParaRPr>
          </a:p>
        </p:txBody>
      </p:sp>
    </p:spTree>
    <p:extLst>
      <p:ext uri="{BB962C8B-B14F-4D97-AF65-F5344CB8AC3E}">
        <p14:creationId xmlns:p14="http://schemas.microsoft.com/office/powerpoint/2010/main" val="3154344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6401633-E41B-57B7-6A17-16CACBA61968}"/>
              </a:ext>
            </a:extLst>
          </p:cNvPr>
          <p:cNvSpPr txBox="1">
            <a:spLocks/>
          </p:cNvSpPr>
          <p:nvPr/>
        </p:nvSpPr>
        <p:spPr>
          <a:xfrm>
            <a:off x="1524000" y="153985"/>
            <a:ext cx="9144000" cy="134158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solidFill>
                  <a:schemeClr val="accent5">
                    <a:lumMod val="50000"/>
                  </a:schemeClr>
                </a:solidFill>
                <a:latin typeface="Calibri"/>
                <a:ea typeface="+mj-lt"/>
                <a:cs typeface="+mj-lt"/>
              </a:rPr>
              <a:t>Dynamic Grouping Scheduler for Polling-Based Memory Interface</a:t>
            </a:r>
            <a:endParaRPr lang="en-US" sz="8800" dirty="0">
              <a:solidFill>
                <a:schemeClr val="accent5">
                  <a:lumMod val="50000"/>
                </a:schemeClr>
              </a:solidFill>
            </a:endParaRPr>
          </a:p>
        </p:txBody>
      </p:sp>
      <p:sp>
        <p:nvSpPr>
          <p:cNvPr id="6" name="TextBox 5">
            <a:extLst>
              <a:ext uri="{FF2B5EF4-FFF2-40B4-BE49-F238E27FC236}">
                <a16:creationId xmlns:a16="http://schemas.microsoft.com/office/drawing/2014/main" id="{74EFB5B5-DEFE-73F6-2603-1E7634FFCC4B}"/>
              </a:ext>
            </a:extLst>
          </p:cNvPr>
          <p:cNvSpPr txBox="1"/>
          <p:nvPr/>
        </p:nvSpPr>
        <p:spPr>
          <a:xfrm>
            <a:off x="7904018" y="1495567"/>
            <a:ext cx="3465576" cy="461665"/>
          </a:xfrm>
          <a:prstGeom prst="rect">
            <a:avLst/>
          </a:prstGeom>
          <a:noFill/>
        </p:spPr>
        <p:txBody>
          <a:bodyPr wrap="square" rtlCol="0">
            <a:spAutoFit/>
          </a:bodyPr>
          <a:lstStyle/>
          <a:p>
            <a:r>
              <a:rPr lang="en-US" sz="2400" b="1" dirty="0"/>
              <a:t>TODAES 2022</a:t>
            </a:r>
          </a:p>
        </p:txBody>
      </p:sp>
      <p:sp>
        <p:nvSpPr>
          <p:cNvPr id="2" name="TextBox 1">
            <a:extLst>
              <a:ext uri="{FF2B5EF4-FFF2-40B4-BE49-F238E27FC236}">
                <a16:creationId xmlns:a16="http://schemas.microsoft.com/office/drawing/2014/main" id="{D8A49C3C-532C-040A-B653-5B5CCE73F15E}"/>
              </a:ext>
            </a:extLst>
          </p:cNvPr>
          <p:cNvSpPr txBox="1"/>
          <p:nvPr/>
        </p:nvSpPr>
        <p:spPr>
          <a:xfrm>
            <a:off x="977160" y="2023626"/>
            <a:ext cx="1063987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chemeClr val="accent5">
                    <a:lumMod val="50000"/>
                  </a:schemeClr>
                </a:solidFill>
              </a:rPr>
              <a:t>POMI design adds additional bus lines</a:t>
            </a:r>
          </a:p>
          <a:p>
            <a:pPr marL="800100" lvl="1" indent="-342900">
              <a:buFont typeface="Wingdings" pitchFamily="2" charset="2"/>
              <a:buChar char="§"/>
            </a:pPr>
            <a:r>
              <a:rPr lang="en-US" sz="2000" dirty="0"/>
              <a:t>To transfer communication packets, POMI adds additional bus lines.</a:t>
            </a:r>
          </a:p>
          <a:p>
            <a:pPr marL="800100" lvl="1" indent="-342900">
              <a:buFont typeface="Wingdings" pitchFamily="2" charset="2"/>
              <a:buChar char="§"/>
            </a:pPr>
            <a:r>
              <a:rPr lang="en-US" sz="2000" dirty="0"/>
              <a:t>Produces best performance, but at the cost of extra bus lines</a:t>
            </a:r>
          </a:p>
          <a:p>
            <a:endParaRPr lang="en-US" sz="2000" dirty="0">
              <a:solidFill>
                <a:schemeClr val="accent5">
                  <a:lumMod val="50000"/>
                </a:schemeClr>
              </a:solidFill>
            </a:endParaRPr>
          </a:p>
          <a:p>
            <a:r>
              <a:rPr lang="en-US" sz="2000" b="1" dirty="0">
                <a:solidFill>
                  <a:schemeClr val="accent5">
                    <a:lumMod val="50000"/>
                  </a:schemeClr>
                </a:solidFill>
              </a:rPr>
              <a:t>Dynamic Grouping Scheduler (DGS)</a:t>
            </a:r>
          </a:p>
          <a:p>
            <a:pPr marL="800100" lvl="1" indent="-342900">
              <a:buFont typeface="Wingdings" pitchFamily="2" charset="2"/>
              <a:buChar char="§"/>
            </a:pPr>
            <a:r>
              <a:rPr lang="en-US" sz="2000" dirty="0"/>
              <a:t>To avoid the overhead, DGS utilizes Command/Address bus to transfer communication packets</a:t>
            </a:r>
          </a:p>
          <a:p>
            <a:pPr marL="800100" lvl="1" indent="-342900">
              <a:buFont typeface="Wingdings" pitchFamily="2" charset="2"/>
              <a:buChar char="§"/>
            </a:pPr>
            <a:r>
              <a:rPr lang="en-US" sz="2000" dirty="0"/>
              <a:t>Command/Address bus now supports bi-directional transfers</a:t>
            </a:r>
          </a:p>
          <a:p>
            <a:pPr marL="800100" lvl="1" indent="-342900">
              <a:buFont typeface="Wingdings" pitchFamily="2" charset="2"/>
              <a:buChar char="§"/>
            </a:pPr>
            <a:r>
              <a:rPr lang="en-US" sz="2000" dirty="0"/>
              <a:t>Two new scheduling policies</a:t>
            </a:r>
          </a:p>
          <a:p>
            <a:pPr marL="1257300" lvl="2" indent="-342900">
              <a:buFont typeface="Courier New" panose="02070309020205020404" pitchFamily="49" charset="0"/>
              <a:buChar char="o"/>
            </a:pPr>
            <a:r>
              <a:rPr lang="en-US" sz="2000" i="1" dirty="0"/>
              <a:t>Static Grouping</a:t>
            </a:r>
            <a:r>
              <a:rPr lang="en-US" sz="2000" dirty="0"/>
              <a:t>:  groups fixed K number of requests together to send over the bus</a:t>
            </a:r>
          </a:p>
          <a:p>
            <a:pPr marL="1257300" lvl="2" indent="-342900">
              <a:buFont typeface="Courier New" panose="02070309020205020404" pitchFamily="49" charset="0"/>
              <a:buChar char="o"/>
            </a:pPr>
            <a:r>
              <a:rPr lang="en-US" sz="2000" i="1" dirty="0"/>
              <a:t>Dynamic Grouping</a:t>
            </a:r>
            <a:r>
              <a:rPr lang="en-US" sz="2000" dirty="0"/>
              <a:t>: dynamically adjust K number for best performance</a:t>
            </a:r>
          </a:p>
          <a:p>
            <a:pPr marL="800100" lvl="1" indent="-342900">
              <a:buFont typeface="Wingdings" pitchFamily="2" charset="2"/>
              <a:buChar char="§"/>
            </a:pPr>
            <a:endParaRPr lang="en-US" sz="2000" dirty="0">
              <a:solidFill>
                <a:schemeClr val="accent5">
                  <a:lumMod val="50000"/>
                </a:schemeClr>
              </a:solidFill>
            </a:endParaRPr>
          </a:p>
          <a:p>
            <a:pPr marL="800100" lvl="1" indent="-342900">
              <a:buFont typeface="Wingdings" pitchFamily="2" charset="2"/>
              <a:buChar char="§"/>
            </a:pPr>
            <a:endParaRPr lang="en-US" sz="2000" dirty="0">
              <a:solidFill>
                <a:schemeClr val="accent5">
                  <a:lumMod val="50000"/>
                </a:schemeClr>
              </a:solidFill>
            </a:endParaRPr>
          </a:p>
          <a:p>
            <a:pPr lvl="1"/>
            <a:endParaRPr lang="en-US" sz="2000" dirty="0">
              <a:solidFill>
                <a:schemeClr val="accent5">
                  <a:lumMod val="50000"/>
                </a:schemeClr>
              </a:solidFill>
            </a:endParaRPr>
          </a:p>
        </p:txBody>
      </p:sp>
    </p:spTree>
    <p:extLst>
      <p:ext uri="{BB962C8B-B14F-4D97-AF65-F5344CB8AC3E}">
        <p14:creationId xmlns:p14="http://schemas.microsoft.com/office/powerpoint/2010/main" val="2017794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6401633-E41B-57B7-6A17-16CACBA61968}"/>
              </a:ext>
            </a:extLst>
          </p:cNvPr>
          <p:cNvSpPr txBox="1">
            <a:spLocks/>
          </p:cNvSpPr>
          <p:nvPr/>
        </p:nvSpPr>
        <p:spPr>
          <a:xfrm>
            <a:off x="977160" y="153985"/>
            <a:ext cx="9690840" cy="134158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solidFill>
                  <a:schemeClr val="accent5">
                    <a:lumMod val="50000"/>
                  </a:schemeClr>
                </a:solidFill>
                <a:latin typeface="Calibri"/>
                <a:ea typeface="+mj-lt"/>
                <a:cs typeface="+mj-lt"/>
              </a:rPr>
              <a:t>Dynamic Grouping Scheduler: Evaluation</a:t>
            </a:r>
            <a:endParaRPr lang="en-US" sz="8800" dirty="0">
              <a:solidFill>
                <a:schemeClr val="accent5">
                  <a:lumMod val="50000"/>
                </a:schemeClr>
              </a:solidFill>
            </a:endParaRPr>
          </a:p>
        </p:txBody>
      </p:sp>
      <p:sp>
        <p:nvSpPr>
          <p:cNvPr id="3" name="TextBox 2">
            <a:extLst>
              <a:ext uri="{FF2B5EF4-FFF2-40B4-BE49-F238E27FC236}">
                <a16:creationId xmlns:a16="http://schemas.microsoft.com/office/drawing/2014/main" id="{DD13096B-F077-EAC1-5804-722888E960E3}"/>
              </a:ext>
            </a:extLst>
          </p:cNvPr>
          <p:cNvSpPr txBox="1"/>
          <p:nvPr/>
        </p:nvSpPr>
        <p:spPr>
          <a:xfrm>
            <a:off x="646176" y="1613277"/>
            <a:ext cx="10899648"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chemeClr val="accent5">
                    <a:lumMod val="50000"/>
                  </a:schemeClr>
                </a:solidFill>
              </a:rPr>
              <a:t>Simulation:</a:t>
            </a:r>
          </a:p>
          <a:p>
            <a:pPr marL="800100" lvl="1" indent="-342900">
              <a:buFont typeface="Wingdings" pitchFamily="2" charset="2"/>
              <a:buChar char="§"/>
            </a:pPr>
            <a:r>
              <a:rPr lang="en-US" sz="2000" dirty="0"/>
              <a:t>Gem5 simulation + </a:t>
            </a:r>
            <a:r>
              <a:rPr lang="en-US" sz="2000" dirty="0" err="1"/>
              <a:t>DRAMPower</a:t>
            </a:r>
            <a:r>
              <a:rPr lang="en-US" sz="2000" dirty="0"/>
              <a:t> energy analysis. </a:t>
            </a:r>
          </a:p>
          <a:p>
            <a:pPr marL="800100" lvl="1" indent="-342900">
              <a:buFont typeface="Wingdings" pitchFamily="2" charset="2"/>
              <a:buChar char="§"/>
            </a:pPr>
            <a:r>
              <a:rPr lang="en-US" sz="2000" dirty="0"/>
              <a:t>SPEC CPU2006 and CPU2017 benchmarks</a:t>
            </a:r>
          </a:p>
          <a:p>
            <a:pPr algn="l"/>
            <a:endParaRPr lang="en-US" sz="2000" dirty="0">
              <a:solidFill>
                <a:schemeClr val="accent5">
                  <a:lumMod val="50000"/>
                </a:schemeClr>
              </a:solidFill>
            </a:endParaRPr>
          </a:p>
          <a:p>
            <a:pPr algn="l"/>
            <a:r>
              <a:rPr lang="en-US" sz="2000" b="1" dirty="0">
                <a:solidFill>
                  <a:schemeClr val="accent5">
                    <a:lumMod val="50000"/>
                  </a:schemeClr>
                </a:solidFill>
              </a:rPr>
              <a:t>Bi-Directional Command/Address performance:</a:t>
            </a:r>
            <a:endParaRPr lang="en-US" sz="2000" dirty="0">
              <a:solidFill>
                <a:schemeClr val="accent5">
                  <a:lumMod val="50000"/>
                </a:schemeClr>
              </a:solidFill>
            </a:endParaRPr>
          </a:p>
          <a:p>
            <a:pPr marL="800100" lvl="1" indent="-342900">
              <a:buFont typeface="Wingdings" pitchFamily="2" charset="2"/>
              <a:buChar char="§"/>
            </a:pPr>
            <a:r>
              <a:rPr lang="en-US" sz="2000" dirty="0"/>
              <a:t>Memory-intensive: POMI-bi performs </a:t>
            </a:r>
            <a:r>
              <a:rPr lang="en-US" sz="2000" b="1" dirty="0"/>
              <a:t>4.0% worse </a:t>
            </a:r>
            <a:r>
              <a:rPr lang="en-US" sz="2000" dirty="0"/>
              <a:t>than POMI</a:t>
            </a:r>
          </a:p>
          <a:p>
            <a:pPr marL="800100" lvl="1" indent="-342900">
              <a:buFont typeface="Wingdings" pitchFamily="2" charset="2"/>
              <a:buChar char="§"/>
            </a:pPr>
            <a:r>
              <a:rPr lang="en-US" sz="2000" dirty="0"/>
              <a:t>Mixed: POMI-bi performs </a:t>
            </a:r>
            <a:r>
              <a:rPr lang="en-US" sz="2000" b="1" dirty="0"/>
              <a:t>2.9% worse </a:t>
            </a:r>
            <a:r>
              <a:rPr lang="en-US" sz="2000" dirty="0"/>
              <a:t>than POMI</a:t>
            </a:r>
          </a:p>
          <a:p>
            <a:pPr marL="800100" lvl="1" indent="-342900">
              <a:buFont typeface="Wingdings" pitchFamily="2" charset="2"/>
              <a:buChar char="à"/>
            </a:pPr>
            <a:r>
              <a:rPr lang="en-US" sz="2000" dirty="0">
                <a:sym typeface="Wingdings" pitchFamily="2" charset="2"/>
              </a:rPr>
              <a:t>Performance is worse due to inefficiency of continuously turning the bus</a:t>
            </a:r>
          </a:p>
          <a:p>
            <a:pPr marL="800100" lvl="1" indent="-342900">
              <a:buFont typeface="Wingdings" pitchFamily="2" charset="2"/>
              <a:buChar char="à"/>
            </a:pPr>
            <a:r>
              <a:rPr lang="en-US" sz="2000" dirty="0">
                <a:sym typeface="Wingdings" pitchFamily="2" charset="2"/>
              </a:rPr>
              <a:t>No longer needs additional Detail/Transfer bus</a:t>
            </a:r>
          </a:p>
          <a:p>
            <a:pPr lvl="1"/>
            <a:endParaRPr lang="en-US" sz="2000" dirty="0">
              <a:sym typeface="Wingdings" pitchFamily="2" charset="2"/>
            </a:endParaRPr>
          </a:p>
          <a:p>
            <a:r>
              <a:rPr lang="en-US" sz="2000" b="1" dirty="0">
                <a:solidFill>
                  <a:schemeClr val="accent5">
                    <a:lumMod val="50000"/>
                  </a:schemeClr>
                </a:solidFill>
              </a:rPr>
              <a:t>Static-Grouping and Dynamic-Grouping Scheduler performance:</a:t>
            </a:r>
          </a:p>
          <a:p>
            <a:pPr marL="800100" lvl="1" indent="-342900">
              <a:buFont typeface="Wingdings" pitchFamily="2" charset="2"/>
              <a:buChar char="§"/>
            </a:pPr>
            <a:r>
              <a:rPr lang="en-US" sz="2000" dirty="0"/>
              <a:t>Memory-intensive: POMI-static performs </a:t>
            </a:r>
            <a:r>
              <a:rPr lang="en-US" sz="2000" b="1" dirty="0"/>
              <a:t>1.1% - 2.2% </a:t>
            </a:r>
            <a:r>
              <a:rPr lang="en-US" sz="2000" dirty="0"/>
              <a:t>worse than POMI.</a:t>
            </a:r>
          </a:p>
          <a:p>
            <a:pPr marL="800100" lvl="1" indent="-342900">
              <a:buFont typeface="Wingdings" pitchFamily="2" charset="2"/>
              <a:buChar char="§"/>
            </a:pPr>
            <a:r>
              <a:rPr lang="en-US" sz="2000" dirty="0"/>
              <a:t>Mixed: POMI-static performs </a:t>
            </a:r>
            <a:r>
              <a:rPr lang="en-US" sz="2000" b="1" dirty="0"/>
              <a:t>1.2% - 1.6% </a:t>
            </a:r>
            <a:r>
              <a:rPr lang="en-US" sz="2000" dirty="0"/>
              <a:t>worse than POMI</a:t>
            </a:r>
          </a:p>
          <a:p>
            <a:pPr lvl="1"/>
            <a:r>
              <a:rPr lang="en-US" sz="2000" dirty="0">
                <a:cs typeface="Arial"/>
                <a:sym typeface="Wingdings" pitchFamily="2" charset="2"/>
              </a:rPr>
              <a:t> </a:t>
            </a:r>
            <a:r>
              <a:rPr lang="en-US" sz="2000" dirty="0">
                <a:cs typeface="Arial"/>
              </a:rPr>
              <a:t>POMI-dynamic still outperforms </a:t>
            </a:r>
            <a:r>
              <a:rPr lang="en-US" sz="2000" i="1" dirty="0">
                <a:cs typeface="Arial"/>
              </a:rPr>
              <a:t>optimally-picked </a:t>
            </a:r>
            <a:r>
              <a:rPr lang="en-US" sz="2000" dirty="0">
                <a:cs typeface="Arial"/>
              </a:rPr>
              <a:t>K-value Static Grouping.</a:t>
            </a:r>
          </a:p>
          <a:p>
            <a:pPr marL="800100" lvl="1" indent="-342900">
              <a:buFont typeface="Wingdings" pitchFamily="2" charset="2"/>
              <a:buChar char="§"/>
            </a:pPr>
            <a:endParaRPr lang="en-US" sz="2000" dirty="0"/>
          </a:p>
          <a:p>
            <a:pPr marL="800100" lvl="1" indent="-342900">
              <a:buFont typeface="Wingdings" pitchFamily="2" charset="2"/>
              <a:buChar char="§"/>
            </a:pPr>
            <a:endParaRPr lang="en-US" sz="2000" dirty="0">
              <a:solidFill>
                <a:schemeClr val="accent5">
                  <a:lumMod val="50000"/>
                </a:schemeClr>
              </a:solidFill>
            </a:endParaRPr>
          </a:p>
          <a:p>
            <a:endParaRPr lang="en-US" sz="2000" dirty="0">
              <a:sym typeface="Wingdings" pitchFamily="2" charset="2"/>
            </a:endParaRPr>
          </a:p>
        </p:txBody>
      </p:sp>
    </p:spTree>
    <p:extLst>
      <p:ext uri="{BB962C8B-B14F-4D97-AF65-F5344CB8AC3E}">
        <p14:creationId xmlns:p14="http://schemas.microsoft.com/office/powerpoint/2010/main" val="2850920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885C9210-7342-334D-E519-EE4FFBFE1D80}"/>
              </a:ext>
            </a:extLst>
          </p:cNvPr>
          <p:cNvSpPr txBox="1">
            <a:spLocks/>
          </p:cNvSpPr>
          <p:nvPr/>
        </p:nvSpPr>
        <p:spPr>
          <a:xfrm>
            <a:off x="1524000" y="2373746"/>
            <a:ext cx="9144000" cy="8972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b="1" dirty="0">
                <a:solidFill>
                  <a:srgbClr val="7030A0"/>
                </a:solidFill>
                <a:latin typeface="Calibri"/>
                <a:ea typeface="+mj-lt"/>
                <a:cs typeface="+mj-lt"/>
              </a:rPr>
              <a:t>MSF: Memory-Side Perceptron-Based Prefetch Filtering</a:t>
            </a:r>
            <a:endParaRPr lang="en-US" sz="8800" dirty="0">
              <a:solidFill>
                <a:srgbClr val="7030A0"/>
              </a:solidFill>
            </a:endParaRPr>
          </a:p>
        </p:txBody>
      </p:sp>
      <p:sp>
        <p:nvSpPr>
          <p:cNvPr id="6" name="TextBox 5">
            <a:extLst>
              <a:ext uri="{FF2B5EF4-FFF2-40B4-BE49-F238E27FC236}">
                <a16:creationId xmlns:a16="http://schemas.microsoft.com/office/drawing/2014/main" id="{F9EBA490-027E-62D6-D846-5CFF7473ED68}"/>
              </a:ext>
            </a:extLst>
          </p:cNvPr>
          <p:cNvSpPr txBox="1"/>
          <p:nvPr/>
        </p:nvSpPr>
        <p:spPr>
          <a:xfrm>
            <a:off x="7083136" y="3429000"/>
            <a:ext cx="3465576" cy="461665"/>
          </a:xfrm>
          <a:prstGeom prst="rect">
            <a:avLst/>
          </a:prstGeom>
          <a:noFill/>
        </p:spPr>
        <p:txBody>
          <a:bodyPr wrap="square" rtlCol="0">
            <a:spAutoFit/>
          </a:bodyPr>
          <a:lstStyle/>
          <a:p>
            <a:r>
              <a:rPr lang="en-US" sz="2400" b="1" dirty="0"/>
              <a:t>HPCA 2024 (Submitted)</a:t>
            </a:r>
          </a:p>
        </p:txBody>
      </p:sp>
    </p:spTree>
    <p:extLst>
      <p:ext uri="{BB962C8B-B14F-4D97-AF65-F5344CB8AC3E}">
        <p14:creationId xmlns:p14="http://schemas.microsoft.com/office/powerpoint/2010/main" val="1861698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A948676-D879-E1CE-7770-8F3A3117CA59}"/>
              </a:ext>
            </a:extLst>
          </p:cNvPr>
          <p:cNvSpPr txBox="1">
            <a:spLocks/>
          </p:cNvSpPr>
          <p:nvPr/>
        </p:nvSpPr>
        <p:spPr>
          <a:xfrm>
            <a:off x="640080" y="329184"/>
            <a:ext cx="6894576" cy="17830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Background and Motivation</a:t>
            </a:r>
            <a:endParaRPr lang="en-US" sz="4000" dirty="0"/>
          </a:p>
        </p:txBody>
      </p:sp>
      <p:sp>
        <p:nvSpPr>
          <p:cNvPr id="1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EDA053-83A3-C337-91EB-66DE8A5BDE68}"/>
              </a:ext>
            </a:extLst>
          </p:cNvPr>
          <p:cNvSpPr txBox="1"/>
          <p:nvPr/>
        </p:nvSpPr>
        <p:spPr>
          <a:xfrm>
            <a:off x="94488" y="2567298"/>
            <a:ext cx="6894576"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Prefetching technique is used in most processors</a:t>
            </a:r>
          </a:p>
          <a:p>
            <a:pPr marL="285750" indent="-228600">
              <a:lnSpc>
                <a:spcPct val="90000"/>
              </a:lnSpc>
              <a:spcAft>
                <a:spcPts val="600"/>
              </a:spcAft>
              <a:buFont typeface="Arial" panose="020B0604020202020204" pitchFamily="34" charset="0"/>
              <a:buChar char="•"/>
            </a:pPr>
            <a:r>
              <a:rPr lang="en-US" sz="2000" dirty="0"/>
              <a:t>Inaccurate prefetcher negatively impact performance</a:t>
            </a:r>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r>
              <a:rPr lang="en-US" sz="2000" dirty="0"/>
              <a:t>In our experiments, </a:t>
            </a:r>
            <a:r>
              <a:rPr lang="en-US" sz="2000" b="1" dirty="0"/>
              <a:t>62.7% </a:t>
            </a:r>
            <a:r>
              <a:rPr lang="en-US" sz="2000" dirty="0"/>
              <a:t>of prefetched data are evicted without being referenced once</a:t>
            </a:r>
          </a:p>
          <a:p>
            <a:pPr marL="857250" lvl="1" indent="-342900">
              <a:lnSpc>
                <a:spcPct val="90000"/>
              </a:lnSpc>
              <a:spcAft>
                <a:spcPts val="600"/>
              </a:spcAft>
              <a:buFont typeface="Courier New" panose="02070309020205020404" pitchFamily="49" charset="0"/>
              <a:buChar char="o"/>
            </a:pPr>
            <a:r>
              <a:rPr lang="en-US" sz="2000" dirty="0"/>
              <a:t>Wasted resources</a:t>
            </a:r>
          </a:p>
          <a:p>
            <a:pPr marL="857250" lvl="1" indent="-342900">
              <a:lnSpc>
                <a:spcPct val="90000"/>
              </a:lnSpc>
              <a:spcAft>
                <a:spcPts val="600"/>
              </a:spcAft>
              <a:buFont typeface="Courier New" panose="02070309020205020404" pitchFamily="49" charset="0"/>
              <a:buChar char="o"/>
            </a:pPr>
            <a:r>
              <a:rPr lang="en-US" sz="2000" dirty="0"/>
              <a:t>Wasted bandwidth</a:t>
            </a:r>
          </a:p>
          <a:p>
            <a:pPr marL="857250" lvl="1" indent="-342900">
              <a:lnSpc>
                <a:spcPct val="90000"/>
              </a:lnSpc>
              <a:spcAft>
                <a:spcPts val="600"/>
              </a:spcAft>
              <a:buFont typeface="Courier New" panose="02070309020205020404" pitchFamily="49" charset="0"/>
              <a:buChar char="o"/>
            </a:pPr>
            <a:endParaRPr lang="en-US" sz="2000" dirty="0"/>
          </a:p>
          <a:p>
            <a:pPr marL="57150">
              <a:lnSpc>
                <a:spcPct val="90000"/>
              </a:lnSpc>
              <a:spcAft>
                <a:spcPts val="600"/>
              </a:spcAft>
            </a:pPr>
            <a:endParaRPr lang="en-US" sz="2000" dirty="0"/>
          </a:p>
        </p:txBody>
      </p:sp>
      <p:pic>
        <p:nvPicPr>
          <p:cNvPr id="8" name="Picture 7" descr="A graph of different colored bars&#10;&#10;Description automatically generated with medium confidence">
            <a:extLst>
              <a:ext uri="{FF2B5EF4-FFF2-40B4-BE49-F238E27FC236}">
                <a16:creationId xmlns:a16="http://schemas.microsoft.com/office/drawing/2014/main" id="{7318A33F-3E0A-78C3-4366-2E219E522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5160" y="1674501"/>
            <a:ext cx="5102352" cy="3699205"/>
          </a:xfrm>
          <a:prstGeom prst="rect">
            <a:avLst/>
          </a:prstGeom>
        </p:spPr>
      </p:pic>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4"/>
          <a:stretch>
            <a:fillRect/>
          </a:stretch>
        </p:blipFill>
        <p:spPr>
          <a:xfrm>
            <a:off x="0" y="6204445"/>
            <a:ext cx="12188952" cy="639919"/>
          </a:xfrm>
          <a:prstGeom prst="rect">
            <a:avLst/>
          </a:prstGeom>
        </p:spPr>
      </p:pic>
      <p:sp>
        <p:nvSpPr>
          <p:cNvPr id="9" name="TextBox 8">
            <a:extLst>
              <a:ext uri="{FF2B5EF4-FFF2-40B4-BE49-F238E27FC236}">
                <a16:creationId xmlns:a16="http://schemas.microsoft.com/office/drawing/2014/main" id="{C37B1C57-516A-EAF1-6905-A171852659BB}"/>
              </a:ext>
            </a:extLst>
          </p:cNvPr>
          <p:cNvSpPr txBox="1"/>
          <p:nvPr/>
        </p:nvSpPr>
        <p:spPr>
          <a:xfrm>
            <a:off x="7534656" y="5450521"/>
            <a:ext cx="4012692" cy="584775"/>
          </a:xfrm>
          <a:prstGeom prst="rect">
            <a:avLst/>
          </a:prstGeom>
          <a:noFill/>
        </p:spPr>
        <p:txBody>
          <a:bodyPr wrap="square" rtlCol="0">
            <a:spAutoFit/>
          </a:bodyPr>
          <a:lstStyle/>
          <a:p>
            <a:r>
              <a:rPr lang="en-US" sz="1600" dirty="0"/>
              <a:t>Figure: Percentage of used/evicted prefetches in L2</a:t>
            </a:r>
          </a:p>
        </p:txBody>
      </p:sp>
    </p:spTree>
    <p:extLst>
      <p:ext uri="{BB962C8B-B14F-4D97-AF65-F5344CB8AC3E}">
        <p14:creationId xmlns:p14="http://schemas.microsoft.com/office/powerpoint/2010/main" val="3791485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F6F2F2CF-2671-045C-AFF9-A6AF4DB19CE6}"/>
              </a:ext>
            </a:extLst>
          </p:cNvPr>
          <p:cNvSpPr txBox="1">
            <a:spLocks/>
          </p:cNvSpPr>
          <p:nvPr/>
        </p:nvSpPr>
        <p:spPr>
          <a:xfrm>
            <a:off x="594360" y="868680"/>
            <a:ext cx="6894576"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Background: Data Prefetching</a:t>
            </a:r>
            <a:endParaRPr lang="en-US" sz="4000" dirty="0"/>
          </a:p>
        </p:txBody>
      </p:sp>
      <p:sp>
        <p:nvSpPr>
          <p:cNvPr id="6" name="TextBox 5">
            <a:extLst>
              <a:ext uri="{FF2B5EF4-FFF2-40B4-BE49-F238E27FC236}">
                <a16:creationId xmlns:a16="http://schemas.microsoft.com/office/drawing/2014/main" id="{FFF5BF12-1E66-E322-08B2-F0B885611A11}"/>
              </a:ext>
            </a:extLst>
          </p:cNvPr>
          <p:cNvSpPr txBox="1"/>
          <p:nvPr/>
        </p:nvSpPr>
        <p:spPr>
          <a:xfrm>
            <a:off x="368808" y="2073522"/>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Data prefetching is a technique deployed in most computer systems. </a:t>
            </a:r>
          </a:p>
          <a:p>
            <a:pPr marL="285750" indent="-228600">
              <a:lnSpc>
                <a:spcPct val="90000"/>
              </a:lnSpc>
              <a:spcAft>
                <a:spcPts val="600"/>
              </a:spcAft>
              <a:buFont typeface="Arial" panose="020B0604020202020204" pitchFamily="34" charset="0"/>
              <a:buChar char="•"/>
            </a:pPr>
            <a:r>
              <a:rPr lang="en-US" sz="2000" dirty="0"/>
              <a:t>Preemptively fetch data into cache before it is requested</a:t>
            </a:r>
          </a:p>
          <a:p>
            <a:pPr marL="285750" indent="-228600">
              <a:lnSpc>
                <a:spcPct val="90000"/>
              </a:lnSpc>
              <a:spcAft>
                <a:spcPts val="600"/>
              </a:spcAft>
              <a:buFont typeface="Arial" panose="020B0604020202020204" pitchFamily="34" charset="0"/>
              <a:buChar char="•"/>
            </a:pPr>
            <a:r>
              <a:rPr lang="en-US" sz="2000" dirty="0"/>
              <a:t>Most prefetchers utilize metadata within the core</a:t>
            </a:r>
          </a:p>
          <a:p>
            <a:pPr marL="742950" lvl="1" indent="-228600">
              <a:lnSpc>
                <a:spcPct val="90000"/>
              </a:lnSpc>
              <a:spcAft>
                <a:spcPts val="600"/>
              </a:spcAft>
              <a:buFont typeface="Arial" panose="020B0604020202020204" pitchFamily="34" charset="0"/>
              <a:buChar char="•"/>
            </a:pPr>
            <a:r>
              <a:rPr lang="en-US" sz="2000" dirty="0"/>
              <a:t>PC, tag, delta, signature, etc.</a:t>
            </a:r>
          </a:p>
          <a:p>
            <a:pPr marL="285750" indent="-228600">
              <a:lnSpc>
                <a:spcPct val="90000"/>
              </a:lnSpc>
              <a:spcAft>
                <a:spcPts val="600"/>
              </a:spcAft>
              <a:buFont typeface="Arial" panose="020B0604020202020204" pitchFamily="34" charset="0"/>
              <a:buChar char="•"/>
            </a:pPr>
            <a:r>
              <a:rPr lang="en-US" sz="2000" dirty="0"/>
              <a:t>Goal: increase accuracy while moderates the aggressiveness </a:t>
            </a:r>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p:txBody>
      </p:sp>
      <p:sp>
        <p:nvSpPr>
          <p:cNvPr id="7" name="Rectangle: Rounded Corners 6">
            <a:extLst>
              <a:ext uri="{FF2B5EF4-FFF2-40B4-BE49-F238E27FC236}">
                <a16:creationId xmlns:a16="http://schemas.microsoft.com/office/drawing/2014/main" id="{658783C0-14EE-CA83-6808-EEB69E696422}"/>
              </a:ext>
            </a:extLst>
          </p:cNvPr>
          <p:cNvSpPr/>
          <p:nvPr/>
        </p:nvSpPr>
        <p:spPr>
          <a:xfrm>
            <a:off x="9113644" y="1883664"/>
            <a:ext cx="1054484" cy="5695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Core</a:t>
            </a:r>
          </a:p>
        </p:txBody>
      </p:sp>
      <p:sp>
        <p:nvSpPr>
          <p:cNvPr id="8" name="Rectangle: Rounded Corners 8">
            <a:extLst>
              <a:ext uri="{FF2B5EF4-FFF2-40B4-BE49-F238E27FC236}">
                <a16:creationId xmlns:a16="http://schemas.microsoft.com/office/drawing/2014/main" id="{1AC5FDFA-4F2B-18E2-D0DD-1F8E2FB03EBD}"/>
              </a:ext>
            </a:extLst>
          </p:cNvPr>
          <p:cNvSpPr/>
          <p:nvPr/>
        </p:nvSpPr>
        <p:spPr>
          <a:xfrm>
            <a:off x="9113643" y="2637966"/>
            <a:ext cx="500303" cy="5003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cs typeface="Arial"/>
              </a:rPr>
              <a:t>L1D</a:t>
            </a:r>
          </a:p>
        </p:txBody>
      </p:sp>
      <p:sp>
        <p:nvSpPr>
          <p:cNvPr id="9" name="Rectangle: Rounded Corners 10">
            <a:extLst>
              <a:ext uri="{FF2B5EF4-FFF2-40B4-BE49-F238E27FC236}">
                <a16:creationId xmlns:a16="http://schemas.microsoft.com/office/drawing/2014/main" id="{6443D0B3-1EB2-3F2B-476B-11ABB69B4311}"/>
              </a:ext>
            </a:extLst>
          </p:cNvPr>
          <p:cNvSpPr/>
          <p:nvPr/>
        </p:nvSpPr>
        <p:spPr>
          <a:xfrm>
            <a:off x="9644733" y="2637966"/>
            <a:ext cx="500303" cy="5003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chemeClr val="tx1"/>
                </a:solidFill>
                <a:cs typeface="Arial"/>
              </a:rPr>
              <a:t>L1I</a:t>
            </a:r>
          </a:p>
        </p:txBody>
      </p:sp>
      <p:sp>
        <p:nvSpPr>
          <p:cNvPr id="10" name="Rectangle: Rounded Corners 12">
            <a:extLst>
              <a:ext uri="{FF2B5EF4-FFF2-40B4-BE49-F238E27FC236}">
                <a16:creationId xmlns:a16="http://schemas.microsoft.com/office/drawing/2014/main" id="{6F366899-BC8B-E623-6B62-4C0892B472EE}"/>
              </a:ext>
            </a:extLst>
          </p:cNvPr>
          <p:cNvSpPr/>
          <p:nvPr/>
        </p:nvSpPr>
        <p:spPr>
          <a:xfrm>
            <a:off x="8928916" y="3461542"/>
            <a:ext cx="1416242" cy="577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L2 </a:t>
            </a:r>
          </a:p>
        </p:txBody>
      </p:sp>
      <p:sp>
        <p:nvSpPr>
          <p:cNvPr id="11" name="Hexagon 10">
            <a:extLst>
              <a:ext uri="{FF2B5EF4-FFF2-40B4-BE49-F238E27FC236}">
                <a16:creationId xmlns:a16="http://schemas.microsoft.com/office/drawing/2014/main" id="{070691F7-3EDD-77C7-6A01-08BFB1E2B433}"/>
              </a:ext>
            </a:extLst>
          </p:cNvPr>
          <p:cNvSpPr/>
          <p:nvPr/>
        </p:nvSpPr>
        <p:spPr>
          <a:xfrm>
            <a:off x="9013583" y="3322997"/>
            <a:ext cx="1254605" cy="277090"/>
          </a:xfrm>
          <a:prstGeom prst="hexago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cs typeface="Arial"/>
              </a:rPr>
              <a:t>Prefetcher</a:t>
            </a:r>
          </a:p>
        </p:txBody>
      </p:sp>
      <p:sp>
        <p:nvSpPr>
          <p:cNvPr id="12" name="Rectangle: Rounded Corners 16">
            <a:extLst>
              <a:ext uri="{FF2B5EF4-FFF2-40B4-BE49-F238E27FC236}">
                <a16:creationId xmlns:a16="http://schemas.microsoft.com/office/drawing/2014/main" id="{5D2D89F8-2337-A2C1-AC8E-8A7DF888157D}"/>
              </a:ext>
            </a:extLst>
          </p:cNvPr>
          <p:cNvSpPr/>
          <p:nvPr/>
        </p:nvSpPr>
        <p:spPr>
          <a:xfrm>
            <a:off x="8744190" y="4223541"/>
            <a:ext cx="1854967" cy="8004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L3 </a:t>
            </a:r>
          </a:p>
          <a:p>
            <a:pPr algn="ctr"/>
            <a:r>
              <a:rPr lang="en-US" b="1">
                <a:solidFill>
                  <a:schemeClr val="tx1"/>
                </a:solidFill>
                <a:cs typeface="Arial"/>
              </a:rPr>
              <a:t>(shared) </a:t>
            </a:r>
          </a:p>
        </p:txBody>
      </p:sp>
      <p:cxnSp>
        <p:nvCxnSpPr>
          <p:cNvPr id="13" name="Straight Arrow Connector 12">
            <a:extLst>
              <a:ext uri="{FF2B5EF4-FFF2-40B4-BE49-F238E27FC236}">
                <a16:creationId xmlns:a16="http://schemas.microsoft.com/office/drawing/2014/main" id="{AB481BB7-51A2-1090-21D1-998D74F61208}"/>
              </a:ext>
            </a:extLst>
          </p:cNvPr>
          <p:cNvCxnSpPr/>
          <p:nvPr/>
        </p:nvCxnSpPr>
        <p:spPr>
          <a:xfrm>
            <a:off x="9894313" y="2423095"/>
            <a:ext cx="891" cy="2459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3864211-7DA2-0B34-290F-9CFCFD296F90}"/>
              </a:ext>
            </a:extLst>
          </p:cNvPr>
          <p:cNvCxnSpPr>
            <a:cxnSpLocks/>
          </p:cNvCxnSpPr>
          <p:nvPr/>
        </p:nvCxnSpPr>
        <p:spPr>
          <a:xfrm>
            <a:off x="9364032" y="2423094"/>
            <a:ext cx="891" cy="2459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25EDBA71-00AA-D8CF-27A5-5C2152DB0CCB}"/>
              </a:ext>
            </a:extLst>
          </p:cNvPr>
          <p:cNvCxnSpPr>
            <a:cxnSpLocks/>
          </p:cNvCxnSpPr>
          <p:nvPr/>
        </p:nvCxnSpPr>
        <p:spPr>
          <a:xfrm>
            <a:off x="9635856" y="3104884"/>
            <a:ext cx="891" cy="2459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91A0E09-364D-10ED-8094-78F4901D8E92}"/>
              </a:ext>
            </a:extLst>
          </p:cNvPr>
          <p:cNvCxnSpPr>
            <a:cxnSpLocks/>
          </p:cNvCxnSpPr>
          <p:nvPr/>
        </p:nvCxnSpPr>
        <p:spPr>
          <a:xfrm>
            <a:off x="9635856" y="4009480"/>
            <a:ext cx="891" cy="2459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E9D84DB1-A0C1-E647-5FA1-DBD7F2CA3393}"/>
              </a:ext>
            </a:extLst>
          </p:cNvPr>
          <p:cNvSpPr txBox="1"/>
          <p:nvPr/>
        </p:nvSpPr>
        <p:spPr>
          <a:xfrm>
            <a:off x="7735824" y="5088281"/>
            <a:ext cx="4012692" cy="338554"/>
          </a:xfrm>
          <a:prstGeom prst="rect">
            <a:avLst/>
          </a:prstGeom>
          <a:noFill/>
        </p:spPr>
        <p:txBody>
          <a:bodyPr wrap="square" rtlCol="0">
            <a:spAutoFit/>
          </a:bodyPr>
          <a:lstStyle/>
          <a:p>
            <a:r>
              <a:rPr lang="en-US" sz="1600" dirty="0"/>
              <a:t>Figure: Underlying prefetcher housed in L2</a:t>
            </a:r>
          </a:p>
        </p:txBody>
      </p:sp>
    </p:spTree>
    <p:extLst>
      <p:ext uri="{BB962C8B-B14F-4D97-AF65-F5344CB8AC3E}">
        <p14:creationId xmlns:p14="http://schemas.microsoft.com/office/powerpoint/2010/main" val="2268747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2" name="Title 1">
            <a:extLst>
              <a:ext uri="{FF2B5EF4-FFF2-40B4-BE49-F238E27FC236}">
                <a16:creationId xmlns:a16="http://schemas.microsoft.com/office/drawing/2014/main" id="{23589C30-C120-409E-2F30-448DC9E9E4F5}"/>
              </a:ext>
            </a:extLst>
          </p:cNvPr>
          <p:cNvSpPr txBox="1">
            <a:spLocks/>
          </p:cNvSpPr>
          <p:nvPr/>
        </p:nvSpPr>
        <p:spPr>
          <a:xfrm>
            <a:off x="594360" y="868680"/>
            <a:ext cx="6894576"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Background: Prefetch Filtering</a:t>
            </a:r>
            <a:endParaRPr lang="en-US" sz="4000" dirty="0"/>
          </a:p>
        </p:txBody>
      </p:sp>
      <p:sp>
        <p:nvSpPr>
          <p:cNvPr id="3" name="TextBox 2">
            <a:extLst>
              <a:ext uri="{FF2B5EF4-FFF2-40B4-BE49-F238E27FC236}">
                <a16:creationId xmlns:a16="http://schemas.microsoft.com/office/drawing/2014/main" id="{B12E7DD4-CB9E-46CA-2998-9B2EF516389D}"/>
              </a:ext>
            </a:extLst>
          </p:cNvPr>
          <p:cNvSpPr txBox="1"/>
          <p:nvPr/>
        </p:nvSpPr>
        <p:spPr>
          <a:xfrm>
            <a:off x="368808" y="2073522"/>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Inaccurate prefetchers can impact the performance of the system </a:t>
            </a:r>
          </a:p>
          <a:p>
            <a:pPr marL="857250" lvl="1" indent="-342900">
              <a:lnSpc>
                <a:spcPct val="90000"/>
              </a:lnSpc>
              <a:spcAft>
                <a:spcPts val="600"/>
              </a:spcAft>
              <a:buFont typeface="Courier New" panose="02070309020205020404" pitchFamily="49" charset="0"/>
              <a:buChar char="o"/>
            </a:pPr>
            <a:r>
              <a:rPr lang="en-US" sz="2000" dirty="0"/>
              <a:t>by causing cache pollution and waste memory bandwidth</a:t>
            </a:r>
          </a:p>
          <a:p>
            <a:pPr marL="514350" lvl="1">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r>
              <a:rPr lang="en-US" sz="2000" dirty="0"/>
              <a:t>Prefetch filtering is used to filter unnecessary prefetch requests</a:t>
            </a:r>
          </a:p>
          <a:p>
            <a:pPr marL="400050" indent="-342900">
              <a:lnSpc>
                <a:spcPct val="90000"/>
              </a:lnSpc>
              <a:spcAft>
                <a:spcPts val="600"/>
              </a:spcAft>
              <a:buFont typeface="Arial" panose="020B0604020202020204" pitchFamily="34" charset="0"/>
              <a:buChar char="•"/>
            </a:pPr>
            <a:r>
              <a:rPr lang="en-US" sz="2000" dirty="0"/>
              <a:t>Acts as an independent check on quality of incoming prefetches</a:t>
            </a:r>
          </a:p>
          <a:p>
            <a:pPr marL="400050" indent="-342900">
              <a:lnSpc>
                <a:spcPct val="90000"/>
              </a:lnSpc>
              <a:spcAft>
                <a:spcPts val="600"/>
              </a:spcAft>
              <a:buFont typeface="Arial" panose="020B0604020202020204" pitchFamily="34" charset="0"/>
              <a:buChar char="•"/>
            </a:pPr>
            <a:r>
              <a:rPr lang="en-US" sz="2000" dirty="0"/>
              <a:t>Typically housed in cache hierarchy</a:t>
            </a:r>
          </a:p>
          <a:p>
            <a:pPr marL="57150">
              <a:lnSpc>
                <a:spcPct val="90000"/>
              </a:lnSpc>
              <a:spcAft>
                <a:spcPts val="600"/>
              </a:spcAft>
            </a:pPr>
            <a:endParaRPr lang="en-US" sz="2000" dirty="0"/>
          </a:p>
          <a:p>
            <a:pPr marL="285750" indent="-228600">
              <a:lnSpc>
                <a:spcPct val="90000"/>
              </a:lnSpc>
              <a:spcAft>
                <a:spcPts val="600"/>
              </a:spcAft>
              <a:buFont typeface="Arial" panose="020B0604020202020204" pitchFamily="34" charset="0"/>
              <a:buChar char="•"/>
            </a:pPr>
            <a:r>
              <a:rPr lang="en-US" sz="2000" dirty="0"/>
              <a:t>Previously proposed filters only examine </a:t>
            </a:r>
            <a:r>
              <a:rPr lang="en-US" sz="2000" b="1" dirty="0"/>
              <a:t>core-side</a:t>
            </a:r>
            <a:r>
              <a:rPr lang="en-US" sz="2000" dirty="0"/>
              <a:t> information</a:t>
            </a:r>
          </a:p>
          <a:p>
            <a:pPr marL="857250" lvl="1" indent="-342900">
              <a:lnSpc>
                <a:spcPct val="90000"/>
              </a:lnSpc>
              <a:spcAft>
                <a:spcPts val="600"/>
              </a:spcAft>
              <a:buFont typeface="Courier New" panose="02070309020205020404" pitchFamily="49" charset="0"/>
              <a:buChar char="o"/>
            </a:pPr>
            <a:r>
              <a:rPr lang="en-US" sz="2000" dirty="0"/>
              <a:t>Filter should examine both </a:t>
            </a:r>
            <a:r>
              <a:rPr lang="en-US" sz="2000" b="1" dirty="0">
                <a:solidFill>
                  <a:schemeClr val="accent1">
                    <a:lumMod val="75000"/>
                  </a:schemeClr>
                </a:solidFill>
              </a:rPr>
              <a:t>core-side</a:t>
            </a:r>
            <a:r>
              <a:rPr lang="en-US" sz="2000" dirty="0"/>
              <a:t> and </a:t>
            </a:r>
            <a:r>
              <a:rPr lang="en-US" sz="2000" b="1" dirty="0">
                <a:solidFill>
                  <a:srgbClr val="7030A0"/>
                </a:solidFill>
              </a:rPr>
              <a:t>memory-side</a:t>
            </a:r>
          </a:p>
          <a:p>
            <a:pPr marL="57150">
              <a:lnSpc>
                <a:spcPct val="90000"/>
              </a:lnSpc>
              <a:spcAft>
                <a:spcPts val="600"/>
              </a:spcAft>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p:txBody>
      </p:sp>
      <p:sp>
        <p:nvSpPr>
          <p:cNvPr id="8" name="Rectangle: Rounded Corners 12">
            <a:extLst>
              <a:ext uri="{FF2B5EF4-FFF2-40B4-BE49-F238E27FC236}">
                <a16:creationId xmlns:a16="http://schemas.microsoft.com/office/drawing/2014/main" id="{C70B141D-B3CA-7D80-527A-044B2EA8BEBD}"/>
              </a:ext>
            </a:extLst>
          </p:cNvPr>
          <p:cNvSpPr/>
          <p:nvPr/>
        </p:nvSpPr>
        <p:spPr>
          <a:xfrm>
            <a:off x="8627580" y="3278662"/>
            <a:ext cx="1416242" cy="577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L2 </a:t>
            </a:r>
          </a:p>
        </p:txBody>
      </p:sp>
      <p:sp>
        <p:nvSpPr>
          <p:cNvPr id="9" name="Hexagon 8">
            <a:extLst>
              <a:ext uri="{FF2B5EF4-FFF2-40B4-BE49-F238E27FC236}">
                <a16:creationId xmlns:a16="http://schemas.microsoft.com/office/drawing/2014/main" id="{449B0512-BD25-F0DA-F52F-EF3F0066F0E1}"/>
              </a:ext>
            </a:extLst>
          </p:cNvPr>
          <p:cNvSpPr/>
          <p:nvPr/>
        </p:nvSpPr>
        <p:spPr>
          <a:xfrm>
            <a:off x="8712247" y="3140117"/>
            <a:ext cx="1254605" cy="277090"/>
          </a:xfrm>
          <a:prstGeom prst="hexago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cs typeface="Arial"/>
              </a:rPr>
              <a:t>Prefetcher</a:t>
            </a:r>
          </a:p>
        </p:txBody>
      </p:sp>
      <p:sp>
        <p:nvSpPr>
          <p:cNvPr id="10" name="Rectangle: Rounded Corners 16">
            <a:extLst>
              <a:ext uri="{FF2B5EF4-FFF2-40B4-BE49-F238E27FC236}">
                <a16:creationId xmlns:a16="http://schemas.microsoft.com/office/drawing/2014/main" id="{FCA80467-71E0-4AFA-196C-6E96CFB45234}"/>
              </a:ext>
            </a:extLst>
          </p:cNvPr>
          <p:cNvSpPr/>
          <p:nvPr/>
        </p:nvSpPr>
        <p:spPr>
          <a:xfrm>
            <a:off x="8442854" y="4040661"/>
            <a:ext cx="1854967" cy="8004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L3 </a:t>
            </a:r>
          </a:p>
          <a:p>
            <a:pPr algn="ctr"/>
            <a:r>
              <a:rPr lang="en-US" b="1">
                <a:solidFill>
                  <a:schemeClr val="tx1"/>
                </a:solidFill>
                <a:cs typeface="Arial"/>
              </a:rPr>
              <a:t>(shared) </a:t>
            </a:r>
          </a:p>
        </p:txBody>
      </p:sp>
      <p:cxnSp>
        <p:nvCxnSpPr>
          <p:cNvPr id="14" name="Straight Arrow Connector 13">
            <a:extLst>
              <a:ext uri="{FF2B5EF4-FFF2-40B4-BE49-F238E27FC236}">
                <a16:creationId xmlns:a16="http://schemas.microsoft.com/office/drawing/2014/main" id="{A2E2A0AC-741A-B083-E146-0C2416501881}"/>
              </a:ext>
            </a:extLst>
          </p:cNvPr>
          <p:cNvCxnSpPr>
            <a:cxnSpLocks/>
          </p:cNvCxnSpPr>
          <p:nvPr/>
        </p:nvCxnSpPr>
        <p:spPr>
          <a:xfrm>
            <a:off x="9334520" y="3826600"/>
            <a:ext cx="891" cy="2459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9284C95B-F893-5E31-D5CF-7CECB90F8D60}"/>
              </a:ext>
            </a:extLst>
          </p:cNvPr>
          <p:cNvCxnSpPr>
            <a:cxnSpLocks/>
            <a:endCxn id="17" idx="1"/>
          </p:cNvCxnSpPr>
          <p:nvPr/>
        </p:nvCxnSpPr>
        <p:spPr>
          <a:xfrm flipV="1">
            <a:off x="10109606" y="2644432"/>
            <a:ext cx="855310" cy="850254"/>
          </a:xfrm>
          <a:prstGeom prst="straightConnector1">
            <a:avLst/>
          </a:prstGeom>
          <a:ln>
            <a:prstDash val="dashDot"/>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a:extLst>
              <a:ext uri="{FF2B5EF4-FFF2-40B4-BE49-F238E27FC236}">
                <a16:creationId xmlns:a16="http://schemas.microsoft.com/office/drawing/2014/main" id="{C34522B6-6F44-6FD4-FECD-11B7D71AC681}"/>
              </a:ext>
            </a:extLst>
          </p:cNvPr>
          <p:cNvSpPr/>
          <p:nvPr/>
        </p:nvSpPr>
        <p:spPr>
          <a:xfrm>
            <a:off x="10964916" y="2301916"/>
            <a:ext cx="1227083" cy="6850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Prefetch Filter</a:t>
            </a:r>
          </a:p>
        </p:txBody>
      </p:sp>
      <p:cxnSp>
        <p:nvCxnSpPr>
          <p:cNvPr id="20" name="Elbow Connector 19">
            <a:extLst>
              <a:ext uri="{FF2B5EF4-FFF2-40B4-BE49-F238E27FC236}">
                <a16:creationId xmlns:a16="http://schemas.microsoft.com/office/drawing/2014/main" id="{77934505-ED4B-5783-51FC-F18B4EAA8642}"/>
              </a:ext>
            </a:extLst>
          </p:cNvPr>
          <p:cNvCxnSpPr>
            <a:cxnSpLocks/>
            <a:stCxn id="17" idx="2"/>
            <a:endCxn id="8" idx="3"/>
          </p:cNvCxnSpPr>
          <p:nvPr/>
        </p:nvCxnSpPr>
        <p:spPr>
          <a:xfrm rot="5400000">
            <a:off x="10520964" y="2509805"/>
            <a:ext cx="580352" cy="1534636"/>
          </a:xfrm>
          <a:prstGeom prst="bentConnector2">
            <a:avLst/>
          </a:prstGeom>
          <a:ln>
            <a:prstDash val="dashDot"/>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0BC366A-1013-C0E5-A57B-5DA1BBC46EAC}"/>
              </a:ext>
            </a:extLst>
          </p:cNvPr>
          <p:cNvSpPr txBox="1"/>
          <p:nvPr/>
        </p:nvSpPr>
        <p:spPr>
          <a:xfrm>
            <a:off x="9091906" y="2504140"/>
            <a:ext cx="1693718"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Should we proceed with the prefetch ? </a:t>
            </a:r>
          </a:p>
        </p:txBody>
      </p:sp>
      <p:sp>
        <p:nvSpPr>
          <p:cNvPr id="24" name="TextBox 23">
            <a:extLst>
              <a:ext uri="{FF2B5EF4-FFF2-40B4-BE49-F238E27FC236}">
                <a16:creationId xmlns:a16="http://schemas.microsoft.com/office/drawing/2014/main" id="{A360C886-0D35-FE28-1833-E7CFD22D4F8E}"/>
              </a:ext>
            </a:extLst>
          </p:cNvPr>
          <p:cNvSpPr txBox="1"/>
          <p:nvPr/>
        </p:nvSpPr>
        <p:spPr>
          <a:xfrm>
            <a:off x="10859861" y="3429000"/>
            <a:ext cx="76083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Yes/No</a:t>
            </a:r>
          </a:p>
        </p:txBody>
      </p:sp>
      <p:sp>
        <p:nvSpPr>
          <p:cNvPr id="25" name="TextBox 24">
            <a:extLst>
              <a:ext uri="{FF2B5EF4-FFF2-40B4-BE49-F238E27FC236}">
                <a16:creationId xmlns:a16="http://schemas.microsoft.com/office/drawing/2014/main" id="{AF3FCB5B-1199-4A3F-CA40-97693E20A0D8}"/>
              </a:ext>
            </a:extLst>
          </p:cNvPr>
          <p:cNvSpPr txBox="1"/>
          <p:nvPr/>
        </p:nvSpPr>
        <p:spPr>
          <a:xfrm>
            <a:off x="7735824" y="5088281"/>
            <a:ext cx="4012692" cy="338554"/>
          </a:xfrm>
          <a:prstGeom prst="rect">
            <a:avLst/>
          </a:prstGeom>
          <a:noFill/>
        </p:spPr>
        <p:txBody>
          <a:bodyPr wrap="square" rtlCol="0">
            <a:spAutoFit/>
          </a:bodyPr>
          <a:lstStyle/>
          <a:p>
            <a:r>
              <a:rPr lang="en-US" sz="1600" dirty="0"/>
              <a:t>Figure: Prefetch Filter housed in L2</a:t>
            </a:r>
          </a:p>
        </p:txBody>
      </p:sp>
    </p:spTree>
    <p:extLst>
      <p:ext uri="{BB962C8B-B14F-4D97-AF65-F5344CB8AC3E}">
        <p14:creationId xmlns:p14="http://schemas.microsoft.com/office/powerpoint/2010/main" val="1374692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1E1BD231-C6F9-5515-BF0F-C0887E63C25A}"/>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Background: Hashed Perceptron Learning</a:t>
            </a:r>
            <a:endParaRPr lang="en-US" sz="4000" dirty="0"/>
          </a:p>
        </p:txBody>
      </p:sp>
      <p:sp>
        <p:nvSpPr>
          <p:cNvPr id="6" name="TextBox 5">
            <a:extLst>
              <a:ext uri="{FF2B5EF4-FFF2-40B4-BE49-F238E27FC236}">
                <a16:creationId xmlns:a16="http://schemas.microsoft.com/office/drawing/2014/main" id="{0A758A8A-0217-1762-C490-977A7B5D27CA}"/>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Perceptron is simple neural network to recognize correlation</a:t>
            </a:r>
          </a:p>
          <a:p>
            <a:pPr marL="285750" indent="-228600">
              <a:lnSpc>
                <a:spcPct val="90000"/>
              </a:lnSpc>
              <a:spcAft>
                <a:spcPts val="600"/>
              </a:spcAft>
              <a:buFont typeface="Arial" panose="020B0604020202020204" pitchFamily="34" charset="0"/>
              <a:buChar char="•"/>
            </a:pPr>
            <a:r>
              <a:rPr lang="en-US" sz="2000" dirty="0"/>
              <a:t>However, </a:t>
            </a:r>
            <a:r>
              <a:rPr lang="en-US" sz="2000" b="1" dirty="0">
                <a:solidFill>
                  <a:srgbClr val="C00000"/>
                </a:solidFill>
              </a:rPr>
              <a:t>dot-product</a:t>
            </a:r>
            <a:r>
              <a:rPr lang="en-US" sz="2000" dirty="0"/>
              <a:t> operation is expensive</a:t>
            </a:r>
          </a:p>
          <a:p>
            <a:pPr marL="285750" indent="-228600">
              <a:lnSpc>
                <a:spcPct val="90000"/>
              </a:lnSpc>
              <a:spcAft>
                <a:spcPts val="600"/>
              </a:spcAft>
              <a:buFont typeface="Arial" panose="020B0604020202020204" pitchFamily="34" charset="0"/>
              <a:buChar char="•"/>
            </a:pPr>
            <a:r>
              <a:rPr lang="en-US" sz="2000" b="1" dirty="0">
                <a:solidFill>
                  <a:schemeClr val="accent3">
                    <a:lumMod val="50000"/>
                  </a:schemeClr>
                </a:solidFill>
              </a:rPr>
              <a:t>Hashed Perceptron Learning</a:t>
            </a:r>
          </a:p>
          <a:p>
            <a:pPr marL="742950" lvl="1" indent="-228600">
              <a:lnSpc>
                <a:spcPct val="90000"/>
              </a:lnSpc>
              <a:spcAft>
                <a:spcPts val="600"/>
              </a:spcAft>
              <a:buFont typeface="Arial" panose="020B0604020202020204" pitchFamily="34" charset="0"/>
              <a:buChar char="•"/>
            </a:pPr>
            <a:r>
              <a:rPr lang="en-US" sz="2000" dirty="0"/>
              <a:t>Hashes the input features into indices of weight tables</a:t>
            </a:r>
          </a:p>
          <a:p>
            <a:pPr marL="742950" lvl="1" indent="-228600">
              <a:lnSpc>
                <a:spcPct val="90000"/>
              </a:lnSpc>
              <a:spcAft>
                <a:spcPts val="600"/>
              </a:spcAft>
              <a:buFont typeface="Arial" panose="020B0604020202020204" pitchFamily="34" charset="0"/>
              <a:buChar char="•"/>
            </a:pPr>
            <a:r>
              <a:rPr lang="en-US" sz="2000" dirty="0"/>
              <a:t>Applies sum operation across indexed weights</a:t>
            </a:r>
          </a:p>
          <a:p>
            <a:pPr marL="742950" lvl="1" indent="-228600">
              <a:lnSpc>
                <a:spcPct val="90000"/>
              </a:lnSpc>
              <a:spcAft>
                <a:spcPts val="600"/>
              </a:spcAft>
              <a:buFont typeface="Arial" panose="020B0604020202020204" pitchFamily="34" charset="0"/>
              <a:buChar char="•"/>
            </a:pPr>
            <a:r>
              <a:rPr lang="en-US" sz="2000" dirty="0"/>
              <a:t>Binary decision is made based on threshold</a:t>
            </a:r>
          </a:p>
          <a:p>
            <a:pPr marL="742950" lvl="1" indent="-228600">
              <a:lnSpc>
                <a:spcPct val="90000"/>
              </a:lnSpc>
              <a:spcAft>
                <a:spcPts val="600"/>
              </a:spcAft>
              <a:buFont typeface="Arial" panose="020B0604020202020204" pitchFamily="34" charset="0"/>
              <a:buChar char="•"/>
            </a:pPr>
            <a:r>
              <a:rPr lang="en-US" sz="2000" dirty="0"/>
              <a:t>Training is </a:t>
            </a:r>
            <a:r>
              <a:rPr lang="en-US" sz="2000" b="1" dirty="0">
                <a:solidFill>
                  <a:schemeClr val="accent3">
                    <a:lumMod val="50000"/>
                  </a:schemeClr>
                </a:solidFill>
              </a:rPr>
              <a:t>simple</a:t>
            </a:r>
          </a:p>
          <a:p>
            <a:pPr marL="285750" indent="-228600">
              <a:lnSpc>
                <a:spcPct val="90000"/>
              </a:lnSpc>
              <a:spcAft>
                <a:spcPts val="600"/>
              </a:spcAft>
              <a:buFont typeface="Arial" panose="020B0604020202020204" pitchFamily="34" charset="0"/>
              <a:buChar char="•"/>
            </a:pPr>
            <a:r>
              <a:rPr lang="en-US" sz="2000" dirty="0">
                <a:solidFill>
                  <a:schemeClr val="accent3">
                    <a:lumMod val="50000"/>
                  </a:schemeClr>
                </a:solidFill>
              </a:rPr>
              <a:t>Significantly reduces latency </a:t>
            </a:r>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p:txBody>
      </p:sp>
      <p:pic>
        <p:nvPicPr>
          <p:cNvPr id="8" name="Picture 7" descr="A diagram of a number of objects&#10;&#10;Description automatically generated">
            <a:extLst>
              <a:ext uri="{FF2B5EF4-FFF2-40B4-BE49-F238E27FC236}">
                <a16:creationId xmlns:a16="http://schemas.microsoft.com/office/drawing/2014/main" id="{85838EAF-7552-176A-C1CC-20F0CA9A4F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9137" y="3429000"/>
            <a:ext cx="4743034" cy="2327249"/>
          </a:xfrm>
          <a:prstGeom prst="rect">
            <a:avLst/>
          </a:prstGeom>
        </p:spPr>
      </p:pic>
      <p:sp>
        <p:nvSpPr>
          <p:cNvPr id="9" name="TextBox 8">
            <a:extLst>
              <a:ext uri="{FF2B5EF4-FFF2-40B4-BE49-F238E27FC236}">
                <a16:creationId xmlns:a16="http://schemas.microsoft.com/office/drawing/2014/main" id="{6575AA1B-773E-5B10-A2CE-7FF81A21DEF7}"/>
              </a:ext>
            </a:extLst>
          </p:cNvPr>
          <p:cNvSpPr txBox="1"/>
          <p:nvPr/>
        </p:nvSpPr>
        <p:spPr>
          <a:xfrm>
            <a:off x="7269480" y="5756249"/>
            <a:ext cx="4012692" cy="338554"/>
          </a:xfrm>
          <a:prstGeom prst="rect">
            <a:avLst/>
          </a:prstGeom>
          <a:noFill/>
        </p:spPr>
        <p:txBody>
          <a:bodyPr wrap="square" rtlCol="0">
            <a:spAutoFit/>
          </a:bodyPr>
          <a:lstStyle/>
          <a:p>
            <a:r>
              <a:rPr lang="en-US" sz="1600" dirty="0"/>
              <a:t>Figure: Original perceptron architecture </a:t>
            </a:r>
          </a:p>
        </p:txBody>
      </p:sp>
    </p:spTree>
    <p:extLst>
      <p:ext uri="{BB962C8B-B14F-4D97-AF65-F5344CB8AC3E}">
        <p14:creationId xmlns:p14="http://schemas.microsoft.com/office/powerpoint/2010/main" val="2671463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EE3BD64-73B8-8517-4734-571093F5126E}"/>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MSF Overview</a:t>
            </a:r>
            <a:endParaRPr lang="en-US" sz="4000" dirty="0"/>
          </a:p>
        </p:txBody>
      </p:sp>
      <p:pic>
        <p:nvPicPr>
          <p:cNvPr id="7" name="Picture 6" descr="A diagram of a computer&#10;&#10;Description automatically generated">
            <a:extLst>
              <a:ext uri="{FF2B5EF4-FFF2-40B4-BE49-F238E27FC236}">
                <a16:creationId xmlns:a16="http://schemas.microsoft.com/office/drawing/2014/main" id="{7524FA11-D467-4D22-CDE3-B16AB55889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1504" y="3156155"/>
            <a:ext cx="5490496" cy="2745248"/>
          </a:xfrm>
          <a:prstGeom prst="rect">
            <a:avLst/>
          </a:prstGeom>
        </p:spPr>
      </p:pic>
      <p:sp>
        <p:nvSpPr>
          <p:cNvPr id="8" name="TextBox 7">
            <a:extLst>
              <a:ext uri="{FF2B5EF4-FFF2-40B4-BE49-F238E27FC236}">
                <a16:creationId xmlns:a16="http://schemas.microsoft.com/office/drawing/2014/main" id="{D0C57780-D80E-0AE8-DD58-85137911DB56}"/>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b="1" dirty="0"/>
              <a:t>M</a:t>
            </a:r>
            <a:r>
              <a:rPr lang="en-US" sz="2000" dirty="0"/>
              <a:t>emory-</a:t>
            </a:r>
            <a:r>
              <a:rPr lang="en-US" sz="2000" b="1" dirty="0"/>
              <a:t>S</a:t>
            </a:r>
            <a:r>
              <a:rPr lang="en-US" sz="2000" dirty="0"/>
              <a:t>ide perceptron-based prefetch </a:t>
            </a:r>
            <a:r>
              <a:rPr lang="en-US" sz="2000" b="1" dirty="0"/>
              <a:t>F</a:t>
            </a:r>
            <a:r>
              <a:rPr lang="en-US" sz="2000" dirty="0"/>
              <a:t>iltering</a:t>
            </a:r>
          </a:p>
          <a:p>
            <a:pPr marL="285750" indent="-228600">
              <a:lnSpc>
                <a:spcPct val="90000"/>
              </a:lnSpc>
              <a:spcAft>
                <a:spcPts val="600"/>
              </a:spcAft>
              <a:buFont typeface="Arial" panose="020B0604020202020204" pitchFamily="34" charset="0"/>
              <a:buChar char="•"/>
            </a:pPr>
            <a:r>
              <a:rPr lang="en-US" sz="2000" dirty="0"/>
              <a:t>The Prefetch Analyzer Module (</a:t>
            </a:r>
            <a:r>
              <a:rPr lang="en-US" sz="2000" b="1" dirty="0">
                <a:solidFill>
                  <a:schemeClr val="accent5">
                    <a:lumMod val="60000"/>
                    <a:lumOff val="40000"/>
                  </a:schemeClr>
                </a:solidFill>
              </a:rPr>
              <a:t>PAM</a:t>
            </a:r>
            <a:r>
              <a:rPr lang="en-US" sz="2000" dirty="0"/>
              <a:t>) is placed in the Memory Controller</a:t>
            </a:r>
          </a:p>
          <a:p>
            <a:pPr marL="742950" lvl="1" indent="-228600">
              <a:lnSpc>
                <a:spcPct val="90000"/>
              </a:lnSpc>
              <a:spcAft>
                <a:spcPts val="600"/>
              </a:spcAft>
              <a:buFont typeface="Arial" panose="020B0604020202020204" pitchFamily="34" charset="0"/>
              <a:buChar char="•"/>
            </a:pPr>
            <a:r>
              <a:rPr lang="en-US" sz="2000" dirty="0"/>
              <a:t>Oversees all Read memory requests</a:t>
            </a:r>
          </a:p>
          <a:p>
            <a:pPr marL="742950" lvl="1" indent="-228600">
              <a:lnSpc>
                <a:spcPct val="90000"/>
              </a:lnSpc>
              <a:spcAft>
                <a:spcPts val="600"/>
              </a:spcAft>
              <a:buFont typeface="Arial" panose="020B0604020202020204" pitchFamily="34" charset="0"/>
              <a:buChar char="•"/>
            </a:pPr>
            <a:r>
              <a:rPr lang="en-US" sz="2000" dirty="0"/>
              <a:t>Pulls features together</a:t>
            </a:r>
          </a:p>
          <a:p>
            <a:pPr marL="742950" lvl="1" indent="-228600">
              <a:lnSpc>
                <a:spcPct val="90000"/>
              </a:lnSpc>
              <a:spcAft>
                <a:spcPts val="600"/>
              </a:spcAft>
              <a:buFont typeface="Arial" panose="020B0604020202020204" pitchFamily="34" charset="0"/>
              <a:buChar char="•"/>
            </a:pPr>
            <a:r>
              <a:rPr lang="en-US" sz="2000" dirty="0"/>
              <a:t>Determines the usefulness of prefetch requests</a:t>
            </a:r>
          </a:p>
          <a:p>
            <a:pPr marL="285750" indent="-228600">
              <a:lnSpc>
                <a:spcPct val="90000"/>
              </a:lnSpc>
              <a:spcAft>
                <a:spcPts val="600"/>
              </a:spcAft>
              <a:buFont typeface="Arial" panose="020B0604020202020204" pitchFamily="34" charset="0"/>
              <a:buChar char="•"/>
            </a:pPr>
            <a:r>
              <a:rPr lang="en-US" sz="2000" dirty="0"/>
              <a:t>Inference is triggered on every prefetch requests</a:t>
            </a:r>
          </a:p>
          <a:p>
            <a:pPr marL="285750" indent="-228600">
              <a:lnSpc>
                <a:spcPct val="90000"/>
              </a:lnSpc>
              <a:spcAft>
                <a:spcPts val="600"/>
              </a:spcAft>
              <a:buFont typeface="Arial" panose="020B0604020202020204" pitchFamily="34" charset="0"/>
              <a:buChar char="•"/>
            </a:pPr>
            <a:r>
              <a:rPr lang="en-US" sz="2000" dirty="0"/>
              <a:t>Training is triggered on LLC feedbacks </a:t>
            </a:r>
          </a:p>
          <a:p>
            <a:pPr marL="285750" indent="-228600">
              <a:lnSpc>
                <a:spcPct val="90000"/>
              </a:lnSpc>
              <a:spcAft>
                <a:spcPts val="600"/>
              </a:spcAft>
              <a:buFont typeface="Arial" panose="020B0604020202020204" pitchFamily="34" charset="0"/>
              <a:buChar char="•"/>
            </a:pPr>
            <a:endParaRPr lang="en-US" sz="2000" dirty="0"/>
          </a:p>
        </p:txBody>
      </p:sp>
      <p:sp>
        <p:nvSpPr>
          <p:cNvPr id="9" name="TextBox 8">
            <a:extLst>
              <a:ext uri="{FF2B5EF4-FFF2-40B4-BE49-F238E27FC236}">
                <a16:creationId xmlns:a16="http://schemas.microsoft.com/office/drawing/2014/main" id="{CCDF14D4-DB2F-9803-3412-C80725115BAC}"/>
              </a:ext>
            </a:extLst>
          </p:cNvPr>
          <p:cNvSpPr txBox="1"/>
          <p:nvPr/>
        </p:nvSpPr>
        <p:spPr>
          <a:xfrm>
            <a:off x="8532238" y="5820043"/>
            <a:ext cx="4012692" cy="338554"/>
          </a:xfrm>
          <a:prstGeom prst="rect">
            <a:avLst/>
          </a:prstGeom>
          <a:noFill/>
        </p:spPr>
        <p:txBody>
          <a:bodyPr wrap="square" rtlCol="0">
            <a:spAutoFit/>
          </a:bodyPr>
          <a:lstStyle/>
          <a:p>
            <a:r>
              <a:rPr lang="en-US" sz="1600" dirty="0"/>
              <a:t>Figure: Overview of MSF</a:t>
            </a:r>
          </a:p>
        </p:txBody>
      </p:sp>
      <p:sp>
        <p:nvSpPr>
          <p:cNvPr id="10" name="Rectangle 9">
            <a:extLst>
              <a:ext uri="{FF2B5EF4-FFF2-40B4-BE49-F238E27FC236}">
                <a16:creationId xmlns:a16="http://schemas.microsoft.com/office/drawing/2014/main" id="{374483A8-C72F-CC2E-EB42-8CFC180AC3FE}"/>
              </a:ext>
            </a:extLst>
          </p:cNvPr>
          <p:cNvSpPr/>
          <p:nvPr/>
        </p:nvSpPr>
        <p:spPr>
          <a:xfrm>
            <a:off x="8532238" y="4886631"/>
            <a:ext cx="896897" cy="486051"/>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224818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468F320-804B-627B-FCEF-855AE34CF9FA}"/>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Prefetch Analyzer Module</a:t>
            </a:r>
            <a:endParaRPr lang="en-US" sz="4000" dirty="0"/>
          </a:p>
        </p:txBody>
      </p:sp>
      <p:sp>
        <p:nvSpPr>
          <p:cNvPr id="6" name="TextBox 5">
            <a:extLst>
              <a:ext uri="{FF2B5EF4-FFF2-40B4-BE49-F238E27FC236}">
                <a16:creationId xmlns:a16="http://schemas.microsoft.com/office/drawing/2014/main" id="{54D7FB43-05A8-7F25-1121-22FA2FEC9772}"/>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endParaRPr lang="en-US" sz="2000" dirty="0"/>
          </a:p>
        </p:txBody>
      </p:sp>
      <p:pic>
        <p:nvPicPr>
          <p:cNvPr id="8" name="Picture 7" descr="A diagram of a software&#10;&#10;Description automatically generated">
            <a:extLst>
              <a:ext uri="{FF2B5EF4-FFF2-40B4-BE49-F238E27FC236}">
                <a16:creationId xmlns:a16="http://schemas.microsoft.com/office/drawing/2014/main" id="{B5EDFA05-F042-5258-A843-556C66B8F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1207" y="2211006"/>
            <a:ext cx="4167034" cy="3544961"/>
          </a:xfrm>
          <a:prstGeom prst="rect">
            <a:avLst/>
          </a:prstGeom>
        </p:spPr>
      </p:pic>
      <p:sp>
        <p:nvSpPr>
          <p:cNvPr id="9" name="TextBox 8">
            <a:extLst>
              <a:ext uri="{FF2B5EF4-FFF2-40B4-BE49-F238E27FC236}">
                <a16:creationId xmlns:a16="http://schemas.microsoft.com/office/drawing/2014/main" id="{8DB845C9-B00F-2FCD-79AE-A4575C33878F}"/>
              </a:ext>
            </a:extLst>
          </p:cNvPr>
          <p:cNvSpPr txBox="1"/>
          <p:nvPr/>
        </p:nvSpPr>
        <p:spPr>
          <a:xfrm>
            <a:off x="8125206" y="5801721"/>
            <a:ext cx="4012692" cy="338554"/>
          </a:xfrm>
          <a:prstGeom prst="rect">
            <a:avLst/>
          </a:prstGeom>
          <a:noFill/>
        </p:spPr>
        <p:txBody>
          <a:bodyPr wrap="square" rtlCol="0">
            <a:spAutoFit/>
          </a:bodyPr>
          <a:lstStyle/>
          <a:p>
            <a:r>
              <a:rPr lang="en-US" sz="1600" dirty="0"/>
              <a:t>Figure: Prefetch Analyzer Module design</a:t>
            </a:r>
          </a:p>
        </p:txBody>
      </p:sp>
      <p:sp>
        <p:nvSpPr>
          <p:cNvPr id="10" name="TextBox 9">
            <a:extLst>
              <a:ext uri="{FF2B5EF4-FFF2-40B4-BE49-F238E27FC236}">
                <a16:creationId xmlns:a16="http://schemas.microsoft.com/office/drawing/2014/main" id="{0FD6AF72-A790-4DE7-688B-E675E0B0A437}"/>
              </a:ext>
            </a:extLst>
          </p:cNvPr>
          <p:cNvSpPr txBox="1"/>
          <p:nvPr/>
        </p:nvSpPr>
        <p:spPr>
          <a:xfrm>
            <a:off x="484632" y="19790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Core components of PAM:</a:t>
            </a:r>
          </a:p>
          <a:p>
            <a:pPr marL="742950" lvl="1" indent="-228600">
              <a:lnSpc>
                <a:spcPct val="90000"/>
              </a:lnSpc>
              <a:spcAft>
                <a:spcPts val="600"/>
              </a:spcAft>
              <a:buFont typeface="Arial" panose="020B0604020202020204" pitchFamily="34" charset="0"/>
              <a:buChar char="•"/>
            </a:pPr>
            <a:r>
              <a:rPr lang="en-US" sz="2000" b="1" dirty="0"/>
              <a:t>Feature Collector</a:t>
            </a:r>
            <a:r>
              <a:rPr lang="en-US" sz="2000" dirty="0"/>
              <a:t>: gathers all the metadata </a:t>
            </a:r>
          </a:p>
          <a:p>
            <a:pPr marL="742950" lvl="1" indent="-228600">
              <a:lnSpc>
                <a:spcPct val="90000"/>
              </a:lnSpc>
              <a:spcAft>
                <a:spcPts val="600"/>
              </a:spcAft>
              <a:buFont typeface="Arial" panose="020B0604020202020204" pitchFamily="34" charset="0"/>
              <a:buChar char="•"/>
            </a:pPr>
            <a:endParaRPr lang="en-US" sz="2000" dirty="0"/>
          </a:p>
        </p:txBody>
      </p:sp>
      <p:sp>
        <p:nvSpPr>
          <p:cNvPr id="11" name="Rectangle 10">
            <a:extLst>
              <a:ext uri="{FF2B5EF4-FFF2-40B4-BE49-F238E27FC236}">
                <a16:creationId xmlns:a16="http://schemas.microsoft.com/office/drawing/2014/main" id="{80A21DD2-3DAF-F373-1453-99DD08D9226C}"/>
              </a:ext>
            </a:extLst>
          </p:cNvPr>
          <p:cNvSpPr/>
          <p:nvPr/>
        </p:nvSpPr>
        <p:spPr>
          <a:xfrm>
            <a:off x="8502741" y="2861187"/>
            <a:ext cx="1378678" cy="324466"/>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2068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468F320-804B-627B-FCEF-855AE34CF9FA}"/>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Prefetch Analyzer Module</a:t>
            </a:r>
            <a:endParaRPr lang="en-US" sz="4000" dirty="0"/>
          </a:p>
        </p:txBody>
      </p:sp>
      <p:sp>
        <p:nvSpPr>
          <p:cNvPr id="6" name="TextBox 5">
            <a:extLst>
              <a:ext uri="{FF2B5EF4-FFF2-40B4-BE49-F238E27FC236}">
                <a16:creationId xmlns:a16="http://schemas.microsoft.com/office/drawing/2014/main" id="{54D7FB43-05A8-7F25-1121-22FA2FEC9772}"/>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endParaRPr lang="en-US" sz="2000" dirty="0"/>
          </a:p>
        </p:txBody>
      </p:sp>
      <p:pic>
        <p:nvPicPr>
          <p:cNvPr id="8" name="Picture 7" descr="A diagram of a software&#10;&#10;Description automatically generated">
            <a:extLst>
              <a:ext uri="{FF2B5EF4-FFF2-40B4-BE49-F238E27FC236}">
                <a16:creationId xmlns:a16="http://schemas.microsoft.com/office/drawing/2014/main" id="{B5EDFA05-F042-5258-A843-556C66B8F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1207" y="2211006"/>
            <a:ext cx="4167034" cy="3544961"/>
          </a:xfrm>
          <a:prstGeom prst="rect">
            <a:avLst/>
          </a:prstGeom>
        </p:spPr>
      </p:pic>
      <p:sp>
        <p:nvSpPr>
          <p:cNvPr id="9" name="TextBox 8">
            <a:extLst>
              <a:ext uri="{FF2B5EF4-FFF2-40B4-BE49-F238E27FC236}">
                <a16:creationId xmlns:a16="http://schemas.microsoft.com/office/drawing/2014/main" id="{8DB845C9-B00F-2FCD-79AE-A4575C33878F}"/>
              </a:ext>
            </a:extLst>
          </p:cNvPr>
          <p:cNvSpPr txBox="1"/>
          <p:nvPr/>
        </p:nvSpPr>
        <p:spPr>
          <a:xfrm>
            <a:off x="8125206" y="5801721"/>
            <a:ext cx="4012692" cy="338554"/>
          </a:xfrm>
          <a:prstGeom prst="rect">
            <a:avLst/>
          </a:prstGeom>
          <a:noFill/>
        </p:spPr>
        <p:txBody>
          <a:bodyPr wrap="square" rtlCol="0">
            <a:spAutoFit/>
          </a:bodyPr>
          <a:lstStyle/>
          <a:p>
            <a:r>
              <a:rPr lang="en-US" sz="1600" dirty="0"/>
              <a:t>Figure: Prefetch Analyzer Module design</a:t>
            </a:r>
          </a:p>
        </p:txBody>
      </p:sp>
      <p:sp>
        <p:nvSpPr>
          <p:cNvPr id="10" name="TextBox 9">
            <a:extLst>
              <a:ext uri="{FF2B5EF4-FFF2-40B4-BE49-F238E27FC236}">
                <a16:creationId xmlns:a16="http://schemas.microsoft.com/office/drawing/2014/main" id="{0FD6AF72-A790-4DE7-688B-E675E0B0A437}"/>
              </a:ext>
            </a:extLst>
          </p:cNvPr>
          <p:cNvSpPr txBox="1"/>
          <p:nvPr/>
        </p:nvSpPr>
        <p:spPr>
          <a:xfrm>
            <a:off x="484632" y="19790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Core components of PAM:</a:t>
            </a:r>
          </a:p>
          <a:p>
            <a:pPr marL="742950" lvl="1" indent="-228600">
              <a:lnSpc>
                <a:spcPct val="90000"/>
              </a:lnSpc>
              <a:spcAft>
                <a:spcPts val="600"/>
              </a:spcAft>
              <a:buFont typeface="Arial" panose="020B0604020202020204" pitchFamily="34" charset="0"/>
              <a:buChar char="•"/>
            </a:pPr>
            <a:r>
              <a:rPr lang="en-US" sz="2000" b="1" dirty="0"/>
              <a:t>Feature Collector</a:t>
            </a:r>
            <a:r>
              <a:rPr lang="en-US" sz="2000" dirty="0"/>
              <a:t>: gathers all the metadata </a:t>
            </a:r>
          </a:p>
          <a:p>
            <a:pPr marL="742950" lvl="1" indent="-228600">
              <a:lnSpc>
                <a:spcPct val="90000"/>
              </a:lnSpc>
              <a:spcAft>
                <a:spcPts val="600"/>
              </a:spcAft>
              <a:buFont typeface="Arial" panose="020B0604020202020204" pitchFamily="34" charset="0"/>
              <a:buChar char="•"/>
            </a:pPr>
            <a:r>
              <a:rPr lang="en-US" sz="2000" b="1" dirty="0"/>
              <a:t>Weight Table</a:t>
            </a:r>
            <a:r>
              <a:rPr lang="en-US" sz="2000" dirty="0"/>
              <a:t>: contains all features’ weights</a:t>
            </a:r>
          </a:p>
          <a:p>
            <a:pPr marL="742950" lvl="1" indent="-228600">
              <a:lnSpc>
                <a:spcPct val="90000"/>
              </a:lnSpc>
              <a:spcAft>
                <a:spcPts val="600"/>
              </a:spcAft>
              <a:buFont typeface="Arial" panose="020B0604020202020204" pitchFamily="34" charset="0"/>
              <a:buChar char="•"/>
            </a:pPr>
            <a:endParaRPr lang="en-US" sz="2000" dirty="0"/>
          </a:p>
        </p:txBody>
      </p:sp>
      <p:sp>
        <p:nvSpPr>
          <p:cNvPr id="11" name="Rectangle 10">
            <a:extLst>
              <a:ext uri="{FF2B5EF4-FFF2-40B4-BE49-F238E27FC236}">
                <a16:creationId xmlns:a16="http://schemas.microsoft.com/office/drawing/2014/main" id="{80A21DD2-3DAF-F373-1453-99DD08D9226C}"/>
              </a:ext>
            </a:extLst>
          </p:cNvPr>
          <p:cNvSpPr/>
          <p:nvPr/>
        </p:nvSpPr>
        <p:spPr>
          <a:xfrm>
            <a:off x="8104166" y="3308072"/>
            <a:ext cx="2179786" cy="1273759"/>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622146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468F320-804B-627B-FCEF-855AE34CF9FA}"/>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Prefetch Analyzer Module</a:t>
            </a:r>
            <a:endParaRPr lang="en-US" sz="4000" dirty="0"/>
          </a:p>
        </p:txBody>
      </p:sp>
      <p:sp>
        <p:nvSpPr>
          <p:cNvPr id="6" name="TextBox 5">
            <a:extLst>
              <a:ext uri="{FF2B5EF4-FFF2-40B4-BE49-F238E27FC236}">
                <a16:creationId xmlns:a16="http://schemas.microsoft.com/office/drawing/2014/main" id="{54D7FB43-05A8-7F25-1121-22FA2FEC9772}"/>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endParaRPr lang="en-US" sz="2000" dirty="0"/>
          </a:p>
        </p:txBody>
      </p:sp>
      <p:pic>
        <p:nvPicPr>
          <p:cNvPr id="8" name="Picture 7" descr="A diagram of a software&#10;&#10;Description automatically generated">
            <a:extLst>
              <a:ext uri="{FF2B5EF4-FFF2-40B4-BE49-F238E27FC236}">
                <a16:creationId xmlns:a16="http://schemas.microsoft.com/office/drawing/2014/main" id="{B5EDFA05-F042-5258-A843-556C66B8F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1207" y="2211006"/>
            <a:ext cx="4167034" cy="3544961"/>
          </a:xfrm>
          <a:prstGeom prst="rect">
            <a:avLst/>
          </a:prstGeom>
        </p:spPr>
      </p:pic>
      <p:sp>
        <p:nvSpPr>
          <p:cNvPr id="9" name="TextBox 8">
            <a:extLst>
              <a:ext uri="{FF2B5EF4-FFF2-40B4-BE49-F238E27FC236}">
                <a16:creationId xmlns:a16="http://schemas.microsoft.com/office/drawing/2014/main" id="{8DB845C9-B00F-2FCD-79AE-A4575C33878F}"/>
              </a:ext>
            </a:extLst>
          </p:cNvPr>
          <p:cNvSpPr txBox="1"/>
          <p:nvPr/>
        </p:nvSpPr>
        <p:spPr>
          <a:xfrm>
            <a:off x="8125206" y="5801721"/>
            <a:ext cx="4012692" cy="338554"/>
          </a:xfrm>
          <a:prstGeom prst="rect">
            <a:avLst/>
          </a:prstGeom>
          <a:noFill/>
        </p:spPr>
        <p:txBody>
          <a:bodyPr wrap="square" rtlCol="0">
            <a:spAutoFit/>
          </a:bodyPr>
          <a:lstStyle/>
          <a:p>
            <a:r>
              <a:rPr lang="en-US" sz="1600" dirty="0"/>
              <a:t>Figure: Prefetch Analyzer Module design</a:t>
            </a:r>
          </a:p>
        </p:txBody>
      </p:sp>
      <p:sp>
        <p:nvSpPr>
          <p:cNvPr id="10" name="TextBox 9">
            <a:extLst>
              <a:ext uri="{FF2B5EF4-FFF2-40B4-BE49-F238E27FC236}">
                <a16:creationId xmlns:a16="http://schemas.microsoft.com/office/drawing/2014/main" id="{0FD6AF72-A790-4DE7-688B-E675E0B0A437}"/>
              </a:ext>
            </a:extLst>
          </p:cNvPr>
          <p:cNvSpPr txBox="1"/>
          <p:nvPr/>
        </p:nvSpPr>
        <p:spPr>
          <a:xfrm>
            <a:off x="484632" y="19790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Core components of PAM:</a:t>
            </a:r>
          </a:p>
          <a:p>
            <a:pPr marL="742950" lvl="1" indent="-228600">
              <a:lnSpc>
                <a:spcPct val="90000"/>
              </a:lnSpc>
              <a:spcAft>
                <a:spcPts val="600"/>
              </a:spcAft>
              <a:buFont typeface="Arial" panose="020B0604020202020204" pitchFamily="34" charset="0"/>
              <a:buChar char="•"/>
            </a:pPr>
            <a:r>
              <a:rPr lang="en-US" sz="2000" b="1" dirty="0"/>
              <a:t>Feature Collector</a:t>
            </a:r>
            <a:r>
              <a:rPr lang="en-US" sz="2000" dirty="0"/>
              <a:t>: gathers all the metadata </a:t>
            </a:r>
          </a:p>
          <a:p>
            <a:pPr marL="742950" lvl="1" indent="-228600">
              <a:lnSpc>
                <a:spcPct val="90000"/>
              </a:lnSpc>
              <a:spcAft>
                <a:spcPts val="600"/>
              </a:spcAft>
              <a:buFont typeface="Arial" panose="020B0604020202020204" pitchFamily="34" charset="0"/>
              <a:buChar char="•"/>
            </a:pPr>
            <a:r>
              <a:rPr lang="en-US" sz="2000" b="1" dirty="0"/>
              <a:t>Weight Table</a:t>
            </a:r>
            <a:r>
              <a:rPr lang="en-US" sz="2000" dirty="0"/>
              <a:t>: contains all features’ weights</a:t>
            </a:r>
          </a:p>
          <a:p>
            <a:pPr marL="742950" lvl="1" indent="-228600">
              <a:lnSpc>
                <a:spcPct val="90000"/>
              </a:lnSpc>
              <a:spcAft>
                <a:spcPts val="600"/>
              </a:spcAft>
              <a:buFont typeface="Arial" panose="020B0604020202020204" pitchFamily="34" charset="0"/>
              <a:buChar char="•"/>
            </a:pPr>
            <a:r>
              <a:rPr lang="en-US" sz="2000" b="1" dirty="0"/>
              <a:t>Adder</a:t>
            </a:r>
            <a:r>
              <a:rPr lang="en-US" sz="2000" dirty="0"/>
              <a:t>: accumulates all indexed weights</a:t>
            </a:r>
          </a:p>
          <a:p>
            <a:pPr marL="742950" lvl="1" indent="-228600">
              <a:lnSpc>
                <a:spcPct val="90000"/>
              </a:lnSpc>
              <a:spcAft>
                <a:spcPts val="600"/>
              </a:spcAft>
              <a:buFont typeface="Arial" panose="020B0604020202020204" pitchFamily="34" charset="0"/>
              <a:buChar char="•"/>
            </a:pPr>
            <a:r>
              <a:rPr lang="en-US" sz="2000" b="1" dirty="0"/>
              <a:t>Activator</a:t>
            </a:r>
            <a:r>
              <a:rPr lang="en-US" sz="2000" dirty="0"/>
              <a:t>: checks if sum passes threshold</a:t>
            </a:r>
          </a:p>
          <a:p>
            <a:pPr marL="742950" lvl="1" indent="-228600">
              <a:lnSpc>
                <a:spcPct val="90000"/>
              </a:lnSpc>
              <a:spcAft>
                <a:spcPts val="600"/>
              </a:spcAft>
              <a:buFont typeface="Arial" panose="020B0604020202020204" pitchFamily="34" charset="0"/>
              <a:buChar char="•"/>
            </a:pPr>
            <a:endParaRPr lang="en-US" sz="2000" dirty="0"/>
          </a:p>
        </p:txBody>
      </p:sp>
      <p:sp>
        <p:nvSpPr>
          <p:cNvPr id="11" name="Rectangle 10">
            <a:extLst>
              <a:ext uri="{FF2B5EF4-FFF2-40B4-BE49-F238E27FC236}">
                <a16:creationId xmlns:a16="http://schemas.microsoft.com/office/drawing/2014/main" id="{80A21DD2-3DAF-F373-1453-99DD08D9226C}"/>
              </a:ext>
            </a:extLst>
          </p:cNvPr>
          <p:cNvSpPr/>
          <p:nvPr/>
        </p:nvSpPr>
        <p:spPr>
          <a:xfrm>
            <a:off x="8760542" y="4581833"/>
            <a:ext cx="1307002" cy="1113038"/>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263690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468F320-804B-627B-FCEF-855AE34CF9FA}"/>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Prefetch Analyzer Module</a:t>
            </a:r>
            <a:endParaRPr lang="en-US" sz="4000" dirty="0"/>
          </a:p>
        </p:txBody>
      </p:sp>
      <p:sp>
        <p:nvSpPr>
          <p:cNvPr id="6" name="TextBox 5">
            <a:extLst>
              <a:ext uri="{FF2B5EF4-FFF2-40B4-BE49-F238E27FC236}">
                <a16:creationId xmlns:a16="http://schemas.microsoft.com/office/drawing/2014/main" id="{54D7FB43-05A8-7F25-1121-22FA2FEC9772}"/>
              </a:ext>
            </a:extLst>
          </p:cNvPr>
          <p:cNvSpPr txBox="1"/>
          <p:nvPr/>
        </p:nvSpPr>
        <p:spPr>
          <a:xfrm>
            <a:off x="332232" y="1826698"/>
            <a:ext cx="9799320"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endParaRPr lang="en-US" sz="2000" dirty="0"/>
          </a:p>
        </p:txBody>
      </p:sp>
      <p:pic>
        <p:nvPicPr>
          <p:cNvPr id="8" name="Picture 7" descr="A diagram of a software&#10;&#10;Description automatically generated">
            <a:extLst>
              <a:ext uri="{FF2B5EF4-FFF2-40B4-BE49-F238E27FC236}">
                <a16:creationId xmlns:a16="http://schemas.microsoft.com/office/drawing/2014/main" id="{B5EDFA05-F042-5258-A843-556C66B8F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1207" y="2211006"/>
            <a:ext cx="4167034" cy="3544961"/>
          </a:xfrm>
          <a:prstGeom prst="rect">
            <a:avLst/>
          </a:prstGeom>
        </p:spPr>
      </p:pic>
      <p:sp>
        <p:nvSpPr>
          <p:cNvPr id="9" name="TextBox 8">
            <a:extLst>
              <a:ext uri="{FF2B5EF4-FFF2-40B4-BE49-F238E27FC236}">
                <a16:creationId xmlns:a16="http://schemas.microsoft.com/office/drawing/2014/main" id="{8DB845C9-B00F-2FCD-79AE-A4575C33878F}"/>
              </a:ext>
            </a:extLst>
          </p:cNvPr>
          <p:cNvSpPr txBox="1"/>
          <p:nvPr/>
        </p:nvSpPr>
        <p:spPr>
          <a:xfrm>
            <a:off x="8125206" y="5801721"/>
            <a:ext cx="4012692" cy="338554"/>
          </a:xfrm>
          <a:prstGeom prst="rect">
            <a:avLst/>
          </a:prstGeom>
          <a:noFill/>
        </p:spPr>
        <p:txBody>
          <a:bodyPr wrap="square" rtlCol="0">
            <a:spAutoFit/>
          </a:bodyPr>
          <a:lstStyle/>
          <a:p>
            <a:r>
              <a:rPr lang="en-US" sz="1600" dirty="0"/>
              <a:t>Figure: Prefetch Analyzer Module design</a:t>
            </a:r>
          </a:p>
        </p:txBody>
      </p:sp>
      <p:sp>
        <p:nvSpPr>
          <p:cNvPr id="10" name="TextBox 9">
            <a:extLst>
              <a:ext uri="{FF2B5EF4-FFF2-40B4-BE49-F238E27FC236}">
                <a16:creationId xmlns:a16="http://schemas.microsoft.com/office/drawing/2014/main" id="{0FD6AF72-A790-4DE7-688B-E675E0B0A437}"/>
              </a:ext>
            </a:extLst>
          </p:cNvPr>
          <p:cNvSpPr txBox="1"/>
          <p:nvPr/>
        </p:nvSpPr>
        <p:spPr>
          <a:xfrm>
            <a:off x="484632" y="1979098"/>
            <a:ext cx="7381174"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Core components of PAM:</a:t>
            </a:r>
          </a:p>
          <a:p>
            <a:pPr marL="742950" lvl="1" indent="-228600">
              <a:lnSpc>
                <a:spcPct val="90000"/>
              </a:lnSpc>
              <a:spcAft>
                <a:spcPts val="600"/>
              </a:spcAft>
              <a:buFont typeface="Arial" panose="020B0604020202020204" pitchFamily="34" charset="0"/>
              <a:buChar char="•"/>
            </a:pPr>
            <a:r>
              <a:rPr lang="en-US" sz="2000" b="1" dirty="0"/>
              <a:t>Feature Collector</a:t>
            </a:r>
            <a:r>
              <a:rPr lang="en-US" sz="2000" dirty="0"/>
              <a:t>: gathers all the metadata </a:t>
            </a:r>
          </a:p>
          <a:p>
            <a:pPr marL="742950" lvl="1" indent="-228600">
              <a:lnSpc>
                <a:spcPct val="90000"/>
              </a:lnSpc>
              <a:spcAft>
                <a:spcPts val="600"/>
              </a:spcAft>
              <a:buFont typeface="Arial" panose="020B0604020202020204" pitchFamily="34" charset="0"/>
              <a:buChar char="•"/>
            </a:pPr>
            <a:r>
              <a:rPr lang="en-US" sz="2000" b="1" dirty="0"/>
              <a:t>Weight Table</a:t>
            </a:r>
            <a:r>
              <a:rPr lang="en-US" sz="2000" dirty="0"/>
              <a:t>: contains all features’ weights</a:t>
            </a:r>
          </a:p>
          <a:p>
            <a:pPr marL="742950" lvl="1" indent="-228600">
              <a:lnSpc>
                <a:spcPct val="90000"/>
              </a:lnSpc>
              <a:spcAft>
                <a:spcPts val="600"/>
              </a:spcAft>
              <a:buFont typeface="Arial" panose="020B0604020202020204" pitchFamily="34" charset="0"/>
              <a:buChar char="•"/>
            </a:pPr>
            <a:r>
              <a:rPr lang="en-US" sz="2000" b="1" dirty="0"/>
              <a:t>Adder</a:t>
            </a:r>
            <a:r>
              <a:rPr lang="en-US" sz="2000" dirty="0"/>
              <a:t>: accumulates all indexed weights</a:t>
            </a:r>
          </a:p>
          <a:p>
            <a:pPr marL="742950" lvl="1" indent="-228600">
              <a:lnSpc>
                <a:spcPct val="90000"/>
              </a:lnSpc>
              <a:spcAft>
                <a:spcPts val="600"/>
              </a:spcAft>
              <a:buFont typeface="Arial" panose="020B0604020202020204" pitchFamily="34" charset="0"/>
              <a:buChar char="•"/>
            </a:pPr>
            <a:r>
              <a:rPr lang="en-US" sz="2000" b="1" dirty="0"/>
              <a:t>Activator</a:t>
            </a:r>
            <a:r>
              <a:rPr lang="en-US" sz="2000" dirty="0"/>
              <a:t>: checks if sum passes threshold</a:t>
            </a:r>
          </a:p>
          <a:p>
            <a:pPr marL="742950" lvl="1" indent="-228600">
              <a:lnSpc>
                <a:spcPct val="90000"/>
              </a:lnSpc>
              <a:spcAft>
                <a:spcPts val="600"/>
              </a:spcAft>
              <a:buFont typeface="Arial" panose="020B0604020202020204" pitchFamily="34" charset="0"/>
              <a:buChar char="•"/>
            </a:pPr>
            <a:r>
              <a:rPr lang="en-US" sz="2000" b="1" dirty="0"/>
              <a:t>Positive/Negative Table</a:t>
            </a:r>
            <a:r>
              <a:rPr lang="en-US" sz="2000" dirty="0"/>
              <a:t>: holds the metadata of decisions for training opportunities</a:t>
            </a:r>
            <a:endParaRPr lang="en-US" sz="2000" b="1" dirty="0"/>
          </a:p>
          <a:p>
            <a:pPr marL="742950" lvl="1" indent="-228600">
              <a:lnSpc>
                <a:spcPct val="90000"/>
              </a:lnSpc>
              <a:spcAft>
                <a:spcPts val="600"/>
              </a:spcAft>
              <a:buFont typeface="Arial" panose="020B0604020202020204" pitchFamily="34" charset="0"/>
              <a:buChar char="•"/>
            </a:pPr>
            <a:endParaRPr lang="en-US" sz="2000" dirty="0"/>
          </a:p>
        </p:txBody>
      </p:sp>
      <p:sp>
        <p:nvSpPr>
          <p:cNvPr id="11" name="Rectangle 10">
            <a:extLst>
              <a:ext uri="{FF2B5EF4-FFF2-40B4-BE49-F238E27FC236}">
                <a16:creationId xmlns:a16="http://schemas.microsoft.com/office/drawing/2014/main" id="{80A21DD2-3DAF-F373-1453-99DD08D9226C}"/>
              </a:ext>
            </a:extLst>
          </p:cNvPr>
          <p:cNvSpPr/>
          <p:nvPr/>
        </p:nvSpPr>
        <p:spPr>
          <a:xfrm>
            <a:off x="10363200" y="3283973"/>
            <a:ext cx="1344168" cy="2104103"/>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24404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18B8BC5E-49C0-A6A0-00CE-63C229DDD317}"/>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PAM Inference Stage</a:t>
            </a:r>
            <a:endParaRPr lang="en-US" sz="4000" dirty="0"/>
          </a:p>
        </p:txBody>
      </p:sp>
      <p:sp>
        <p:nvSpPr>
          <p:cNvPr id="6" name="TextBox 5">
            <a:extLst>
              <a:ext uri="{FF2B5EF4-FFF2-40B4-BE49-F238E27FC236}">
                <a16:creationId xmlns:a16="http://schemas.microsoft.com/office/drawing/2014/main" id="{6B1497D4-26C8-E001-202F-D7350F9A1105}"/>
              </a:ext>
            </a:extLst>
          </p:cNvPr>
          <p:cNvSpPr txBox="1"/>
          <p:nvPr/>
        </p:nvSpPr>
        <p:spPr>
          <a:xfrm>
            <a:off x="484632" y="1979098"/>
            <a:ext cx="7715472" cy="3483864"/>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There are 2 types of Read requests arriving at Memory Controller:</a:t>
            </a:r>
          </a:p>
          <a:p>
            <a:pPr marL="742950" lvl="1" indent="-228600">
              <a:lnSpc>
                <a:spcPct val="90000"/>
              </a:lnSpc>
              <a:spcAft>
                <a:spcPts val="600"/>
              </a:spcAft>
              <a:buFont typeface="Arial" panose="020B0604020202020204" pitchFamily="34" charset="0"/>
              <a:buChar char="•"/>
            </a:pPr>
            <a:r>
              <a:rPr lang="en-US" sz="2000" dirty="0"/>
              <a:t>Speculative prefetch request</a:t>
            </a:r>
          </a:p>
          <a:p>
            <a:pPr marL="742950" lvl="1" indent="-228600">
              <a:lnSpc>
                <a:spcPct val="90000"/>
              </a:lnSpc>
              <a:spcAft>
                <a:spcPts val="600"/>
              </a:spcAft>
              <a:buFont typeface="Arial" panose="020B0604020202020204" pitchFamily="34" charset="0"/>
              <a:buChar char="•"/>
            </a:pPr>
            <a:r>
              <a:rPr lang="en-US" sz="2000" dirty="0"/>
              <a:t>True demand request</a:t>
            </a:r>
          </a:p>
          <a:p>
            <a:pPr marL="285750" indent="-228600">
              <a:lnSpc>
                <a:spcPct val="90000"/>
              </a:lnSpc>
              <a:spcAft>
                <a:spcPts val="600"/>
              </a:spcAft>
              <a:buFont typeface="Arial" panose="020B0604020202020204" pitchFamily="34" charset="0"/>
              <a:buChar char="•"/>
            </a:pPr>
            <a:r>
              <a:rPr lang="en-US" sz="2000" dirty="0"/>
              <a:t>Inference is triggered on every </a:t>
            </a:r>
            <a:r>
              <a:rPr lang="en-US" sz="2000" u="sng" dirty="0"/>
              <a:t>prefetch requests</a:t>
            </a:r>
            <a:r>
              <a:rPr lang="en-US" sz="2000" dirty="0"/>
              <a:t>:</a:t>
            </a:r>
          </a:p>
          <a:p>
            <a:pPr marL="742950" lvl="1" indent="-228600">
              <a:lnSpc>
                <a:spcPct val="90000"/>
              </a:lnSpc>
              <a:spcAft>
                <a:spcPts val="600"/>
              </a:spcAft>
              <a:buFont typeface="Arial" panose="020B0604020202020204" pitchFamily="34" charset="0"/>
              <a:buChar char="•"/>
            </a:pPr>
            <a:r>
              <a:rPr lang="en-US" sz="2000" dirty="0"/>
              <a:t>PAM analyzes prefetch request to determine usefulness</a:t>
            </a:r>
          </a:p>
          <a:p>
            <a:pPr marL="1200150" lvl="2" indent="-228600">
              <a:lnSpc>
                <a:spcPct val="90000"/>
              </a:lnSpc>
              <a:spcAft>
                <a:spcPts val="600"/>
              </a:spcAft>
              <a:buFont typeface="Arial" panose="020B0604020202020204" pitchFamily="34" charset="0"/>
              <a:buChar char="•"/>
            </a:pPr>
            <a:r>
              <a:rPr lang="en-US" sz="2000" dirty="0"/>
              <a:t>Deemed </a:t>
            </a:r>
            <a:r>
              <a:rPr lang="en-US" sz="2000" b="1" dirty="0">
                <a:solidFill>
                  <a:srgbClr val="C00000"/>
                </a:solidFill>
              </a:rPr>
              <a:t>Unnecessary</a:t>
            </a:r>
            <a:r>
              <a:rPr lang="en-US" sz="2000" dirty="0"/>
              <a:t> : requests are discarded</a:t>
            </a:r>
          </a:p>
          <a:p>
            <a:pPr marL="1200150" lvl="2" indent="-228600">
              <a:lnSpc>
                <a:spcPct val="90000"/>
              </a:lnSpc>
              <a:spcAft>
                <a:spcPts val="600"/>
              </a:spcAft>
              <a:buFont typeface="Arial" panose="020B0604020202020204" pitchFamily="34" charset="0"/>
              <a:buChar char="•"/>
            </a:pPr>
            <a:r>
              <a:rPr lang="en-US" sz="2000" dirty="0"/>
              <a:t>Deemed </a:t>
            </a:r>
            <a:r>
              <a:rPr lang="en-US" sz="2000" b="1" dirty="0">
                <a:solidFill>
                  <a:srgbClr val="00B050"/>
                </a:solidFill>
              </a:rPr>
              <a:t>Useful</a:t>
            </a:r>
            <a:r>
              <a:rPr lang="en-US" sz="2000" dirty="0"/>
              <a:t>: requests proceed as normal </a:t>
            </a:r>
          </a:p>
          <a:p>
            <a:pPr marL="285750" indent="-228600">
              <a:lnSpc>
                <a:spcPct val="90000"/>
              </a:lnSpc>
              <a:spcAft>
                <a:spcPts val="600"/>
              </a:spcAft>
              <a:buFont typeface="Arial" panose="020B0604020202020204" pitchFamily="34" charset="0"/>
              <a:buChar char="•"/>
            </a:pPr>
            <a:r>
              <a:rPr lang="en-US" sz="2000" dirty="0"/>
              <a:t>Metadata values are stored in logging tables 		(Positive/Negative tables)</a:t>
            </a:r>
          </a:p>
          <a:p>
            <a:pPr marL="742950" lvl="1" indent="-228600">
              <a:lnSpc>
                <a:spcPct val="90000"/>
              </a:lnSpc>
              <a:spcAft>
                <a:spcPts val="600"/>
              </a:spcAft>
              <a:buFont typeface="Arial" panose="020B0604020202020204" pitchFamily="34" charset="0"/>
              <a:buChar char="•"/>
            </a:pPr>
            <a:endParaRPr lang="en-US" sz="2000" b="1" dirty="0"/>
          </a:p>
          <a:p>
            <a:pPr marL="742950" lvl="1" indent="-228600">
              <a:lnSpc>
                <a:spcPct val="90000"/>
              </a:lnSpc>
              <a:spcAft>
                <a:spcPts val="600"/>
              </a:spcAft>
              <a:buFont typeface="Arial" panose="020B0604020202020204" pitchFamily="34" charset="0"/>
              <a:buChar char="•"/>
            </a:pPr>
            <a:endParaRPr lang="en-US" sz="2000" dirty="0"/>
          </a:p>
        </p:txBody>
      </p:sp>
      <p:pic>
        <p:nvPicPr>
          <p:cNvPr id="7" name="Picture 6" descr="A diagram of a software&#10;&#10;Description automatically generated">
            <a:extLst>
              <a:ext uri="{FF2B5EF4-FFF2-40B4-BE49-F238E27FC236}">
                <a16:creationId xmlns:a16="http://schemas.microsoft.com/office/drawing/2014/main" id="{1B8E589E-8CAA-3D55-D1B9-10E44BEBB7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936" y="2218818"/>
            <a:ext cx="4095216" cy="3483864"/>
          </a:xfrm>
          <a:prstGeom prst="rect">
            <a:avLst/>
          </a:prstGeom>
        </p:spPr>
      </p:pic>
      <p:sp>
        <p:nvSpPr>
          <p:cNvPr id="8" name="TextBox 7">
            <a:extLst>
              <a:ext uri="{FF2B5EF4-FFF2-40B4-BE49-F238E27FC236}">
                <a16:creationId xmlns:a16="http://schemas.microsoft.com/office/drawing/2014/main" id="{B9DDFD83-5538-5DAC-68F9-A4DA2927070C}"/>
              </a:ext>
            </a:extLst>
          </p:cNvPr>
          <p:cNvSpPr txBox="1"/>
          <p:nvPr/>
        </p:nvSpPr>
        <p:spPr>
          <a:xfrm>
            <a:off x="8125206" y="5801721"/>
            <a:ext cx="4012692" cy="338554"/>
          </a:xfrm>
          <a:prstGeom prst="rect">
            <a:avLst/>
          </a:prstGeom>
          <a:noFill/>
        </p:spPr>
        <p:txBody>
          <a:bodyPr wrap="square" rtlCol="0">
            <a:spAutoFit/>
          </a:bodyPr>
          <a:lstStyle/>
          <a:p>
            <a:r>
              <a:rPr lang="en-US" sz="1600" dirty="0"/>
              <a:t>Figure: Prefetch Analyzer Module design</a:t>
            </a:r>
          </a:p>
        </p:txBody>
      </p:sp>
      <p:sp>
        <p:nvSpPr>
          <p:cNvPr id="9" name="Rectangle 8">
            <a:extLst>
              <a:ext uri="{FF2B5EF4-FFF2-40B4-BE49-F238E27FC236}">
                <a16:creationId xmlns:a16="http://schemas.microsoft.com/office/drawing/2014/main" id="{FF0A7BC6-5963-68DC-C601-BAC4438BA0AD}"/>
              </a:ext>
            </a:extLst>
          </p:cNvPr>
          <p:cNvSpPr/>
          <p:nvPr/>
        </p:nvSpPr>
        <p:spPr>
          <a:xfrm>
            <a:off x="10589342" y="3313471"/>
            <a:ext cx="1344168" cy="2015612"/>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635168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94837C47-1D01-2477-01C0-2C7C4261F5E3}"/>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PAM Training Stage</a:t>
            </a:r>
            <a:endParaRPr lang="en-US" sz="4000" dirty="0"/>
          </a:p>
        </p:txBody>
      </p:sp>
      <p:sp>
        <p:nvSpPr>
          <p:cNvPr id="44" name="TextBox 43">
            <a:extLst>
              <a:ext uri="{FF2B5EF4-FFF2-40B4-BE49-F238E27FC236}">
                <a16:creationId xmlns:a16="http://schemas.microsoft.com/office/drawing/2014/main" id="{9A65A91D-F032-02FB-F57C-65104E90337B}"/>
              </a:ext>
            </a:extLst>
          </p:cNvPr>
          <p:cNvSpPr txBox="1"/>
          <p:nvPr/>
        </p:nvSpPr>
        <p:spPr>
          <a:xfrm>
            <a:off x="484632" y="1979097"/>
            <a:ext cx="7715472" cy="4241619"/>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Deemed </a:t>
            </a:r>
            <a:r>
              <a:rPr lang="en-US" sz="2000" b="1" dirty="0"/>
              <a:t>Useful</a:t>
            </a:r>
            <a:r>
              <a:rPr lang="en-US" sz="2000" dirty="0"/>
              <a:t>: requests proceed as normal</a:t>
            </a:r>
          </a:p>
          <a:p>
            <a:pPr marL="285750" indent="-228600">
              <a:lnSpc>
                <a:spcPct val="90000"/>
              </a:lnSpc>
              <a:spcAft>
                <a:spcPts val="600"/>
              </a:spcAft>
              <a:buFont typeface="Arial" panose="020B0604020202020204" pitchFamily="34" charset="0"/>
              <a:buChar char="•"/>
            </a:pPr>
            <a:r>
              <a:rPr lang="en-US" sz="2000" dirty="0"/>
              <a:t>Two scenarios if a prefetch is approved:</a:t>
            </a:r>
          </a:p>
          <a:p>
            <a:pPr marL="971550" lvl="1" indent="-457200">
              <a:lnSpc>
                <a:spcPct val="90000"/>
              </a:lnSpc>
              <a:spcAft>
                <a:spcPts val="600"/>
              </a:spcAft>
              <a:buFont typeface="+mj-lt"/>
              <a:buAutoNum type="arabicPeriod"/>
            </a:pPr>
            <a:r>
              <a:rPr lang="en-US" sz="2000" b="1" dirty="0">
                <a:solidFill>
                  <a:srgbClr val="00B050"/>
                </a:solidFill>
              </a:rPr>
              <a:t>Good approve decision</a:t>
            </a:r>
            <a:r>
              <a:rPr lang="en-US" sz="2000" dirty="0"/>
              <a:t>: cache-line is used </a:t>
            </a:r>
          </a:p>
          <a:p>
            <a:pPr marL="971550" lvl="1" indent="-457200">
              <a:lnSpc>
                <a:spcPct val="90000"/>
              </a:lnSpc>
              <a:spcAft>
                <a:spcPts val="600"/>
              </a:spcAft>
              <a:buFont typeface="+mj-lt"/>
              <a:buAutoNum type="arabicPeriod"/>
            </a:pPr>
            <a:r>
              <a:rPr lang="en-US" sz="2000" b="1" dirty="0">
                <a:solidFill>
                  <a:srgbClr val="FF0000"/>
                </a:solidFill>
              </a:rPr>
              <a:t>Bad approve decision</a:t>
            </a:r>
            <a:r>
              <a:rPr lang="en-US" sz="2000" dirty="0"/>
              <a:t>: cache-line is never used, evicted</a:t>
            </a:r>
          </a:p>
          <a:p>
            <a:pPr marL="57150">
              <a:lnSpc>
                <a:spcPct val="90000"/>
              </a:lnSpc>
              <a:spcAft>
                <a:spcPts val="600"/>
              </a:spcAft>
            </a:pPr>
            <a:endParaRPr lang="en-US" sz="2000" dirty="0"/>
          </a:p>
          <a:p>
            <a:pPr marL="57150">
              <a:lnSpc>
                <a:spcPct val="90000"/>
              </a:lnSpc>
              <a:spcAft>
                <a:spcPts val="600"/>
              </a:spcAft>
            </a:pPr>
            <a:r>
              <a:rPr lang="en-US" sz="2000" dirty="0">
                <a:sym typeface="Wingdings" pitchFamily="2" charset="2"/>
              </a:rPr>
              <a:t> </a:t>
            </a:r>
            <a:r>
              <a:rPr lang="en-US" sz="2000" dirty="0"/>
              <a:t>LLC sends feedbacks on both scenarios</a:t>
            </a:r>
          </a:p>
          <a:p>
            <a:pPr marL="57150">
              <a:lnSpc>
                <a:spcPct val="90000"/>
              </a:lnSpc>
              <a:spcAft>
                <a:spcPts val="600"/>
              </a:spcAft>
            </a:pPr>
            <a:endParaRPr lang="en-US" sz="2000" dirty="0"/>
          </a:p>
          <a:p>
            <a:pPr marL="57150">
              <a:lnSpc>
                <a:spcPct val="90000"/>
              </a:lnSpc>
              <a:spcAft>
                <a:spcPts val="600"/>
              </a:spcAft>
            </a:pPr>
            <a:r>
              <a:rPr lang="en-US" sz="2000" dirty="0"/>
              <a:t>Training occurs on feedback signals:</a:t>
            </a:r>
          </a:p>
          <a:p>
            <a:pPr marL="400050" indent="-342900">
              <a:lnSpc>
                <a:spcPct val="90000"/>
              </a:lnSpc>
              <a:spcAft>
                <a:spcPts val="600"/>
              </a:spcAft>
              <a:buFont typeface="Arial" panose="020B0604020202020204" pitchFamily="34" charset="0"/>
              <a:buChar char="•"/>
            </a:pPr>
            <a:r>
              <a:rPr lang="en-US" sz="2000" dirty="0"/>
              <a:t>Address of the request is used to retrieve metadata</a:t>
            </a:r>
          </a:p>
          <a:p>
            <a:pPr marL="400050" indent="-342900">
              <a:lnSpc>
                <a:spcPct val="90000"/>
              </a:lnSpc>
              <a:spcAft>
                <a:spcPts val="600"/>
              </a:spcAft>
              <a:buFont typeface="Arial" panose="020B0604020202020204" pitchFamily="34" charset="0"/>
              <a:buChar char="•"/>
            </a:pPr>
            <a:r>
              <a:rPr lang="en-US" sz="2000" dirty="0"/>
              <a:t>Metadata values are hashed into indices to weight tables</a:t>
            </a:r>
          </a:p>
          <a:p>
            <a:pPr marL="400050" indent="-342900">
              <a:lnSpc>
                <a:spcPct val="90000"/>
              </a:lnSpc>
              <a:spcAft>
                <a:spcPts val="600"/>
              </a:spcAft>
              <a:buFont typeface="Arial" panose="020B0604020202020204" pitchFamily="34" charset="0"/>
              <a:buChar char="•"/>
            </a:pPr>
            <a:r>
              <a:rPr lang="en-US" sz="2000" dirty="0"/>
              <a:t>Weights are incremented/decremented </a:t>
            </a:r>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
        <p:nvSpPr>
          <p:cNvPr id="45" name="Rectangle 44">
            <a:extLst>
              <a:ext uri="{FF2B5EF4-FFF2-40B4-BE49-F238E27FC236}">
                <a16:creationId xmlns:a16="http://schemas.microsoft.com/office/drawing/2014/main" id="{8048C0EA-222A-32AF-89DC-D9C01673A693}"/>
              </a:ext>
            </a:extLst>
          </p:cNvPr>
          <p:cNvSpPr/>
          <p:nvPr/>
        </p:nvSpPr>
        <p:spPr>
          <a:xfrm>
            <a:off x="9072036" y="3050049"/>
            <a:ext cx="1772970" cy="37722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Arial"/>
              </a:rPr>
              <a:t>Positive Table</a:t>
            </a:r>
            <a:endParaRPr lang="en-US" dirty="0"/>
          </a:p>
        </p:txBody>
      </p:sp>
      <p:cxnSp>
        <p:nvCxnSpPr>
          <p:cNvPr id="46" name="Straight Arrow Connector 45">
            <a:extLst>
              <a:ext uri="{FF2B5EF4-FFF2-40B4-BE49-F238E27FC236}">
                <a16:creationId xmlns:a16="http://schemas.microsoft.com/office/drawing/2014/main" id="{F76C37F2-79EE-9A56-7751-B18C62530D9C}"/>
              </a:ext>
            </a:extLst>
          </p:cNvPr>
          <p:cNvCxnSpPr/>
          <p:nvPr/>
        </p:nvCxnSpPr>
        <p:spPr>
          <a:xfrm>
            <a:off x="9996223" y="2611156"/>
            <a:ext cx="14591" cy="3955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C752DCE-2306-2EC9-D6C2-BD4CD4703D8C}"/>
              </a:ext>
            </a:extLst>
          </p:cNvPr>
          <p:cNvSpPr txBox="1"/>
          <p:nvPr/>
        </p:nvSpPr>
        <p:spPr>
          <a:xfrm>
            <a:off x="9961973" y="2633653"/>
            <a:ext cx="18725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LLC feedbacks</a:t>
            </a:r>
          </a:p>
        </p:txBody>
      </p:sp>
      <p:sp>
        <p:nvSpPr>
          <p:cNvPr id="48" name="Rectangle 47">
            <a:extLst>
              <a:ext uri="{FF2B5EF4-FFF2-40B4-BE49-F238E27FC236}">
                <a16:creationId xmlns:a16="http://schemas.microsoft.com/office/drawing/2014/main" id="{0B3B5FB6-E71F-E1AF-1DAC-9198CC8F0D76}"/>
              </a:ext>
            </a:extLst>
          </p:cNvPr>
          <p:cNvSpPr/>
          <p:nvPr/>
        </p:nvSpPr>
        <p:spPr>
          <a:xfrm>
            <a:off x="7877339" y="3785083"/>
            <a:ext cx="3954517" cy="2204237"/>
          </a:xfrm>
          <a:prstGeom prst="rect">
            <a:avLst/>
          </a:prstGeom>
          <a:solidFill>
            <a:schemeClr val="bg1">
              <a:lumMod val="95000"/>
            </a:schemeClr>
          </a:solidFill>
          <a:ln>
            <a:solidFill>
              <a:srgbClr val="4472C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7DDB3E3-73DD-3041-485C-67346546ED80}"/>
              </a:ext>
            </a:extLst>
          </p:cNvPr>
          <p:cNvSpPr/>
          <p:nvPr/>
        </p:nvSpPr>
        <p:spPr>
          <a:xfrm>
            <a:off x="8029684" y="3870480"/>
            <a:ext cx="964659" cy="31614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cs typeface="Arial"/>
              </a:rPr>
              <a:t>Feature 1</a:t>
            </a:r>
          </a:p>
        </p:txBody>
      </p:sp>
      <p:sp>
        <p:nvSpPr>
          <p:cNvPr id="50" name="Rectangle 49">
            <a:extLst>
              <a:ext uri="{FF2B5EF4-FFF2-40B4-BE49-F238E27FC236}">
                <a16:creationId xmlns:a16="http://schemas.microsoft.com/office/drawing/2014/main" id="{C057E0F6-6895-B015-8844-2C022BDCC8B4}"/>
              </a:ext>
            </a:extLst>
          </p:cNvPr>
          <p:cNvSpPr/>
          <p:nvPr/>
        </p:nvSpPr>
        <p:spPr>
          <a:xfrm>
            <a:off x="9051087" y="3870479"/>
            <a:ext cx="964659" cy="316149"/>
          </a:xfrm>
          <a:prstGeom prst="rect">
            <a:avLst/>
          </a:prstGeom>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a:cs typeface="Arial"/>
              </a:rPr>
              <a:t>Feature 2</a:t>
            </a:r>
          </a:p>
        </p:txBody>
      </p:sp>
      <p:sp>
        <p:nvSpPr>
          <p:cNvPr id="51" name="Rectangle 50">
            <a:extLst>
              <a:ext uri="{FF2B5EF4-FFF2-40B4-BE49-F238E27FC236}">
                <a16:creationId xmlns:a16="http://schemas.microsoft.com/office/drawing/2014/main" id="{C82F625D-A49D-E28C-6A03-64B0AD201E25}"/>
              </a:ext>
            </a:extLst>
          </p:cNvPr>
          <p:cNvSpPr/>
          <p:nvPr/>
        </p:nvSpPr>
        <p:spPr>
          <a:xfrm>
            <a:off x="10721002" y="3870479"/>
            <a:ext cx="964659" cy="316149"/>
          </a:xfrm>
          <a:prstGeom prst="rect">
            <a:avLst/>
          </a:prstGeom>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a:cs typeface="Arial"/>
              </a:rPr>
              <a:t>Feature N</a:t>
            </a:r>
          </a:p>
        </p:txBody>
      </p:sp>
      <p:sp>
        <p:nvSpPr>
          <p:cNvPr id="52" name="Rectangle: Rounded Corners 111">
            <a:extLst>
              <a:ext uri="{FF2B5EF4-FFF2-40B4-BE49-F238E27FC236}">
                <a16:creationId xmlns:a16="http://schemas.microsoft.com/office/drawing/2014/main" id="{0D33C310-A185-4154-B52F-034234AB96D2}"/>
              </a:ext>
            </a:extLst>
          </p:cNvPr>
          <p:cNvSpPr/>
          <p:nvPr/>
        </p:nvSpPr>
        <p:spPr>
          <a:xfrm>
            <a:off x="8029684" y="4283905"/>
            <a:ext cx="964658" cy="3080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53" name="Rectangle: Rounded Corners 113">
            <a:extLst>
              <a:ext uri="{FF2B5EF4-FFF2-40B4-BE49-F238E27FC236}">
                <a16:creationId xmlns:a16="http://schemas.microsoft.com/office/drawing/2014/main" id="{EE42F66D-9977-D237-FA79-3C381DD88EB8}"/>
              </a:ext>
            </a:extLst>
          </p:cNvPr>
          <p:cNvSpPr/>
          <p:nvPr/>
        </p:nvSpPr>
        <p:spPr>
          <a:xfrm>
            <a:off x="8029683" y="4624372"/>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54" name="Rectangle: Rounded Corners 115">
            <a:extLst>
              <a:ext uri="{FF2B5EF4-FFF2-40B4-BE49-F238E27FC236}">
                <a16:creationId xmlns:a16="http://schemas.microsoft.com/office/drawing/2014/main" id="{DB667B05-E7F6-50A9-8179-CC6753F055EB}"/>
              </a:ext>
            </a:extLst>
          </p:cNvPr>
          <p:cNvSpPr/>
          <p:nvPr/>
        </p:nvSpPr>
        <p:spPr>
          <a:xfrm>
            <a:off x="8029682" y="4964839"/>
            <a:ext cx="964658" cy="308042"/>
          </a:xfrm>
          <a:prstGeom prst="roundRect">
            <a:avLst/>
          </a:prstGeom>
          <a:solidFill>
            <a:srgbClr val="00B050"/>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55" name="Rectangle: Rounded Corners 117">
            <a:extLst>
              <a:ext uri="{FF2B5EF4-FFF2-40B4-BE49-F238E27FC236}">
                <a16:creationId xmlns:a16="http://schemas.microsoft.com/office/drawing/2014/main" id="{8E17EC6F-A077-36B9-AF6C-E40B46F14B9A}"/>
              </a:ext>
            </a:extLst>
          </p:cNvPr>
          <p:cNvSpPr/>
          <p:nvPr/>
        </p:nvSpPr>
        <p:spPr>
          <a:xfrm>
            <a:off x="8029682" y="5572818"/>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56" name="Rectangle: Rounded Corners 119">
            <a:extLst>
              <a:ext uri="{FF2B5EF4-FFF2-40B4-BE49-F238E27FC236}">
                <a16:creationId xmlns:a16="http://schemas.microsoft.com/office/drawing/2014/main" id="{A31F2498-0FEC-9162-C3DE-072A42D454C8}"/>
              </a:ext>
            </a:extLst>
          </p:cNvPr>
          <p:cNvSpPr/>
          <p:nvPr/>
        </p:nvSpPr>
        <p:spPr>
          <a:xfrm>
            <a:off x="9051087" y="4283904"/>
            <a:ext cx="964658" cy="3080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57" name="Rectangle: Rounded Corners 121">
            <a:extLst>
              <a:ext uri="{FF2B5EF4-FFF2-40B4-BE49-F238E27FC236}">
                <a16:creationId xmlns:a16="http://schemas.microsoft.com/office/drawing/2014/main" id="{77CABB27-DFA6-E644-7253-66FDBE40124A}"/>
              </a:ext>
            </a:extLst>
          </p:cNvPr>
          <p:cNvSpPr/>
          <p:nvPr/>
        </p:nvSpPr>
        <p:spPr>
          <a:xfrm>
            <a:off x="9051086" y="4624371"/>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58" name="Rectangle: Rounded Corners 123">
            <a:extLst>
              <a:ext uri="{FF2B5EF4-FFF2-40B4-BE49-F238E27FC236}">
                <a16:creationId xmlns:a16="http://schemas.microsoft.com/office/drawing/2014/main" id="{0B20A127-351F-695E-E9C5-63EA945FC6D2}"/>
              </a:ext>
            </a:extLst>
          </p:cNvPr>
          <p:cNvSpPr/>
          <p:nvPr/>
        </p:nvSpPr>
        <p:spPr>
          <a:xfrm>
            <a:off x="9051085" y="4964838"/>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59" name="Rectangle: Rounded Corners 125">
            <a:extLst>
              <a:ext uri="{FF2B5EF4-FFF2-40B4-BE49-F238E27FC236}">
                <a16:creationId xmlns:a16="http://schemas.microsoft.com/office/drawing/2014/main" id="{192D00E1-13DF-9D04-23A0-F9F2F0DEEBB1}"/>
              </a:ext>
            </a:extLst>
          </p:cNvPr>
          <p:cNvSpPr/>
          <p:nvPr/>
        </p:nvSpPr>
        <p:spPr>
          <a:xfrm>
            <a:off x="9051085" y="5572817"/>
            <a:ext cx="964658" cy="308042"/>
          </a:xfrm>
          <a:prstGeom prst="roundRect">
            <a:avLst/>
          </a:prstGeom>
          <a:solidFill>
            <a:srgbClr val="00B050"/>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60" name="Rectangle: Rounded Corners 127">
            <a:extLst>
              <a:ext uri="{FF2B5EF4-FFF2-40B4-BE49-F238E27FC236}">
                <a16:creationId xmlns:a16="http://schemas.microsoft.com/office/drawing/2014/main" id="{13916554-1527-8616-5C9A-AD2086360EEB}"/>
              </a:ext>
            </a:extLst>
          </p:cNvPr>
          <p:cNvSpPr/>
          <p:nvPr/>
        </p:nvSpPr>
        <p:spPr>
          <a:xfrm>
            <a:off x="10729109" y="4292011"/>
            <a:ext cx="964658" cy="308042"/>
          </a:xfrm>
          <a:prstGeom prst="roundRect">
            <a:avLst/>
          </a:prstGeom>
          <a:solidFill>
            <a:srgbClr val="00B050"/>
          </a:solidFill>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61" name="Rectangle: Rounded Corners 129">
            <a:extLst>
              <a:ext uri="{FF2B5EF4-FFF2-40B4-BE49-F238E27FC236}">
                <a16:creationId xmlns:a16="http://schemas.microsoft.com/office/drawing/2014/main" id="{177FA3E8-9C05-FF70-5A55-96F50B8D4FD2}"/>
              </a:ext>
            </a:extLst>
          </p:cNvPr>
          <p:cNvSpPr/>
          <p:nvPr/>
        </p:nvSpPr>
        <p:spPr>
          <a:xfrm>
            <a:off x="10729108" y="4632478"/>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62" name="Rectangle: Rounded Corners 131">
            <a:extLst>
              <a:ext uri="{FF2B5EF4-FFF2-40B4-BE49-F238E27FC236}">
                <a16:creationId xmlns:a16="http://schemas.microsoft.com/office/drawing/2014/main" id="{66329BD1-BF42-6506-C7AE-D5FE994B9603}"/>
              </a:ext>
            </a:extLst>
          </p:cNvPr>
          <p:cNvSpPr/>
          <p:nvPr/>
        </p:nvSpPr>
        <p:spPr>
          <a:xfrm>
            <a:off x="10729107" y="4972945"/>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63" name="Rectangle: Rounded Corners 133">
            <a:extLst>
              <a:ext uri="{FF2B5EF4-FFF2-40B4-BE49-F238E27FC236}">
                <a16:creationId xmlns:a16="http://schemas.microsoft.com/office/drawing/2014/main" id="{0768DFD8-81B0-DF3C-4BC3-8819D51B0513}"/>
              </a:ext>
            </a:extLst>
          </p:cNvPr>
          <p:cNvSpPr/>
          <p:nvPr/>
        </p:nvSpPr>
        <p:spPr>
          <a:xfrm>
            <a:off x="10729107" y="5580924"/>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64" name="Oval 63">
            <a:extLst>
              <a:ext uri="{FF2B5EF4-FFF2-40B4-BE49-F238E27FC236}">
                <a16:creationId xmlns:a16="http://schemas.microsoft.com/office/drawing/2014/main" id="{CF426F5E-104F-9C01-5182-C70E45B82020}"/>
              </a:ext>
            </a:extLst>
          </p:cNvPr>
          <p:cNvSpPr/>
          <p:nvPr/>
        </p:nvSpPr>
        <p:spPr>
          <a:xfrm>
            <a:off x="10242161" y="3997850"/>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478B79F8-535F-FD4D-55F2-641112D3EEC1}"/>
              </a:ext>
            </a:extLst>
          </p:cNvPr>
          <p:cNvSpPr/>
          <p:nvPr/>
        </p:nvSpPr>
        <p:spPr>
          <a:xfrm>
            <a:off x="10433830" y="3997850"/>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95E04612-9384-F54B-FB85-3BD0CBE5A054}"/>
              </a:ext>
            </a:extLst>
          </p:cNvPr>
          <p:cNvSpPr/>
          <p:nvPr/>
        </p:nvSpPr>
        <p:spPr>
          <a:xfrm>
            <a:off x="10340333" y="3997850"/>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C3A2404-36AD-CE38-57E0-F7897D785DFC}"/>
              </a:ext>
            </a:extLst>
          </p:cNvPr>
          <p:cNvSpPr/>
          <p:nvPr/>
        </p:nvSpPr>
        <p:spPr>
          <a:xfrm>
            <a:off x="10250354" y="4423914"/>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E50ED304-E585-94F8-48FF-574A3959193E}"/>
              </a:ext>
            </a:extLst>
          </p:cNvPr>
          <p:cNvSpPr/>
          <p:nvPr/>
        </p:nvSpPr>
        <p:spPr>
          <a:xfrm>
            <a:off x="10442023" y="4423914"/>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55497775-6C77-0A57-A3DE-C981310FFBB2}"/>
              </a:ext>
            </a:extLst>
          </p:cNvPr>
          <p:cNvSpPr/>
          <p:nvPr/>
        </p:nvSpPr>
        <p:spPr>
          <a:xfrm>
            <a:off x="10348526" y="4423914"/>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1112F205-8594-418D-44B6-4EF36C7BDAD4}"/>
              </a:ext>
            </a:extLst>
          </p:cNvPr>
          <p:cNvSpPr/>
          <p:nvPr/>
        </p:nvSpPr>
        <p:spPr>
          <a:xfrm>
            <a:off x="10254451" y="4739366"/>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09248B4-4E28-E59F-DC71-207DF2183177}"/>
              </a:ext>
            </a:extLst>
          </p:cNvPr>
          <p:cNvSpPr/>
          <p:nvPr/>
        </p:nvSpPr>
        <p:spPr>
          <a:xfrm>
            <a:off x="10446120" y="4739366"/>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1F0AFB4E-BDF6-8E29-5371-09D225F3C4B8}"/>
              </a:ext>
            </a:extLst>
          </p:cNvPr>
          <p:cNvSpPr/>
          <p:nvPr/>
        </p:nvSpPr>
        <p:spPr>
          <a:xfrm>
            <a:off x="10352623" y="4739366"/>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AF04251-CCC5-6284-7A86-24DC7CC4F044}"/>
              </a:ext>
            </a:extLst>
          </p:cNvPr>
          <p:cNvSpPr/>
          <p:nvPr/>
        </p:nvSpPr>
        <p:spPr>
          <a:xfrm>
            <a:off x="10254451" y="507530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A1E651AD-AA62-4DB2-87B2-09E63A90D24B}"/>
              </a:ext>
            </a:extLst>
          </p:cNvPr>
          <p:cNvSpPr/>
          <p:nvPr/>
        </p:nvSpPr>
        <p:spPr>
          <a:xfrm>
            <a:off x="10446120" y="507530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032DDE14-5886-998D-B3AB-997790B4E5A1}"/>
              </a:ext>
            </a:extLst>
          </p:cNvPr>
          <p:cNvSpPr/>
          <p:nvPr/>
        </p:nvSpPr>
        <p:spPr>
          <a:xfrm>
            <a:off x="10352623" y="507530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969A3B7D-3094-5E1E-9CEB-9C5AF6E6C03E}"/>
              </a:ext>
            </a:extLst>
          </p:cNvPr>
          <p:cNvSpPr/>
          <p:nvPr/>
        </p:nvSpPr>
        <p:spPr>
          <a:xfrm>
            <a:off x="10257712" y="570327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194EA449-EECB-EAA2-5C08-3ADBE70C3B10}"/>
              </a:ext>
            </a:extLst>
          </p:cNvPr>
          <p:cNvSpPr/>
          <p:nvPr/>
        </p:nvSpPr>
        <p:spPr>
          <a:xfrm>
            <a:off x="10449381" y="570327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0A200C4-FB99-F594-8C43-0C00650FA065}"/>
              </a:ext>
            </a:extLst>
          </p:cNvPr>
          <p:cNvSpPr/>
          <p:nvPr/>
        </p:nvSpPr>
        <p:spPr>
          <a:xfrm>
            <a:off x="10355884" y="570327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6142417-4A40-C34A-F346-F20EF02729E9}"/>
              </a:ext>
            </a:extLst>
          </p:cNvPr>
          <p:cNvSpPr/>
          <p:nvPr/>
        </p:nvSpPr>
        <p:spPr>
          <a:xfrm>
            <a:off x="11173982" y="5418112"/>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435B5F77-2A8A-2A80-0E92-9B0D4ED9E8A4}"/>
              </a:ext>
            </a:extLst>
          </p:cNvPr>
          <p:cNvSpPr/>
          <p:nvPr/>
        </p:nvSpPr>
        <p:spPr>
          <a:xfrm>
            <a:off x="9514556" y="5416546"/>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DF267072-0E5C-B09C-7F6A-073D07B0510C}"/>
              </a:ext>
            </a:extLst>
          </p:cNvPr>
          <p:cNvSpPr/>
          <p:nvPr/>
        </p:nvSpPr>
        <p:spPr>
          <a:xfrm>
            <a:off x="8489391" y="5416546"/>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BC584F75-D6AD-394E-252D-1C39EBD74831}"/>
              </a:ext>
            </a:extLst>
          </p:cNvPr>
          <p:cNvCxnSpPr>
            <a:cxnSpLocks/>
          </p:cNvCxnSpPr>
          <p:nvPr/>
        </p:nvCxnSpPr>
        <p:spPr>
          <a:xfrm>
            <a:off x="10004329" y="3389369"/>
            <a:ext cx="14591" cy="3955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17779441-DDD7-45B4-2449-0D01D4B75BC7}"/>
              </a:ext>
            </a:extLst>
          </p:cNvPr>
          <p:cNvSpPr txBox="1"/>
          <p:nvPr/>
        </p:nvSpPr>
        <p:spPr>
          <a:xfrm>
            <a:off x="10002505" y="3436185"/>
            <a:ext cx="18725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cs typeface="Arial"/>
              </a:rPr>
              <a:t>Training</a:t>
            </a:r>
          </a:p>
        </p:txBody>
      </p:sp>
    </p:spTree>
    <p:extLst>
      <p:ext uri="{BB962C8B-B14F-4D97-AF65-F5344CB8AC3E}">
        <p14:creationId xmlns:p14="http://schemas.microsoft.com/office/powerpoint/2010/main" val="4234742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94837C47-1D01-2477-01C0-2C7C4261F5E3}"/>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PAM Training Stage (Cont.)</a:t>
            </a:r>
            <a:endParaRPr lang="en-US" sz="4000" dirty="0"/>
          </a:p>
        </p:txBody>
      </p:sp>
      <p:sp>
        <p:nvSpPr>
          <p:cNvPr id="6" name="Rectangle 5">
            <a:extLst>
              <a:ext uri="{FF2B5EF4-FFF2-40B4-BE49-F238E27FC236}">
                <a16:creationId xmlns:a16="http://schemas.microsoft.com/office/drawing/2014/main" id="{FAA1F615-05FB-0617-54D9-D2FE82A80082}"/>
              </a:ext>
            </a:extLst>
          </p:cNvPr>
          <p:cNvSpPr/>
          <p:nvPr/>
        </p:nvSpPr>
        <p:spPr>
          <a:xfrm>
            <a:off x="9312914" y="3264246"/>
            <a:ext cx="1772970" cy="37722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Negative Table</a:t>
            </a:r>
          </a:p>
        </p:txBody>
      </p:sp>
      <p:cxnSp>
        <p:nvCxnSpPr>
          <p:cNvPr id="7" name="Straight Arrow Connector 6">
            <a:extLst>
              <a:ext uri="{FF2B5EF4-FFF2-40B4-BE49-F238E27FC236}">
                <a16:creationId xmlns:a16="http://schemas.microsoft.com/office/drawing/2014/main" id="{F6D216EF-00C8-6660-9346-BA857536EF42}"/>
              </a:ext>
            </a:extLst>
          </p:cNvPr>
          <p:cNvCxnSpPr/>
          <p:nvPr/>
        </p:nvCxnSpPr>
        <p:spPr>
          <a:xfrm>
            <a:off x="10237101" y="2825353"/>
            <a:ext cx="14591" cy="3955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A2C4337-F135-2F7C-4CB6-25A651AEA9BF}"/>
              </a:ext>
            </a:extLst>
          </p:cNvPr>
          <p:cNvSpPr txBox="1"/>
          <p:nvPr/>
        </p:nvSpPr>
        <p:spPr>
          <a:xfrm>
            <a:off x="10202851" y="2847850"/>
            <a:ext cx="18725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True Demands</a:t>
            </a:r>
          </a:p>
        </p:txBody>
      </p:sp>
      <p:sp>
        <p:nvSpPr>
          <p:cNvPr id="9" name="Rectangle 8">
            <a:extLst>
              <a:ext uri="{FF2B5EF4-FFF2-40B4-BE49-F238E27FC236}">
                <a16:creationId xmlns:a16="http://schemas.microsoft.com/office/drawing/2014/main" id="{5D4D4BE3-5358-E607-1DF9-BB88CE455A54}"/>
              </a:ext>
            </a:extLst>
          </p:cNvPr>
          <p:cNvSpPr/>
          <p:nvPr/>
        </p:nvSpPr>
        <p:spPr>
          <a:xfrm>
            <a:off x="8270562" y="4084677"/>
            <a:ext cx="964659" cy="31614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a:cs typeface="Arial"/>
              </a:rPr>
              <a:t>Feature 1</a:t>
            </a:r>
          </a:p>
        </p:txBody>
      </p:sp>
      <p:sp>
        <p:nvSpPr>
          <p:cNvPr id="10" name="Rectangle 9">
            <a:extLst>
              <a:ext uri="{FF2B5EF4-FFF2-40B4-BE49-F238E27FC236}">
                <a16:creationId xmlns:a16="http://schemas.microsoft.com/office/drawing/2014/main" id="{95F47440-6296-DCF7-301D-05CD044BFB29}"/>
              </a:ext>
            </a:extLst>
          </p:cNvPr>
          <p:cNvSpPr/>
          <p:nvPr/>
        </p:nvSpPr>
        <p:spPr>
          <a:xfrm>
            <a:off x="9291965" y="4084676"/>
            <a:ext cx="964659" cy="316149"/>
          </a:xfrm>
          <a:prstGeom prst="rect">
            <a:avLst/>
          </a:prstGeom>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dirty="0">
                <a:cs typeface="Arial"/>
              </a:rPr>
              <a:t>Feature 2</a:t>
            </a:r>
          </a:p>
        </p:txBody>
      </p:sp>
      <p:sp>
        <p:nvSpPr>
          <p:cNvPr id="11" name="Rectangle 10">
            <a:extLst>
              <a:ext uri="{FF2B5EF4-FFF2-40B4-BE49-F238E27FC236}">
                <a16:creationId xmlns:a16="http://schemas.microsoft.com/office/drawing/2014/main" id="{F4A760E6-C8E5-D579-87DE-39C6CEDD45F6}"/>
              </a:ext>
            </a:extLst>
          </p:cNvPr>
          <p:cNvSpPr/>
          <p:nvPr/>
        </p:nvSpPr>
        <p:spPr>
          <a:xfrm>
            <a:off x="10961880" y="4084676"/>
            <a:ext cx="964659" cy="316149"/>
          </a:xfrm>
          <a:prstGeom prst="rect">
            <a:avLst/>
          </a:prstGeom>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a:cs typeface="Arial"/>
              </a:rPr>
              <a:t>Feature N</a:t>
            </a:r>
          </a:p>
        </p:txBody>
      </p:sp>
      <p:sp>
        <p:nvSpPr>
          <p:cNvPr id="12" name="Rectangle: Rounded Corners 111">
            <a:extLst>
              <a:ext uri="{FF2B5EF4-FFF2-40B4-BE49-F238E27FC236}">
                <a16:creationId xmlns:a16="http://schemas.microsoft.com/office/drawing/2014/main" id="{68F06506-0716-6CB6-72FD-36CB2C9EDEDE}"/>
              </a:ext>
            </a:extLst>
          </p:cNvPr>
          <p:cNvSpPr/>
          <p:nvPr/>
        </p:nvSpPr>
        <p:spPr>
          <a:xfrm>
            <a:off x="8270562" y="4498102"/>
            <a:ext cx="964658" cy="308042"/>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13" name="Rectangle: Rounded Corners 113">
            <a:extLst>
              <a:ext uri="{FF2B5EF4-FFF2-40B4-BE49-F238E27FC236}">
                <a16:creationId xmlns:a16="http://schemas.microsoft.com/office/drawing/2014/main" id="{1A0F53D1-AA66-92FA-6313-044231692CB4}"/>
              </a:ext>
            </a:extLst>
          </p:cNvPr>
          <p:cNvSpPr/>
          <p:nvPr/>
        </p:nvSpPr>
        <p:spPr>
          <a:xfrm>
            <a:off x="8270561" y="4838569"/>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14" name="Rectangle: Rounded Corners 115">
            <a:extLst>
              <a:ext uri="{FF2B5EF4-FFF2-40B4-BE49-F238E27FC236}">
                <a16:creationId xmlns:a16="http://schemas.microsoft.com/office/drawing/2014/main" id="{2CC76A45-86BD-E946-CE38-B18A18091A29}"/>
              </a:ext>
            </a:extLst>
          </p:cNvPr>
          <p:cNvSpPr/>
          <p:nvPr/>
        </p:nvSpPr>
        <p:spPr>
          <a:xfrm>
            <a:off x="8270560" y="5179036"/>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15" name="Rectangle: Rounded Corners 117">
            <a:extLst>
              <a:ext uri="{FF2B5EF4-FFF2-40B4-BE49-F238E27FC236}">
                <a16:creationId xmlns:a16="http://schemas.microsoft.com/office/drawing/2014/main" id="{700E064B-EFF2-1C4D-2E9E-F5C6C2C86287}"/>
              </a:ext>
            </a:extLst>
          </p:cNvPr>
          <p:cNvSpPr/>
          <p:nvPr/>
        </p:nvSpPr>
        <p:spPr>
          <a:xfrm>
            <a:off x="8270560" y="5787015"/>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16" name="Rectangle: Rounded Corners 119">
            <a:extLst>
              <a:ext uri="{FF2B5EF4-FFF2-40B4-BE49-F238E27FC236}">
                <a16:creationId xmlns:a16="http://schemas.microsoft.com/office/drawing/2014/main" id="{8F8C86F3-68C0-D779-A15D-8625DD749DC6}"/>
              </a:ext>
            </a:extLst>
          </p:cNvPr>
          <p:cNvSpPr/>
          <p:nvPr/>
        </p:nvSpPr>
        <p:spPr>
          <a:xfrm>
            <a:off x="9291965" y="4498101"/>
            <a:ext cx="964658" cy="3080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17" name="Rectangle: Rounded Corners 121">
            <a:extLst>
              <a:ext uri="{FF2B5EF4-FFF2-40B4-BE49-F238E27FC236}">
                <a16:creationId xmlns:a16="http://schemas.microsoft.com/office/drawing/2014/main" id="{A45D3EB5-EC90-0B0B-153F-449C6D15C35B}"/>
              </a:ext>
            </a:extLst>
          </p:cNvPr>
          <p:cNvSpPr/>
          <p:nvPr/>
        </p:nvSpPr>
        <p:spPr>
          <a:xfrm>
            <a:off x="9291964" y="4838568"/>
            <a:ext cx="964658" cy="308042"/>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18" name="Rectangle: Rounded Corners 123">
            <a:extLst>
              <a:ext uri="{FF2B5EF4-FFF2-40B4-BE49-F238E27FC236}">
                <a16:creationId xmlns:a16="http://schemas.microsoft.com/office/drawing/2014/main" id="{1786CEBB-3E6B-A511-FFC0-82584738DD96}"/>
              </a:ext>
            </a:extLst>
          </p:cNvPr>
          <p:cNvSpPr/>
          <p:nvPr/>
        </p:nvSpPr>
        <p:spPr>
          <a:xfrm>
            <a:off x="9291963" y="5179035"/>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19" name="Rectangle: Rounded Corners 125">
            <a:extLst>
              <a:ext uri="{FF2B5EF4-FFF2-40B4-BE49-F238E27FC236}">
                <a16:creationId xmlns:a16="http://schemas.microsoft.com/office/drawing/2014/main" id="{BCA667FE-AE65-C581-ACE0-D7BA7CEFA3AB}"/>
              </a:ext>
            </a:extLst>
          </p:cNvPr>
          <p:cNvSpPr/>
          <p:nvPr/>
        </p:nvSpPr>
        <p:spPr>
          <a:xfrm>
            <a:off x="9291963" y="5787014"/>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20" name="Rectangle: Rounded Corners 127">
            <a:extLst>
              <a:ext uri="{FF2B5EF4-FFF2-40B4-BE49-F238E27FC236}">
                <a16:creationId xmlns:a16="http://schemas.microsoft.com/office/drawing/2014/main" id="{76BA415D-B328-F7B4-7569-E6B4CB62F9EB}"/>
              </a:ext>
            </a:extLst>
          </p:cNvPr>
          <p:cNvSpPr/>
          <p:nvPr/>
        </p:nvSpPr>
        <p:spPr>
          <a:xfrm>
            <a:off x="10969987" y="4506208"/>
            <a:ext cx="964658" cy="308042"/>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r>
              <a:rPr lang="en-US">
                <a:cs typeface="Arial"/>
              </a:rPr>
              <a:t>w</a:t>
            </a:r>
            <a:r>
              <a:rPr lang="en-US" sz="800">
                <a:cs typeface="Arial"/>
              </a:rPr>
              <a:t>1</a:t>
            </a:r>
          </a:p>
        </p:txBody>
      </p:sp>
      <p:sp>
        <p:nvSpPr>
          <p:cNvPr id="21" name="Rectangle: Rounded Corners 129">
            <a:extLst>
              <a:ext uri="{FF2B5EF4-FFF2-40B4-BE49-F238E27FC236}">
                <a16:creationId xmlns:a16="http://schemas.microsoft.com/office/drawing/2014/main" id="{04B94ED1-D69D-AD2B-0173-A7D2368C3AAA}"/>
              </a:ext>
            </a:extLst>
          </p:cNvPr>
          <p:cNvSpPr/>
          <p:nvPr/>
        </p:nvSpPr>
        <p:spPr>
          <a:xfrm>
            <a:off x="10969986" y="4846675"/>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22" name="Rectangle: Rounded Corners 131">
            <a:extLst>
              <a:ext uri="{FF2B5EF4-FFF2-40B4-BE49-F238E27FC236}">
                <a16:creationId xmlns:a16="http://schemas.microsoft.com/office/drawing/2014/main" id="{577680D9-8656-831D-4E20-CE0D77817D5A}"/>
              </a:ext>
            </a:extLst>
          </p:cNvPr>
          <p:cNvSpPr/>
          <p:nvPr/>
        </p:nvSpPr>
        <p:spPr>
          <a:xfrm>
            <a:off x="10969985" y="5187142"/>
            <a:ext cx="964658" cy="308042"/>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cs typeface="Arial"/>
              </a:rPr>
              <a:t>w</a:t>
            </a:r>
            <a:r>
              <a:rPr lang="en-US" sz="800">
                <a:cs typeface="Arial"/>
              </a:rPr>
              <a:t>2</a:t>
            </a:r>
            <a:endParaRPr lang="en-US" sz="900">
              <a:cs typeface="Arial"/>
            </a:endParaRPr>
          </a:p>
        </p:txBody>
      </p:sp>
      <p:sp>
        <p:nvSpPr>
          <p:cNvPr id="23" name="Rectangle: Rounded Corners 133">
            <a:extLst>
              <a:ext uri="{FF2B5EF4-FFF2-40B4-BE49-F238E27FC236}">
                <a16:creationId xmlns:a16="http://schemas.microsoft.com/office/drawing/2014/main" id="{24CECD2C-74B9-541C-0CDB-AB0F99C41ED0}"/>
              </a:ext>
            </a:extLst>
          </p:cNvPr>
          <p:cNvSpPr/>
          <p:nvPr/>
        </p:nvSpPr>
        <p:spPr>
          <a:xfrm>
            <a:off x="10969985" y="5795121"/>
            <a:ext cx="964658" cy="308042"/>
          </a:xfrm>
          <a:prstGeom prst="roundRect">
            <a:avLst/>
          </a:prstGeom>
          <a:solidFill>
            <a:srgbClr val="FFC000"/>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cs typeface="Arial"/>
              </a:rPr>
              <a:t>w</a:t>
            </a:r>
            <a:r>
              <a:rPr lang="en-US" sz="800" dirty="0">
                <a:cs typeface="Arial"/>
              </a:rPr>
              <a:t>N</a:t>
            </a:r>
          </a:p>
        </p:txBody>
      </p:sp>
      <p:sp>
        <p:nvSpPr>
          <p:cNvPr id="24" name="Oval 23">
            <a:extLst>
              <a:ext uri="{FF2B5EF4-FFF2-40B4-BE49-F238E27FC236}">
                <a16:creationId xmlns:a16="http://schemas.microsoft.com/office/drawing/2014/main" id="{DC8E380D-6DBD-14EC-0225-D6C9462B14B5}"/>
              </a:ext>
            </a:extLst>
          </p:cNvPr>
          <p:cNvSpPr/>
          <p:nvPr/>
        </p:nvSpPr>
        <p:spPr>
          <a:xfrm>
            <a:off x="10483039" y="4212047"/>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B1F9374-B1A6-ABF4-EAC5-EE8865CCF619}"/>
              </a:ext>
            </a:extLst>
          </p:cNvPr>
          <p:cNvSpPr/>
          <p:nvPr/>
        </p:nvSpPr>
        <p:spPr>
          <a:xfrm>
            <a:off x="10674708" y="4212047"/>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A41E18F-A67C-9540-404C-3C08AD4EAEF9}"/>
              </a:ext>
            </a:extLst>
          </p:cNvPr>
          <p:cNvSpPr/>
          <p:nvPr/>
        </p:nvSpPr>
        <p:spPr>
          <a:xfrm>
            <a:off x="10581211" y="4212047"/>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7C38BAE-1371-9328-60E1-9F31BE044B93}"/>
              </a:ext>
            </a:extLst>
          </p:cNvPr>
          <p:cNvSpPr/>
          <p:nvPr/>
        </p:nvSpPr>
        <p:spPr>
          <a:xfrm>
            <a:off x="10491232" y="463811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F3D4DDF-7D6B-8F9D-EE9D-D5E21E8FA7BC}"/>
              </a:ext>
            </a:extLst>
          </p:cNvPr>
          <p:cNvSpPr/>
          <p:nvPr/>
        </p:nvSpPr>
        <p:spPr>
          <a:xfrm>
            <a:off x="10682901" y="463811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A61FF1C-CDA2-4CD2-C87F-1A1DF19280B5}"/>
              </a:ext>
            </a:extLst>
          </p:cNvPr>
          <p:cNvSpPr/>
          <p:nvPr/>
        </p:nvSpPr>
        <p:spPr>
          <a:xfrm>
            <a:off x="10589404" y="4638111"/>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AF001B3-A63B-8672-D838-6A1FF33DCCE5}"/>
              </a:ext>
            </a:extLst>
          </p:cNvPr>
          <p:cNvSpPr/>
          <p:nvPr/>
        </p:nvSpPr>
        <p:spPr>
          <a:xfrm>
            <a:off x="10495329" y="4953563"/>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8502061-6BCE-30E5-AABB-B84C0BCEF7AB}"/>
              </a:ext>
            </a:extLst>
          </p:cNvPr>
          <p:cNvSpPr/>
          <p:nvPr/>
        </p:nvSpPr>
        <p:spPr>
          <a:xfrm>
            <a:off x="10686998" y="4953563"/>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BE3646F-0A8B-6C47-A5E0-56C081FD5FB3}"/>
              </a:ext>
            </a:extLst>
          </p:cNvPr>
          <p:cNvSpPr/>
          <p:nvPr/>
        </p:nvSpPr>
        <p:spPr>
          <a:xfrm>
            <a:off x="10593501" y="4953563"/>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6C8C952-5DE7-2283-320C-E78439E7A056}"/>
              </a:ext>
            </a:extLst>
          </p:cNvPr>
          <p:cNvSpPr/>
          <p:nvPr/>
        </p:nvSpPr>
        <p:spPr>
          <a:xfrm>
            <a:off x="10495329" y="528949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2ACE721-79A3-F825-762A-C57576A7720E}"/>
              </a:ext>
            </a:extLst>
          </p:cNvPr>
          <p:cNvSpPr/>
          <p:nvPr/>
        </p:nvSpPr>
        <p:spPr>
          <a:xfrm>
            <a:off x="10686998" y="528949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C300685-77C2-6524-3010-C14F22364513}"/>
              </a:ext>
            </a:extLst>
          </p:cNvPr>
          <p:cNvSpPr/>
          <p:nvPr/>
        </p:nvSpPr>
        <p:spPr>
          <a:xfrm>
            <a:off x="10593501" y="5289498"/>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E3E992F-E9EB-D557-90EF-EBD939F7CF72}"/>
              </a:ext>
            </a:extLst>
          </p:cNvPr>
          <p:cNvSpPr/>
          <p:nvPr/>
        </p:nvSpPr>
        <p:spPr>
          <a:xfrm>
            <a:off x="10498590" y="5917475"/>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9C1952B-02B2-6F43-2A36-6953A0CA0847}"/>
              </a:ext>
            </a:extLst>
          </p:cNvPr>
          <p:cNvSpPr/>
          <p:nvPr/>
        </p:nvSpPr>
        <p:spPr>
          <a:xfrm>
            <a:off x="10690259" y="5917475"/>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BB9A18E-72D3-BBFF-CAE3-3A35DF57CA11}"/>
              </a:ext>
            </a:extLst>
          </p:cNvPr>
          <p:cNvSpPr/>
          <p:nvPr/>
        </p:nvSpPr>
        <p:spPr>
          <a:xfrm>
            <a:off x="10596762" y="5917475"/>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9B79304-8B95-9671-B7A5-5A606D10063C}"/>
              </a:ext>
            </a:extLst>
          </p:cNvPr>
          <p:cNvSpPr/>
          <p:nvPr/>
        </p:nvSpPr>
        <p:spPr>
          <a:xfrm>
            <a:off x="11414860" y="5632309"/>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EEE8F31-7AA2-1685-3D26-6E59EDBCCBF6}"/>
              </a:ext>
            </a:extLst>
          </p:cNvPr>
          <p:cNvSpPr/>
          <p:nvPr/>
        </p:nvSpPr>
        <p:spPr>
          <a:xfrm>
            <a:off x="9755434" y="5630743"/>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2616CBB-4E82-7247-5D23-2F9C1096B96E}"/>
              </a:ext>
            </a:extLst>
          </p:cNvPr>
          <p:cNvSpPr/>
          <p:nvPr/>
        </p:nvSpPr>
        <p:spPr>
          <a:xfrm>
            <a:off x="8730269" y="5630743"/>
            <a:ext cx="43666" cy="4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8963C4BC-FCF9-4C62-CC3E-2B4DE335E530}"/>
              </a:ext>
            </a:extLst>
          </p:cNvPr>
          <p:cNvCxnSpPr>
            <a:cxnSpLocks/>
          </p:cNvCxnSpPr>
          <p:nvPr/>
        </p:nvCxnSpPr>
        <p:spPr>
          <a:xfrm>
            <a:off x="10245207" y="3603566"/>
            <a:ext cx="14591" cy="3955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3B23ADB-1D47-FA48-BEB7-EE6A01137141}"/>
              </a:ext>
            </a:extLst>
          </p:cNvPr>
          <p:cNvSpPr txBox="1"/>
          <p:nvPr/>
        </p:nvSpPr>
        <p:spPr>
          <a:xfrm>
            <a:off x="10243383" y="3650382"/>
            <a:ext cx="18725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cs typeface="Arial"/>
              </a:rPr>
              <a:t>Training</a:t>
            </a:r>
          </a:p>
        </p:txBody>
      </p:sp>
      <p:sp>
        <p:nvSpPr>
          <p:cNvPr id="2" name="TextBox 1">
            <a:extLst>
              <a:ext uri="{FF2B5EF4-FFF2-40B4-BE49-F238E27FC236}">
                <a16:creationId xmlns:a16="http://schemas.microsoft.com/office/drawing/2014/main" id="{1E0DAAAC-5A2B-8C4F-5B18-316786C1F4B9}"/>
              </a:ext>
            </a:extLst>
          </p:cNvPr>
          <p:cNvSpPr txBox="1"/>
          <p:nvPr/>
        </p:nvSpPr>
        <p:spPr>
          <a:xfrm>
            <a:off x="484632" y="1979097"/>
            <a:ext cx="7715472" cy="4241619"/>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Deemed </a:t>
            </a:r>
            <a:r>
              <a:rPr lang="en-US" sz="2000" b="1" dirty="0"/>
              <a:t>Useless</a:t>
            </a:r>
            <a:r>
              <a:rPr lang="en-US" sz="2000" dirty="0"/>
              <a:t>: requests are discarded</a:t>
            </a:r>
          </a:p>
          <a:p>
            <a:pPr marL="285750" indent="-228600">
              <a:lnSpc>
                <a:spcPct val="90000"/>
              </a:lnSpc>
              <a:spcAft>
                <a:spcPts val="600"/>
              </a:spcAft>
              <a:buFont typeface="Arial" panose="020B0604020202020204" pitchFamily="34" charset="0"/>
              <a:buChar char="•"/>
            </a:pPr>
            <a:r>
              <a:rPr lang="en-US" sz="2000" dirty="0"/>
              <a:t>Two scenarios if a prefetch is rejected:</a:t>
            </a:r>
          </a:p>
          <a:p>
            <a:pPr marL="971550" lvl="1" indent="-457200">
              <a:lnSpc>
                <a:spcPct val="90000"/>
              </a:lnSpc>
              <a:spcAft>
                <a:spcPts val="600"/>
              </a:spcAft>
              <a:buFont typeface="+mj-lt"/>
              <a:buAutoNum type="arabicPeriod"/>
            </a:pPr>
            <a:r>
              <a:rPr lang="en-US" sz="2000" b="1" dirty="0">
                <a:solidFill>
                  <a:srgbClr val="00B050"/>
                </a:solidFill>
              </a:rPr>
              <a:t>Good reject</a:t>
            </a:r>
            <a:r>
              <a:rPr lang="en-US" sz="2000" dirty="0"/>
              <a:t>: no true demand comes from processor to the prefetch address</a:t>
            </a:r>
          </a:p>
          <a:p>
            <a:pPr marL="971550" lvl="1" indent="-457200">
              <a:lnSpc>
                <a:spcPct val="90000"/>
              </a:lnSpc>
              <a:spcAft>
                <a:spcPts val="600"/>
              </a:spcAft>
              <a:buFont typeface="+mj-lt"/>
              <a:buAutoNum type="arabicPeriod"/>
            </a:pPr>
            <a:r>
              <a:rPr lang="en-US" sz="2000" b="1" dirty="0">
                <a:solidFill>
                  <a:srgbClr val="FF0000"/>
                </a:solidFill>
              </a:rPr>
              <a:t>Bad reject</a:t>
            </a:r>
            <a:r>
              <a:rPr lang="en-US" sz="2000" dirty="0"/>
              <a:t>: true demand eventually comes </a:t>
            </a:r>
          </a:p>
          <a:p>
            <a:pPr marL="971550" lvl="1" indent="-457200">
              <a:lnSpc>
                <a:spcPct val="90000"/>
              </a:lnSpc>
              <a:spcAft>
                <a:spcPts val="600"/>
              </a:spcAft>
              <a:buFont typeface="+mj-lt"/>
              <a:buAutoNum type="arabicPeriod"/>
            </a:pPr>
            <a:endParaRPr lang="en-US" sz="2000" dirty="0"/>
          </a:p>
          <a:p>
            <a:pPr marL="400050" indent="-342900">
              <a:lnSpc>
                <a:spcPct val="90000"/>
              </a:lnSpc>
              <a:spcAft>
                <a:spcPts val="600"/>
              </a:spcAft>
              <a:buFont typeface="Wingdings" pitchFamily="2" charset="2"/>
              <a:buChar char="à"/>
            </a:pPr>
            <a:r>
              <a:rPr lang="en-US" sz="2000" dirty="0">
                <a:sym typeface="Wingdings" pitchFamily="2" charset="2"/>
              </a:rPr>
              <a:t>PAM analyzes every true demand requests from LLC</a:t>
            </a:r>
          </a:p>
          <a:p>
            <a:pPr marL="400050" indent="-342900">
              <a:lnSpc>
                <a:spcPct val="90000"/>
              </a:lnSpc>
              <a:spcAft>
                <a:spcPts val="600"/>
              </a:spcAft>
              <a:buFont typeface="Wingdings" pitchFamily="2" charset="2"/>
              <a:buChar char="à"/>
            </a:pPr>
            <a:endParaRPr lang="en-US" sz="2000" dirty="0">
              <a:sym typeface="Wingdings" pitchFamily="2" charset="2"/>
            </a:endParaRPr>
          </a:p>
          <a:p>
            <a:pPr marL="57150">
              <a:lnSpc>
                <a:spcPct val="90000"/>
              </a:lnSpc>
              <a:spcAft>
                <a:spcPts val="600"/>
              </a:spcAft>
            </a:pPr>
            <a:r>
              <a:rPr lang="en-US" sz="2000" dirty="0"/>
              <a:t>Training occurs on </a:t>
            </a:r>
            <a:r>
              <a:rPr lang="en-US" sz="2000" i="1" dirty="0"/>
              <a:t>matched address</a:t>
            </a:r>
          </a:p>
          <a:p>
            <a:pPr marL="400050" indent="-342900">
              <a:lnSpc>
                <a:spcPct val="90000"/>
              </a:lnSpc>
              <a:spcAft>
                <a:spcPts val="600"/>
              </a:spcAft>
              <a:buFont typeface="Arial" panose="020B0604020202020204" pitchFamily="34" charset="0"/>
              <a:buChar char="•"/>
            </a:pPr>
            <a:r>
              <a:rPr lang="en-US" sz="2000" dirty="0">
                <a:cs typeface="Arial" panose="020B0604020202020204"/>
              </a:rPr>
              <a:t>Address used to look up the Negative Table</a:t>
            </a:r>
          </a:p>
          <a:p>
            <a:pPr marL="400050" indent="-342900">
              <a:lnSpc>
                <a:spcPct val="90000"/>
              </a:lnSpc>
              <a:spcAft>
                <a:spcPts val="600"/>
              </a:spcAft>
              <a:buFont typeface="Arial" panose="020B0604020202020204" pitchFamily="34" charset="0"/>
              <a:buChar char="•"/>
            </a:pPr>
            <a:r>
              <a:rPr lang="en-US" sz="2000" dirty="0">
                <a:cs typeface="Arial" panose="020B0604020202020204"/>
              </a:rPr>
              <a:t>If entry is </a:t>
            </a:r>
            <a:r>
              <a:rPr lang="en-US" sz="2000" b="1" dirty="0">
                <a:cs typeface="Arial" panose="020B0604020202020204"/>
              </a:rPr>
              <a:t>found: </a:t>
            </a:r>
            <a:r>
              <a:rPr lang="en-US" sz="2000" dirty="0">
                <a:cs typeface="Arial" panose="020B0604020202020204"/>
              </a:rPr>
              <a:t>previous reject was bad reject</a:t>
            </a:r>
          </a:p>
          <a:p>
            <a:pPr marL="400050" indent="-342900">
              <a:lnSpc>
                <a:spcPct val="90000"/>
              </a:lnSpc>
              <a:spcAft>
                <a:spcPts val="600"/>
              </a:spcAft>
              <a:buFont typeface="Arial" panose="020B0604020202020204" pitchFamily="34" charset="0"/>
              <a:buChar char="•"/>
            </a:pPr>
            <a:r>
              <a:rPr lang="en-US" sz="2000" dirty="0">
                <a:cs typeface="Arial" panose="020B0604020202020204"/>
              </a:rPr>
              <a:t>If entry is </a:t>
            </a:r>
            <a:r>
              <a:rPr lang="en-US" sz="2000" b="1" dirty="0">
                <a:cs typeface="Arial" panose="020B0604020202020204"/>
              </a:rPr>
              <a:t>not found</a:t>
            </a:r>
            <a:r>
              <a:rPr lang="en-US" sz="2000" dirty="0">
                <a:cs typeface="Arial" panose="020B0604020202020204"/>
              </a:rPr>
              <a:t>: nothing happens</a:t>
            </a:r>
          </a:p>
          <a:p>
            <a:pPr marL="400050" indent="-342900">
              <a:lnSpc>
                <a:spcPct val="90000"/>
              </a:lnSpc>
              <a:spcAft>
                <a:spcPts val="600"/>
              </a:spcAft>
              <a:buFont typeface="Arial" panose="020B0604020202020204" pitchFamily="34" charset="0"/>
              <a:buChar char="•"/>
            </a:pPr>
            <a:endParaRPr lang="en-US" sz="2000" i="1" dirty="0"/>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766405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754FFB9B-21BE-60A3-E693-28DAEB839116}"/>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PAM Tables</a:t>
            </a:r>
            <a:endParaRPr lang="en-US" sz="4000" dirty="0"/>
          </a:p>
        </p:txBody>
      </p:sp>
      <p:pic>
        <p:nvPicPr>
          <p:cNvPr id="9" name="Picture 8" descr="A diagram of a software&#10;&#10;Description automatically generated">
            <a:extLst>
              <a:ext uri="{FF2B5EF4-FFF2-40B4-BE49-F238E27FC236}">
                <a16:creationId xmlns:a16="http://schemas.microsoft.com/office/drawing/2014/main" id="{C796C71E-2C28-ADB4-B8D0-7E1B554667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53693" y="1670748"/>
            <a:ext cx="5076399" cy="4318572"/>
          </a:xfrm>
          <a:prstGeom prst="rect">
            <a:avLst/>
          </a:prstGeom>
        </p:spPr>
      </p:pic>
      <p:sp>
        <p:nvSpPr>
          <p:cNvPr id="10" name="Rectangle 9">
            <a:extLst>
              <a:ext uri="{FF2B5EF4-FFF2-40B4-BE49-F238E27FC236}">
                <a16:creationId xmlns:a16="http://schemas.microsoft.com/office/drawing/2014/main" id="{736AB655-1DC0-E54F-5A13-EA047DDC64AD}"/>
              </a:ext>
            </a:extLst>
          </p:cNvPr>
          <p:cNvSpPr/>
          <p:nvPr/>
        </p:nvSpPr>
        <p:spPr>
          <a:xfrm>
            <a:off x="10143460" y="3009014"/>
            <a:ext cx="1626781" cy="2551813"/>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cxnSp>
        <p:nvCxnSpPr>
          <p:cNvPr id="12" name="Straight Arrow Connector 11">
            <a:extLst>
              <a:ext uri="{FF2B5EF4-FFF2-40B4-BE49-F238E27FC236}">
                <a16:creationId xmlns:a16="http://schemas.microsoft.com/office/drawing/2014/main" id="{427B4D6B-BB43-17E6-B898-764F89525CAB}"/>
              </a:ext>
            </a:extLst>
          </p:cNvPr>
          <p:cNvCxnSpPr/>
          <p:nvPr/>
        </p:nvCxnSpPr>
        <p:spPr>
          <a:xfrm>
            <a:off x="10685721" y="868680"/>
            <a:ext cx="552893" cy="2115879"/>
          </a:xfrm>
          <a:prstGeom prst="straightConnector1">
            <a:avLst/>
          </a:prstGeom>
          <a:ln w="57150">
            <a:solidFill>
              <a:schemeClr val="accent5">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880E239-D845-6069-94F7-0A368ACC108C}"/>
              </a:ext>
            </a:extLst>
          </p:cNvPr>
          <p:cNvSpPr txBox="1"/>
          <p:nvPr/>
        </p:nvSpPr>
        <p:spPr>
          <a:xfrm>
            <a:off x="421759" y="1979098"/>
            <a:ext cx="6755218"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400050" indent="-342900">
              <a:lnSpc>
                <a:spcPct val="90000"/>
              </a:lnSpc>
              <a:spcAft>
                <a:spcPts val="600"/>
              </a:spcAft>
              <a:buFont typeface="Arial" panose="020B0604020202020204" pitchFamily="34" charset="0"/>
              <a:buChar char="•"/>
            </a:pPr>
            <a:r>
              <a:rPr lang="en-US" sz="2000" dirty="0"/>
              <a:t>Decisions are logged in Positive/Negative Tables</a:t>
            </a:r>
          </a:p>
          <a:p>
            <a:pPr marL="514350" indent="-457200">
              <a:lnSpc>
                <a:spcPct val="90000"/>
              </a:lnSpc>
              <a:spcAft>
                <a:spcPts val="600"/>
              </a:spcAft>
              <a:buFont typeface="+mj-lt"/>
              <a:buAutoNum type="arabicPeriod"/>
            </a:pPr>
            <a:r>
              <a:rPr lang="en-US" sz="2000" dirty="0"/>
              <a:t>Approved requests </a:t>
            </a:r>
            <a:r>
              <a:rPr lang="en-US" sz="2000" dirty="0">
                <a:sym typeface="Wingdings" pitchFamily="2" charset="2"/>
              </a:rPr>
              <a:t> Positive Table</a:t>
            </a:r>
          </a:p>
          <a:p>
            <a:pPr marL="514350" indent="-457200">
              <a:lnSpc>
                <a:spcPct val="90000"/>
              </a:lnSpc>
              <a:spcAft>
                <a:spcPts val="600"/>
              </a:spcAft>
              <a:buFont typeface="+mj-lt"/>
              <a:buAutoNum type="arabicPeriod"/>
            </a:pPr>
            <a:r>
              <a:rPr lang="en-US" sz="2000" dirty="0">
                <a:sym typeface="Wingdings" pitchFamily="2" charset="2"/>
              </a:rPr>
              <a:t>Rejected requests  Negative Table</a:t>
            </a:r>
          </a:p>
          <a:p>
            <a:pPr marL="400050" indent="-342900">
              <a:lnSpc>
                <a:spcPct val="90000"/>
              </a:lnSpc>
              <a:spcAft>
                <a:spcPts val="600"/>
              </a:spcAft>
              <a:buFont typeface="Arial" panose="020B0604020202020204" pitchFamily="34" charset="0"/>
              <a:buChar char="•"/>
            </a:pPr>
            <a:r>
              <a:rPr lang="en-US" sz="2000" dirty="0">
                <a:sym typeface="Wingdings" pitchFamily="2" charset="2"/>
              </a:rPr>
              <a:t>Simple 4-way cache with LRU replacement</a:t>
            </a:r>
          </a:p>
          <a:p>
            <a:pPr marL="400050" indent="-342900">
              <a:lnSpc>
                <a:spcPct val="90000"/>
              </a:lnSpc>
              <a:spcAft>
                <a:spcPts val="600"/>
              </a:spcAft>
              <a:buFont typeface="Arial" panose="020B0604020202020204" pitchFamily="34" charset="0"/>
              <a:buChar char="•"/>
            </a:pPr>
            <a:r>
              <a:rPr lang="en-US" sz="2000" dirty="0">
                <a:sym typeface="Wingdings" pitchFamily="2" charset="2"/>
              </a:rPr>
              <a:t>An entry contains metadata when prediction was made</a:t>
            </a:r>
          </a:p>
          <a:p>
            <a:pPr marL="57150">
              <a:lnSpc>
                <a:spcPct val="90000"/>
              </a:lnSpc>
              <a:spcAft>
                <a:spcPts val="600"/>
              </a:spcAft>
            </a:pPr>
            <a:endParaRPr lang="en-US" sz="2000" dirty="0">
              <a:sym typeface="Wingdings" pitchFamily="2" charset="2"/>
            </a:endParaRPr>
          </a:p>
          <a:p>
            <a:pPr marL="57150">
              <a:lnSpc>
                <a:spcPct val="90000"/>
              </a:lnSpc>
              <a:spcAft>
                <a:spcPts val="600"/>
              </a:spcAft>
            </a:pPr>
            <a:r>
              <a:rPr lang="en-US" sz="2000" dirty="0">
                <a:sym typeface="Wingdings" pitchFamily="2" charset="2"/>
              </a:rPr>
              <a:t> </a:t>
            </a:r>
            <a:r>
              <a:rPr lang="en-US" sz="2000" dirty="0"/>
              <a:t>Training occurs on </a:t>
            </a:r>
            <a:r>
              <a:rPr lang="en-US" sz="2000" i="1" dirty="0"/>
              <a:t>eviction:</a:t>
            </a:r>
          </a:p>
          <a:p>
            <a:pPr marL="514350" indent="-457200">
              <a:lnSpc>
                <a:spcPct val="90000"/>
              </a:lnSpc>
              <a:spcAft>
                <a:spcPts val="600"/>
              </a:spcAft>
              <a:buFont typeface="+mj-lt"/>
              <a:buAutoNum type="arabicPeriod"/>
            </a:pPr>
            <a:r>
              <a:rPr lang="en-US" sz="2000" dirty="0"/>
              <a:t>Evicted from Positive Table = </a:t>
            </a:r>
            <a:r>
              <a:rPr lang="en-US" sz="2000" b="1" dirty="0">
                <a:solidFill>
                  <a:srgbClr val="FF0000"/>
                </a:solidFill>
              </a:rPr>
              <a:t>bad decision</a:t>
            </a:r>
          </a:p>
          <a:p>
            <a:pPr marL="514350" indent="-457200">
              <a:lnSpc>
                <a:spcPct val="90000"/>
              </a:lnSpc>
              <a:spcAft>
                <a:spcPts val="600"/>
              </a:spcAft>
              <a:buFont typeface="+mj-lt"/>
              <a:buAutoNum type="arabicPeriod"/>
            </a:pPr>
            <a:r>
              <a:rPr lang="en-US" sz="2000" dirty="0"/>
              <a:t>Evicted from Negative Table = </a:t>
            </a:r>
            <a:r>
              <a:rPr lang="en-US" sz="2000" b="1" dirty="0">
                <a:solidFill>
                  <a:srgbClr val="00B050"/>
                </a:solidFill>
              </a:rPr>
              <a:t>good decision</a:t>
            </a:r>
          </a:p>
          <a:p>
            <a:pPr marL="57150">
              <a:lnSpc>
                <a:spcPct val="90000"/>
              </a:lnSpc>
              <a:spcAft>
                <a:spcPts val="600"/>
              </a:spcAft>
            </a:pPr>
            <a:endParaRPr lang="en-US" sz="2000" dirty="0"/>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584761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3CF5C2AE-C40E-6F8E-C252-091CD1F482AD}"/>
              </a:ext>
            </a:extLst>
          </p:cNvPr>
          <p:cNvSpPr txBox="1">
            <a:spLocks/>
          </p:cNvSpPr>
          <p:nvPr/>
        </p:nvSpPr>
        <p:spPr>
          <a:xfrm>
            <a:off x="594360" y="868680"/>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a:t>
            </a:r>
            <a:endParaRPr lang="en-US" sz="4000" dirty="0"/>
          </a:p>
        </p:txBody>
      </p:sp>
      <p:sp>
        <p:nvSpPr>
          <p:cNvPr id="6" name="TextBox 5">
            <a:extLst>
              <a:ext uri="{FF2B5EF4-FFF2-40B4-BE49-F238E27FC236}">
                <a16:creationId xmlns:a16="http://schemas.microsoft.com/office/drawing/2014/main" id="{DABBDEDB-6406-CDE2-34E7-F183ED90EDD7}"/>
              </a:ext>
            </a:extLst>
          </p:cNvPr>
          <p:cNvSpPr txBox="1"/>
          <p:nvPr/>
        </p:nvSpPr>
        <p:spPr>
          <a:xfrm>
            <a:off x="421759" y="1979098"/>
            <a:ext cx="6755218"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400050" indent="-342900">
              <a:lnSpc>
                <a:spcPct val="90000"/>
              </a:lnSpc>
              <a:spcAft>
                <a:spcPts val="600"/>
              </a:spcAft>
              <a:buFont typeface="Arial" panose="020B0604020202020204" pitchFamily="34" charset="0"/>
              <a:buChar char="•"/>
            </a:pPr>
            <a:r>
              <a:rPr lang="en-US" sz="2000" dirty="0"/>
              <a:t>All features can be derived from MC or LLC</a:t>
            </a:r>
          </a:p>
          <a:p>
            <a:pPr marL="400050" indent="-342900">
              <a:lnSpc>
                <a:spcPct val="90000"/>
              </a:lnSpc>
              <a:spcAft>
                <a:spcPts val="600"/>
              </a:spcAft>
              <a:buFont typeface="Arial" panose="020B0604020202020204" pitchFamily="34" charset="0"/>
              <a:buChar char="•"/>
            </a:pPr>
            <a:r>
              <a:rPr lang="en-US" sz="2000" dirty="0"/>
              <a:t>Initial </a:t>
            </a:r>
            <a:r>
              <a:rPr lang="en-US" sz="2000" b="1" dirty="0"/>
              <a:t>14</a:t>
            </a:r>
            <a:r>
              <a:rPr lang="en-US" sz="2000" dirty="0"/>
              <a:t> single features</a:t>
            </a:r>
          </a:p>
          <a:p>
            <a:pPr marL="857250" lvl="1" indent="-342900">
              <a:lnSpc>
                <a:spcPct val="90000"/>
              </a:lnSpc>
              <a:spcAft>
                <a:spcPts val="600"/>
              </a:spcAft>
              <a:buFont typeface="Arial" panose="020B0604020202020204" pitchFamily="34" charset="0"/>
              <a:buChar char="•"/>
            </a:pPr>
            <a:r>
              <a:rPr lang="en-US" sz="2000" dirty="0"/>
              <a:t>Many are easily derived within MC</a:t>
            </a:r>
          </a:p>
          <a:p>
            <a:pPr marL="857250" lvl="1" indent="-342900">
              <a:lnSpc>
                <a:spcPct val="90000"/>
              </a:lnSpc>
              <a:spcAft>
                <a:spcPts val="600"/>
              </a:spcAft>
              <a:buFont typeface="Arial" panose="020B0604020202020204" pitchFamily="34" charset="0"/>
              <a:buChar char="•"/>
            </a:pPr>
            <a:r>
              <a:rPr lang="en-US" sz="2000" dirty="0"/>
              <a:t>Few features require counters</a:t>
            </a:r>
          </a:p>
          <a:p>
            <a:pPr marL="857250" lvl="1" indent="-342900">
              <a:lnSpc>
                <a:spcPct val="90000"/>
              </a:lnSpc>
              <a:spcAft>
                <a:spcPts val="600"/>
              </a:spcAft>
              <a:buFont typeface="Arial" panose="020B0604020202020204" pitchFamily="34" charset="0"/>
              <a:buChar char="•"/>
            </a:pPr>
            <a:endParaRPr lang="en-US" sz="2000" dirty="0"/>
          </a:p>
          <a:p>
            <a:pPr marL="400050" indent="-342900">
              <a:lnSpc>
                <a:spcPct val="90000"/>
              </a:lnSpc>
              <a:spcAft>
                <a:spcPts val="600"/>
              </a:spcAft>
              <a:buFont typeface="Arial" panose="020B0604020202020204" pitchFamily="34" charset="0"/>
              <a:buChar char="•"/>
            </a:pPr>
            <a:r>
              <a:rPr lang="en-US" sz="2000" dirty="0"/>
              <a:t>Offline training starts with </a:t>
            </a:r>
            <a:r>
              <a:rPr lang="en-US" sz="2000" b="1" dirty="0"/>
              <a:t>23</a:t>
            </a:r>
            <a:r>
              <a:rPr lang="en-US" sz="2000" dirty="0"/>
              <a:t> set of features </a:t>
            </a:r>
          </a:p>
          <a:p>
            <a:pPr marL="57150">
              <a:lnSpc>
                <a:spcPct val="90000"/>
              </a:lnSpc>
              <a:spcAft>
                <a:spcPts val="600"/>
              </a:spcAft>
            </a:pPr>
            <a:endParaRPr lang="en-US" sz="2000" dirty="0"/>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pic>
        <p:nvPicPr>
          <p:cNvPr id="10" name="Picture 9" descr="A list of information on a white background&#10;&#10;Description automatically generated">
            <a:extLst>
              <a:ext uri="{FF2B5EF4-FFF2-40B4-BE49-F238E27FC236}">
                <a16:creationId xmlns:a16="http://schemas.microsoft.com/office/drawing/2014/main" id="{947FCC3D-B279-C505-EA6F-5AD70EB996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6230" y="1642713"/>
            <a:ext cx="5880100" cy="4254500"/>
          </a:xfrm>
          <a:prstGeom prst="rect">
            <a:avLst/>
          </a:prstGeom>
        </p:spPr>
      </p:pic>
    </p:spTree>
    <p:extLst>
      <p:ext uri="{BB962C8B-B14F-4D97-AF65-F5344CB8AC3E}">
        <p14:creationId xmlns:p14="http://schemas.microsoft.com/office/powerpoint/2010/main" val="1954048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pic>
        <p:nvPicPr>
          <p:cNvPr id="6" name="Picture 5">
            <a:extLst>
              <a:ext uri="{FF2B5EF4-FFF2-40B4-BE49-F238E27FC236}">
                <a16:creationId xmlns:a16="http://schemas.microsoft.com/office/drawing/2014/main" id="{DEE6C9C7-0F8E-8CAC-AF4E-9254DC653B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1339850"/>
            <a:ext cx="7467600" cy="4178300"/>
          </a:xfrm>
          <a:prstGeom prst="rect">
            <a:avLst/>
          </a:prstGeom>
        </p:spPr>
      </p:pic>
      <p:sp>
        <p:nvSpPr>
          <p:cNvPr id="7" name="TextBox 6">
            <a:extLst>
              <a:ext uri="{FF2B5EF4-FFF2-40B4-BE49-F238E27FC236}">
                <a16:creationId xmlns:a16="http://schemas.microsoft.com/office/drawing/2014/main" id="{F37EC3B3-AD39-3643-0D3A-97C2BD0F1E71}"/>
              </a:ext>
            </a:extLst>
          </p:cNvPr>
          <p:cNvSpPr txBox="1"/>
          <p:nvPr/>
        </p:nvSpPr>
        <p:spPr>
          <a:xfrm>
            <a:off x="4644251" y="5361602"/>
            <a:ext cx="4012692" cy="338554"/>
          </a:xfrm>
          <a:prstGeom prst="rect">
            <a:avLst/>
          </a:prstGeom>
          <a:noFill/>
        </p:spPr>
        <p:txBody>
          <a:bodyPr wrap="square" rtlCol="0">
            <a:spAutoFit/>
          </a:bodyPr>
          <a:lstStyle/>
          <a:p>
            <a:r>
              <a:rPr lang="en-US" sz="1600" dirty="0"/>
              <a:t>Figure: Initial set of features</a:t>
            </a:r>
          </a:p>
        </p:txBody>
      </p:sp>
      <p:sp>
        <p:nvSpPr>
          <p:cNvPr id="2" name="Title 1">
            <a:extLst>
              <a:ext uri="{FF2B5EF4-FFF2-40B4-BE49-F238E27FC236}">
                <a16:creationId xmlns:a16="http://schemas.microsoft.com/office/drawing/2014/main" id="{C6DB2DA7-F9AF-E7B7-F7DB-7D92894153BF}"/>
              </a:ext>
            </a:extLst>
          </p:cNvPr>
          <p:cNvSpPr txBox="1">
            <a:spLocks/>
          </p:cNvSpPr>
          <p:nvPr/>
        </p:nvSpPr>
        <p:spPr>
          <a:xfrm>
            <a:off x="529966" y="572515"/>
            <a:ext cx="9473184"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(Cont.)</a:t>
            </a:r>
            <a:endParaRPr lang="en-US" sz="4000" dirty="0"/>
          </a:p>
        </p:txBody>
      </p:sp>
    </p:spTree>
    <p:extLst>
      <p:ext uri="{BB962C8B-B14F-4D97-AF65-F5344CB8AC3E}">
        <p14:creationId xmlns:p14="http://schemas.microsoft.com/office/powerpoint/2010/main" val="3116020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21622" y="148399"/>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Steps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521622" y="1118741"/>
            <a:ext cx="8584018"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indent="-457200">
              <a:lnSpc>
                <a:spcPct val="90000"/>
              </a:lnSpc>
              <a:spcAft>
                <a:spcPts val="600"/>
              </a:spcAft>
              <a:buFont typeface="+mj-lt"/>
              <a:buAutoNum type="arabicPeriod"/>
            </a:pPr>
            <a:r>
              <a:rPr lang="en-US" sz="2000" dirty="0"/>
              <a:t>5 set of HIGH and 5 set of MIX workloads are randomly selected</a:t>
            </a:r>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
        <p:nvSpPr>
          <p:cNvPr id="2" name="Rounded Rectangle 1">
            <a:extLst>
              <a:ext uri="{FF2B5EF4-FFF2-40B4-BE49-F238E27FC236}">
                <a16:creationId xmlns:a16="http://schemas.microsoft.com/office/drawing/2014/main" id="{B53325BC-4AA9-EE19-7D16-1D4D98B34B67}"/>
              </a:ext>
            </a:extLst>
          </p:cNvPr>
          <p:cNvSpPr/>
          <p:nvPr/>
        </p:nvSpPr>
        <p:spPr>
          <a:xfrm>
            <a:off x="3221182" y="3416927"/>
            <a:ext cx="820882" cy="44680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89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H2</a:t>
            </a:r>
          </a:p>
        </p:txBody>
      </p:sp>
      <p:sp>
        <p:nvSpPr>
          <p:cNvPr id="3" name="Rounded Rectangle 2">
            <a:extLst>
              <a:ext uri="{FF2B5EF4-FFF2-40B4-BE49-F238E27FC236}">
                <a16:creationId xmlns:a16="http://schemas.microsoft.com/office/drawing/2014/main" id="{CE786303-9997-9773-6E7B-4A6D55B651B7}"/>
              </a:ext>
            </a:extLst>
          </p:cNvPr>
          <p:cNvSpPr/>
          <p:nvPr/>
        </p:nvSpPr>
        <p:spPr>
          <a:xfrm>
            <a:off x="4152900" y="3416926"/>
            <a:ext cx="820882" cy="44680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89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H17</a:t>
            </a:r>
          </a:p>
        </p:txBody>
      </p:sp>
      <p:sp>
        <p:nvSpPr>
          <p:cNvPr id="6" name="Rounded Rectangle 5">
            <a:extLst>
              <a:ext uri="{FF2B5EF4-FFF2-40B4-BE49-F238E27FC236}">
                <a16:creationId xmlns:a16="http://schemas.microsoft.com/office/drawing/2014/main" id="{6338F32E-4D1B-DC9A-B852-99C1856C7D80}"/>
              </a:ext>
            </a:extLst>
          </p:cNvPr>
          <p:cNvSpPr/>
          <p:nvPr/>
        </p:nvSpPr>
        <p:spPr>
          <a:xfrm>
            <a:off x="5084618" y="3416926"/>
            <a:ext cx="820882" cy="44680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89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H33</a:t>
            </a:r>
          </a:p>
        </p:txBody>
      </p:sp>
      <p:sp>
        <p:nvSpPr>
          <p:cNvPr id="9" name="Rounded Rectangle 8">
            <a:extLst>
              <a:ext uri="{FF2B5EF4-FFF2-40B4-BE49-F238E27FC236}">
                <a16:creationId xmlns:a16="http://schemas.microsoft.com/office/drawing/2014/main" id="{2150E08D-1E46-DCF8-86B2-004B7979D539}"/>
              </a:ext>
            </a:extLst>
          </p:cNvPr>
          <p:cNvSpPr/>
          <p:nvPr/>
        </p:nvSpPr>
        <p:spPr>
          <a:xfrm>
            <a:off x="6016336" y="3416925"/>
            <a:ext cx="820882" cy="44680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89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H7</a:t>
            </a:r>
          </a:p>
        </p:txBody>
      </p:sp>
      <p:sp>
        <p:nvSpPr>
          <p:cNvPr id="10" name="Rounded Rectangle 9">
            <a:extLst>
              <a:ext uri="{FF2B5EF4-FFF2-40B4-BE49-F238E27FC236}">
                <a16:creationId xmlns:a16="http://schemas.microsoft.com/office/drawing/2014/main" id="{DB37FB01-3CCE-52F8-FA95-E30C74B94457}"/>
              </a:ext>
            </a:extLst>
          </p:cNvPr>
          <p:cNvSpPr/>
          <p:nvPr/>
        </p:nvSpPr>
        <p:spPr>
          <a:xfrm>
            <a:off x="6948054" y="3416924"/>
            <a:ext cx="820882" cy="44680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89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H19</a:t>
            </a:r>
          </a:p>
        </p:txBody>
      </p:sp>
      <p:sp>
        <p:nvSpPr>
          <p:cNvPr id="11" name="Rounded Rectangle 10">
            <a:extLst>
              <a:ext uri="{FF2B5EF4-FFF2-40B4-BE49-F238E27FC236}">
                <a16:creationId xmlns:a16="http://schemas.microsoft.com/office/drawing/2014/main" id="{A4893CDF-05B9-183B-60A9-22494168389B}"/>
              </a:ext>
            </a:extLst>
          </p:cNvPr>
          <p:cNvSpPr/>
          <p:nvPr/>
        </p:nvSpPr>
        <p:spPr>
          <a:xfrm>
            <a:off x="3231573" y="3964182"/>
            <a:ext cx="820882" cy="446809"/>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08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M1</a:t>
            </a:r>
          </a:p>
        </p:txBody>
      </p:sp>
      <p:sp>
        <p:nvSpPr>
          <p:cNvPr id="12" name="Rounded Rectangle 11">
            <a:extLst>
              <a:ext uri="{FF2B5EF4-FFF2-40B4-BE49-F238E27FC236}">
                <a16:creationId xmlns:a16="http://schemas.microsoft.com/office/drawing/2014/main" id="{1523AD01-0B9F-3292-5887-A8B0AB4E4A45}"/>
              </a:ext>
            </a:extLst>
          </p:cNvPr>
          <p:cNvSpPr/>
          <p:nvPr/>
        </p:nvSpPr>
        <p:spPr>
          <a:xfrm>
            <a:off x="4152900" y="3964181"/>
            <a:ext cx="820882" cy="446809"/>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08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M3</a:t>
            </a:r>
          </a:p>
        </p:txBody>
      </p:sp>
      <p:sp>
        <p:nvSpPr>
          <p:cNvPr id="13" name="Rounded Rectangle 12">
            <a:extLst>
              <a:ext uri="{FF2B5EF4-FFF2-40B4-BE49-F238E27FC236}">
                <a16:creationId xmlns:a16="http://schemas.microsoft.com/office/drawing/2014/main" id="{96B30680-4437-0510-FCF8-CEDB6738799F}"/>
              </a:ext>
            </a:extLst>
          </p:cNvPr>
          <p:cNvSpPr/>
          <p:nvPr/>
        </p:nvSpPr>
        <p:spPr>
          <a:xfrm>
            <a:off x="5084618" y="3964181"/>
            <a:ext cx="820882" cy="446809"/>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08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M5</a:t>
            </a:r>
          </a:p>
        </p:txBody>
      </p:sp>
      <p:sp>
        <p:nvSpPr>
          <p:cNvPr id="14" name="Rounded Rectangle 13">
            <a:extLst>
              <a:ext uri="{FF2B5EF4-FFF2-40B4-BE49-F238E27FC236}">
                <a16:creationId xmlns:a16="http://schemas.microsoft.com/office/drawing/2014/main" id="{C1BF1537-8E4C-0DAB-BEE7-586E46D473CB}"/>
              </a:ext>
            </a:extLst>
          </p:cNvPr>
          <p:cNvSpPr/>
          <p:nvPr/>
        </p:nvSpPr>
        <p:spPr>
          <a:xfrm>
            <a:off x="6016336" y="3964180"/>
            <a:ext cx="820882" cy="446809"/>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08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M14</a:t>
            </a:r>
          </a:p>
        </p:txBody>
      </p:sp>
      <p:sp>
        <p:nvSpPr>
          <p:cNvPr id="15" name="Rounded Rectangle 14">
            <a:extLst>
              <a:ext uri="{FF2B5EF4-FFF2-40B4-BE49-F238E27FC236}">
                <a16:creationId xmlns:a16="http://schemas.microsoft.com/office/drawing/2014/main" id="{82A9927F-434C-D652-3DB3-BE0597688FB3}"/>
              </a:ext>
            </a:extLst>
          </p:cNvPr>
          <p:cNvSpPr/>
          <p:nvPr/>
        </p:nvSpPr>
        <p:spPr>
          <a:xfrm>
            <a:off x="6948054" y="3964179"/>
            <a:ext cx="820882" cy="446809"/>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0800000" scaled="1"/>
            <a:tileRect/>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M8</a:t>
            </a:r>
          </a:p>
        </p:txBody>
      </p:sp>
      <p:sp>
        <p:nvSpPr>
          <p:cNvPr id="16" name="TextBox 15">
            <a:extLst>
              <a:ext uri="{FF2B5EF4-FFF2-40B4-BE49-F238E27FC236}">
                <a16:creationId xmlns:a16="http://schemas.microsoft.com/office/drawing/2014/main" id="{EF346026-E38E-0BA6-0939-136162FAC27E}"/>
              </a:ext>
            </a:extLst>
          </p:cNvPr>
          <p:cNvSpPr txBox="1"/>
          <p:nvPr/>
        </p:nvSpPr>
        <p:spPr>
          <a:xfrm>
            <a:off x="4313910" y="2934958"/>
            <a:ext cx="2905990" cy="369332"/>
          </a:xfrm>
          <a:prstGeom prst="rect">
            <a:avLst/>
          </a:prstGeom>
          <a:noFill/>
        </p:spPr>
        <p:txBody>
          <a:bodyPr wrap="square" rtlCol="0">
            <a:spAutoFit/>
          </a:bodyPr>
          <a:lstStyle/>
          <a:p>
            <a:r>
              <a:rPr lang="en-US" b="1" dirty="0"/>
              <a:t>5 set of HIGH workloads</a:t>
            </a:r>
          </a:p>
        </p:txBody>
      </p:sp>
      <p:sp>
        <p:nvSpPr>
          <p:cNvPr id="17" name="TextBox 16">
            <a:extLst>
              <a:ext uri="{FF2B5EF4-FFF2-40B4-BE49-F238E27FC236}">
                <a16:creationId xmlns:a16="http://schemas.microsoft.com/office/drawing/2014/main" id="{27A29404-628E-49A9-C32A-ABEC6455C38D}"/>
              </a:ext>
            </a:extLst>
          </p:cNvPr>
          <p:cNvSpPr txBox="1"/>
          <p:nvPr/>
        </p:nvSpPr>
        <p:spPr>
          <a:xfrm>
            <a:off x="4313910" y="4469377"/>
            <a:ext cx="2905990" cy="369332"/>
          </a:xfrm>
          <a:prstGeom prst="rect">
            <a:avLst/>
          </a:prstGeom>
          <a:noFill/>
        </p:spPr>
        <p:txBody>
          <a:bodyPr wrap="square" rtlCol="0">
            <a:spAutoFit/>
          </a:bodyPr>
          <a:lstStyle/>
          <a:p>
            <a:r>
              <a:rPr lang="en-US" b="1" dirty="0"/>
              <a:t>5 set of MIX workloads</a:t>
            </a:r>
          </a:p>
        </p:txBody>
      </p:sp>
    </p:spTree>
    <p:extLst>
      <p:ext uri="{BB962C8B-B14F-4D97-AF65-F5344CB8AC3E}">
        <p14:creationId xmlns:p14="http://schemas.microsoft.com/office/powerpoint/2010/main" val="2856528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21622" y="148399"/>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Steps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521622" y="1118741"/>
            <a:ext cx="8584018"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
              <a:lnSpc>
                <a:spcPct val="90000"/>
              </a:lnSpc>
              <a:spcAft>
                <a:spcPts val="600"/>
              </a:spcAft>
            </a:pPr>
            <a:r>
              <a:rPr lang="en-US" sz="2000" dirty="0"/>
              <a:t>2.     Simulation is launched with single feature to collect statistics. Top-N features are selected to pass onto the next iteration.   </a:t>
            </a:r>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cxnSp>
        <p:nvCxnSpPr>
          <p:cNvPr id="7" name="Straight Connector 6">
            <a:extLst>
              <a:ext uri="{FF2B5EF4-FFF2-40B4-BE49-F238E27FC236}">
                <a16:creationId xmlns:a16="http://schemas.microsoft.com/office/drawing/2014/main" id="{EA069E69-1E82-3B1A-B467-F26325E28781}"/>
              </a:ext>
            </a:extLst>
          </p:cNvPr>
          <p:cNvCxnSpPr>
            <a:cxnSpLocks/>
          </p:cNvCxnSpPr>
          <p:nvPr/>
        </p:nvCxnSpPr>
        <p:spPr>
          <a:xfrm flipH="1">
            <a:off x="3221181" y="1870364"/>
            <a:ext cx="1" cy="411480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9155E494-E96F-C034-8731-0F2C779AB98D}"/>
              </a:ext>
            </a:extLst>
          </p:cNvPr>
          <p:cNvSpPr/>
          <p:nvPr/>
        </p:nvSpPr>
        <p:spPr>
          <a:xfrm>
            <a:off x="3221182" y="1963882"/>
            <a:ext cx="4426527" cy="290945"/>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CD08A72-07A7-FEEA-25A5-85EA66FAF78E}"/>
              </a:ext>
            </a:extLst>
          </p:cNvPr>
          <p:cNvSpPr/>
          <p:nvPr/>
        </p:nvSpPr>
        <p:spPr>
          <a:xfrm>
            <a:off x="3221183" y="2348345"/>
            <a:ext cx="4312226" cy="290945"/>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980F5B8-2E6D-1B7E-01B6-E3587FE08C51}"/>
              </a:ext>
            </a:extLst>
          </p:cNvPr>
          <p:cNvSpPr/>
          <p:nvPr/>
        </p:nvSpPr>
        <p:spPr>
          <a:xfrm>
            <a:off x="3221183" y="2753589"/>
            <a:ext cx="4236016" cy="290945"/>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A96CAF-5F50-DA01-21F7-838DA737FA31}"/>
              </a:ext>
            </a:extLst>
          </p:cNvPr>
          <p:cNvSpPr/>
          <p:nvPr/>
        </p:nvSpPr>
        <p:spPr>
          <a:xfrm>
            <a:off x="3221182" y="3158833"/>
            <a:ext cx="3657598" cy="290945"/>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7A02EC2-C381-F333-1F89-E914669BC675}"/>
              </a:ext>
            </a:extLst>
          </p:cNvPr>
          <p:cNvSpPr/>
          <p:nvPr/>
        </p:nvSpPr>
        <p:spPr>
          <a:xfrm>
            <a:off x="3221182" y="3590056"/>
            <a:ext cx="3564082" cy="290945"/>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A479F14-E68D-40C4-416A-571C73A616B4}"/>
              </a:ext>
            </a:extLst>
          </p:cNvPr>
          <p:cNvSpPr/>
          <p:nvPr/>
        </p:nvSpPr>
        <p:spPr>
          <a:xfrm>
            <a:off x="3221181" y="4243934"/>
            <a:ext cx="509150"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0B2E495-CDDB-2147-1207-1B37F4E3E9A5}"/>
              </a:ext>
            </a:extLst>
          </p:cNvPr>
          <p:cNvSpPr/>
          <p:nvPr/>
        </p:nvSpPr>
        <p:spPr>
          <a:xfrm>
            <a:off x="3221181" y="4676016"/>
            <a:ext cx="426017"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46F34F-57FA-B20F-12FA-08F712711AA7}"/>
              </a:ext>
            </a:extLst>
          </p:cNvPr>
          <p:cNvSpPr/>
          <p:nvPr/>
        </p:nvSpPr>
        <p:spPr>
          <a:xfrm>
            <a:off x="3221182" y="5108098"/>
            <a:ext cx="342900"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176253D-531E-610C-AC23-1C7C67B4E400}"/>
              </a:ext>
            </a:extLst>
          </p:cNvPr>
          <p:cNvSpPr/>
          <p:nvPr/>
        </p:nvSpPr>
        <p:spPr>
          <a:xfrm>
            <a:off x="3221181" y="5540180"/>
            <a:ext cx="342897"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1A5DC8EF-F19F-D717-07E8-49D4B632BC98}"/>
              </a:ext>
            </a:extLst>
          </p:cNvPr>
          <p:cNvCxnSpPr>
            <a:cxnSpLocks/>
          </p:cNvCxnSpPr>
          <p:nvPr/>
        </p:nvCxnSpPr>
        <p:spPr>
          <a:xfrm flipH="1">
            <a:off x="3210792" y="5973921"/>
            <a:ext cx="6057900"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Right Brace 27">
            <a:extLst>
              <a:ext uri="{FF2B5EF4-FFF2-40B4-BE49-F238E27FC236}">
                <a16:creationId xmlns:a16="http://schemas.microsoft.com/office/drawing/2014/main" id="{B0D1C598-0A3C-D0D9-1509-E77E9E86ECEF}"/>
              </a:ext>
            </a:extLst>
          </p:cNvPr>
          <p:cNvSpPr/>
          <p:nvPr/>
        </p:nvSpPr>
        <p:spPr>
          <a:xfrm>
            <a:off x="7429497" y="1870365"/>
            <a:ext cx="592286" cy="204666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39C94492-8916-96DE-986E-0C98C0E659C0}"/>
              </a:ext>
            </a:extLst>
          </p:cNvPr>
          <p:cNvSpPr txBox="1"/>
          <p:nvPr/>
        </p:nvSpPr>
        <p:spPr>
          <a:xfrm>
            <a:off x="8024982" y="2563878"/>
            <a:ext cx="1724891" cy="646331"/>
          </a:xfrm>
          <a:prstGeom prst="rect">
            <a:avLst/>
          </a:prstGeom>
          <a:noFill/>
        </p:spPr>
        <p:txBody>
          <a:bodyPr wrap="square" rtlCol="0">
            <a:spAutoFit/>
          </a:bodyPr>
          <a:lstStyle/>
          <a:p>
            <a:r>
              <a:rPr lang="en-US" b="1" dirty="0"/>
              <a:t>Top-N features are selected </a:t>
            </a:r>
          </a:p>
        </p:txBody>
      </p:sp>
      <p:sp>
        <p:nvSpPr>
          <p:cNvPr id="30" name="TextBox 29">
            <a:extLst>
              <a:ext uri="{FF2B5EF4-FFF2-40B4-BE49-F238E27FC236}">
                <a16:creationId xmlns:a16="http://schemas.microsoft.com/office/drawing/2014/main" id="{9288317F-10B8-DE4D-6E33-23EF707B29E1}"/>
              </a:ext>
            </a:extLst>
          </p:cNvPr>
          <p:cNvSpPr txBox="1"/>
          <p:nvPr/>
        </p:nvSpPr>
        <p:spPr>
          <a:xfrm>
            <a:off x="5143501" y="5954898"/>
            <a:ext cx="2878281" cy="369332"/>
          </a:xfrm>
          <a:prstGeom prst="rect">
            <a:avLst/>
          </a:prstGeom>
          <a:noFill/>
        </p:spPr>
        <p:txBody>
          <a:bodyPr wrap="square" rtlCol="0">
            <a:spAutoFit/>
          </a:bodyPr>
          <a:lstStyle/>
          <a:p>
            <a:r>
              <a:rPr lang="en-US" b="1" dirty="0"/>
              <a:t>Normalized Performance</a:t>
            </a:r>
          </a:p>
        </p:txBody>
      </p:sp>
      <p:sp>
        <p:nvSpPr>
          <p:cNvPr id="31" name="TextBox 30">
            <a:extLst>
              <a:ext uri="{FF2B5EF4-FFF2-40B4-BE49-F238E27FC236}">
                <a16:creationId xmlns:a16="http://schemas.microsoft.com/office/drawing/2014/main" id="{92871E03-B3A4-69FF-6BB2-C60C53C80F48}"/>
              </a:ext>
            </a:extLst>
          </p:cNvPr>
          <p:cNvSpPr txBox="1"/>
          <p:nvPr/>
        </p:nvSpPr>
        <p:spPr>
          <a:xfrm>
            <a:off x="2026232" y="1924321"/>
            <a:ext cx="1194949" cy="369332"/>
          </a:xfrm>
          <a:prstGeom prst="rect">
            <a:avLst/>
          </a:prstGeom>
          <a:noFill/>
        </p:spPr>
        <p:txBody>
          <a:bodyPr wrap="square" rtlCol="0">
            <a:spAutoFit/>
          </a:bodyPr>
          <a:lstStyle/>
          <a:p>
            <a:r>
              <a:rPr lang="en-US" b="1" dirty="0"/>
              <a:t>Feature 5</a:t>
            </a:r>
          </a:p>
        </p:txBody>
      </p:sp>
      <p:sp>
        <p:nvSpPr>
          <p:cNvPr id="32" name="TextBox 31">
            <a:extLst>
              <a:ext uri="{FF2B5EF4-FFF2-40B4-BE49-F238E27FC236}">
                <a16:creationId xmlns:a16="http://schemas.microsoft.com/office/drawing/2014/main" id="{BAA369B0-8BD4-6A4C-9F9C-C27BB5997B43}"/>
              </a:ext>
            </a:extLst>
          </p:cNvPr>
          <p:cNvSpPr txBox="1"/>
          <p:nvPr/>
        </p:nvSpPr>
        <p:spPr>
          <a:xfrm>
            <a:off x="1948302" y="2305469"/>
            <a:ext cx="1350808" cy="369332"/>
          </a:xfrm>
          <a:prstGeom prst="rect">
            <a:avLst/>
          </a:prstGeom>
          <a:noFill/>
        </p:spPr>
        <p:txBody>
          <a:bodyPr wrap="square" rtlCol="0">
            <a:spAutoFit/>
          </a:bodyPr>
          <a:lstStyle/>
          <a:p>
            <a:r>
              <a:rPr lang="en-US" b="1" dirty="0"/>
              <a:t>Feature 13</a:t>
            </a:r>
          </a:p>
        </p:txBody>
      </p:sp>
      <p:sp>
        <p:nvSpPr>
          <p:cNvPr id="33" name="TextBox 32">
            <a:extLst>
              <a:ext uri="{FF2B5EF4-FFF2-40B4-BE49-F238E27FC236}">
                <a16:creationId xmlns:a16="http://schemas.microsoft.com/office/drawing/2014/main" id="{7716E2FE-0183-3D72-BE04-5A64FB72A7FE}"/>
              </a:ext>
            </a:extLst>
          </p:cNvPr>
          <p:cNvSpPr txBox="1"/>
          <p:nvPr/>
        </p:nvSpPr>
        <p:spPr>
          <a:xfrm>
            <a:off x="2026232" y="2702378"/>
            <a:ext cx="1350808" cy="369332"/>
          </a:xfrm>
          <a:prstGeom prst="rect">
            <a:avLst/>
          </a:prstGeom>
          <a:noFill/>
        </p:spPr>
        <p:txBody>
          <a:bodyPr wrap="square" rtlCol="0">
            <a:spAutoFit/>
          </a:bodyPr>
          <a:lstStyle/>
          <a:p>
            <a:r>
              <a:rPr lang="en-US" b="1" dirty="0"/>
              <a:t>Feature 7</a:t>
            </a:r>
          </a:p>
        </p:txBody>
      </p:sp>
      <p:sp>
        <p:nvSpPr>
          <p:cNvPr id="34" name="TextBox 33">
            <a:extLst>
              <a:ext uri="{FF2B5EF4-FFF2-40B4-BE49-F238E27FC236}">
                <a16:creationId xmlns:a16="http://schemas.microsoft.com/office/drawing/2014/main" id="{E2A97B18-B3B0-514F-FC55-D6F7A22E3083}"/>
              </a:ext>
            </a:extLst>
          </p:cNvPr>
          <p:cNvSpPr txBox="1"/>
          <p:nvPr/>
        </p:nvSpPr>
        <p:spPr>
          <a:xfrm>
            <a:off x="1967359" y="3125037"/>
            <a:ext cx="1350807" cy="369332"/>
          </a:xfrm>
          <a:prstGeom prst="rect">
            <a:avLst/>
          </a:prstGeom>
          <a:noFill/>
        </p:spPr>
        <p:txBody>
          <a:bodyPr wrap="square" rtlCol="0">
            <a:spAutoFit/>
          </a:bodyPr>
          <a:lstStyle/>
          <a:p>
            <a:r>
              <a:rPr lang="en-US" b="1" dirty="0"/>
              <a:t>Feature 21</a:t>
            </a:r>
          </a:p>
        </p:txBody>
      </p:sp>
      <p:sp>
        <p:nvSpPr>
          <p:cNvPr id="35" name="TextBox 34">
            <a:extLst>
              <a:ext uri="{FF2B5EF4-FFF2-40B4-BE49-F238E27FC236}">
                <a16:creationId xmlns:a16="http://schemas.microsoft.com/office/drawing/2014/main" id="{536CA1D5-640A-5A8A-4AD8-1F8F504756F3}"/>
              </a:ext>
            </a:extLst>
          </p:cNvPr>
          <p:cNvSpPr txBox="1"/>
          <p:nvPr/>
        </p:nvSpPr>
        <p:spPr>
          <a:xfrm>
            <a:off x="2041823" y="3547696"/>
            <a:ext cx="1350807" cy="369332"/>
          </a:xfrm>
          <a:prstGeom prst="rect">
            <a:avLst/>
          </a:prstGeom>
          <a:noFill/>
        </p:spPr>
        <p:txBody>
          <a:bodyPr wrap="square" rtlCol="0">
            <a:spAutoFit/>
          </a:bodyPr>
          <a:lstStyle/>
          <a:p>
            <a:r>
              <a:rPr lang="en-US" b="1" dirty="0"/>
              <a:t>Feature 4</a:t>
            </a:r>
          </a:p>
        </p:txBody>
      </p:sp>
      <p:sp>
        <p:nvSpPr>
          <p:cNvPr id="36" name="TextBox 35">
            <a:extLst>
              <a:ext uri="{FF2B5EF4-FFF2-40B4-BE49-F238E27FC236}">
                <a16:creationId xmlns:a16="http://schemas.microsoft.com/office/drawing/2014/main" id="{90E2D720-74F4-BCE1-0A95-7326C16EB740}"/>
              </a:ext>
            </a:extLst>
          </p:cNvPr>
          <p:cNvSpPr txBox="1"/>
          <p:nvPr/>
        </p:nvSpPr>
        <p:spPr>
          <a:xfrm>
            <a:off x="3231571" y="3483574"/>
            <a:ext cx="696191" cy="707886"/>
          </a:xfrm>
          <a:prstGeom prst="rect">
            <a:avLst/>
          </a:prstGeom>
          <a:noFill/>
        </p:spPr>
        <p:txBody>
          <a:bodyPr wrap="square" rtlCol="0">
            <a:spAutoFit/>
          </a:bodyPr>
          <a:lstStyle/>
          <a:p>
            <a:r>
              <a:rPr lang="en-US" sz="4000" dirty="0"/>
              <a:t>.</a:t>
            </a:r>
          </a:p>
        </p:txBody>
      </p:sp>
      <p:sp>
        <p:nvSpPr>
          <p:cNvPr id="37" name="TextBox 36">
            <a:extLst>
              <a:ext uri="{FF2B5EF4-FFF2-40B4-BE49-F238E27FC236}">
                <a16:creationId xmlns:a16="http://schemas.microsoft.com/office/drawing/2014/main" id="{04083D13-FE61-752C-2C42-6D05C6DE2CEA}"/>
              </a:ext>
            </a:extLst>
          </p:cNvPr>
          <p:cNvSpPr txBox="1"/>
          <p:nvPr/>
        </p:nvSpPr>
        <p:spPr>
          <a:xfrm>
            <a:off x="3228372" y="3594316"/>
            <a:ext cx="696191" cy="707886"/>
          </a:xfrm>
          <a:prstGeom prst="rect">
            <a:avLst/>
          </a:prstGeom>
          <a:noFill/>
        </p:spPr>
        <p:txBody>
          <a:bodyPr wrap="square" rtlCol="0">
            <a:spAutoFit/>
          </a:bodyPr>
          <a:lstStyle/>
          <a:p>
            <a:r>
              <a:rPr lang="en-US" sz="4000" dirty="0"/>
              <a:t>.</a:t>
            </a:r>
          </a:p>
        </p:txBody>
      </p:sp>
    </p:spTree>
    <p:extLst>
      <p:ext uri="{BB962C8B-B14F-4D97-AF65-F5344CB8AC3E}">
        <p14:creationId xmlns:p14="http://schemas.microsoft.com/office/powerpoint/2010/main" val="2914850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ounded Rectangle 59">
            <a:extLst>
              <a:ext uri="{FF2B5EF4-FFF2-40B4-BE49-F238E27FC236}">
                <a16:creationId xmlns:a16="http://schemas.microsoft.com/office/drawing/2014/main" id="{91D31459-A6D7-843F-2AA3-5009068A5B5C}"/>
              </a:ext>
            </a:extLst>
          </p:cNvPr>
          <p:cNvSpPr/>
          <p:nvPr/>
        </p:nvSpPr>
        <p:spPr>
          <a:xfrm>
            <a:off x="810491" y="2182091"/>
            <a:ext cx="10505209" cy="28575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21622" y="148399"/>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Steps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521622" y="1118741"/>
            <a:ext cx="8206742"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
              <a:lnSpc>
                <a:spcPct val="90000"/>
              </a:lnSpc>
              <a:spcAft>
                <a:spcPts val="600"/>
              </a:spcAft>
            </a:pPr>
            <a:r>
              <a:rPr lang="en-US" sz="2000" dirty="0"/>
              <a:t>3.     Selected features are coupled with another single feature to form a </a:t>
            </a:r>
          </a:p>
          <a:p>
            <a:pPr marL="57150">
              <a:lnSpc>
                <a:spcPct val="90000"/>
              </a:lnSpc>
              <a:spcAft>
                <a:spcPts val="600"/>
              </a:spcAft>
            </a:pPr>
            <a:r>
              <a:rPr lang="en-US" sz="2000" dirty="0"/>
              <a:t>set-of-2 combination. </a:t>
            </a:r>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
        <p:nvSpPr>
          <p:cNvPr id="41" name="TextBox 40">
            <a:extLst>
              <a:ext uri="{FF2B5EF4-FFF2-40B4-BE49-F238E27FC236}">
                <a16:creationId xmlns:a16="http://schemas.microsoft.com/office/drawing/2014/main" id="{1F666E2C-0433-B1F0-1582-1A4E11913D12}"/>
              </a:ext>
            </a:extLst>
          </p:cNvPr>
          <p:cNvSpPr txBox="1"/>
          <p:nvPr/>
        </p:nvSpPr>
        <p:spPr>
          <a:xfrm>
            <a:off x="1281556" y="2855022"/>
            <a:ext cx="4152889"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chemeClr val="accent5">
                    <a:lumMod val="50000"/>
                  </a:schemeClr>
                </a:solidFill>
              </a:rPr>
              <a:t>Feature 1 </a:t>
            </a:r>
          </a:p>
        </p:txBody>
      </p:sp>
      <p:sp>
        <p:nvSpPr>
          <p:cNvPr id="42" name="TextBox 41">
            <a:extLst>
              <a:ext uri="{FF2B5EF4-FFF2-40B4-BE49-F238E27FC236}">
                <a16:creationId xmlns:a16="http://schemas.microsoft.com/office/drawing/2014/main" id="{626E2446-CD57-C28C-F699-B54817D77617}"/>
              </a:ext>
            </a:extLst>
          </p:cNvPr>
          <p:cNvSpPr txBox="1"/>
          <p:nvPr/>
        </p:nvSpPr>
        <p:spPr>
          <a:xfrm>
            <a:off x="1073737" y="2301566"/>
            <a:ext cx="3778817" cy="461665"/>
          </a:xfrm>
          <a:prstGeom prst="rect">
            <a:avLst/>
          </a:prstGeom>
          <a:noFill/>
        </p:spPr>
        <p:txBody>
          <a:bodyPr wrap="square" rtlCol="0">
            <a:spAutoFit/>
          </a:bodyPr>
          <a:lstStyle/>
          <a:p>
            <a:r>
              <a:rPr lang="en-US" sz="2400" b="1" dirty="0"/>
              <a:t>Set-of-2 combination</a:t>
            </a:r>
          </a:p>
        </p:txBody>
      </p:sp>
      <p:sp>
        <p:nvSpPr>
          <p:cNvPr id="43" name="TextBox 42">
            <a:extLst>
              <a:ext uri="{FF2B5EF4-FFF2-40B4-BE49-F238E27FC236}">
                <a16:creationId xmlns:a16="http://schemas.microsoft.com/office/drawing/2014/main" id="{48709E98-09FB-1251-EE07-61AFE3E43667}"/>
              </a:ext>
            </a:extLst>
          </p:cNvPr>
          <p:cNvSpPr txBox="1"/>
          <p:nvPr/>
        </p:nvSpPr>
        <p:spPr>
          <a:xfrm>
            <a:off x="1285025" y="3067265"/>
            <a:ext cx="4575447"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chemeClr val="accent4">
                    <a:lumMod val="50000"/>
                  </a:schemeClr>
                </a:solidFill>
              </a:rPr>
              <a:t>Feature 2</a:t>
            </a:r>
          </a:p>
        </p:txBody>
      </p:sp>
      <p:sp>
        <p:nvSpPr>
          <p:cNvPr id="44" name="TextBox 43">
            <a:extLst>
              <a:ext uri="{FF2B5EF4-FFF2-40B4-BE49-F238E27FC236}">
                <a16:creationId xmlns:a16="http://schemas.microsoft.com/office/drawing/2014/main" id="{F278F493-5D46-94FC-DF3F-40A47B5008EC}"/>
              </a:ext>
            </a:extLst>
          </p:cNvPr>
          <p:cNvSpPr txBox="1"/>
          <p:nvPr/>
        </p:nvSpPr>
        <p:spPr>
          <a:xfrm>
            <a:off x="1281555" y="3276541"/>
            <a:ext cx="3778817"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chemeClr val="accent2">
                    <a:lumMod val="50000"/>
                  </a:schemeClr>
                </a:solidFill>
              </a:rPr>
              <a:t>Feature 3</a:t>
            </a:r>
          </a:p>
        </p:txBody>
      </p:sp>
      <p:sp>
        <p:nvSpPr>
          <p:cNvPr id="45" name="TextBox 44">
            <a:extLst>
              <a:ext uri="{FF2B5EF4-FFF2-40B4-BE49-F238E27FC236}">
                <a16:creationId xmlns:a16="http://schemas.microsoft.com/office/drawing/2014/main" id="{70E4798A-DA83-3D13-1282-5256B44643EE}"/>
              </a:ext>
            </a:extLst>
          </p:cNvPr>
          <p:cNvSpPr txBox="1"/>
          <p:nvPr/>
        </p:nvSpPr>
        <p:spPr>
          <a:xfrm>
            <a:off x="1278085" y="3488784"/>
            <a:ext cx="4052451"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chemeClr val="accent6"/>
                </a:solidFill>
              </a:rPr>
              <a:t>Feature 4</a:t>
            </a:r>
          </a:p>
        </p:txBody>
      </p:sp>
      <p:sp>
        <p:nvSpPr>
          <p:cNvPr id="46" name="TextBox 45">
            <a:extLst>
              <a:ext uri="{FF2B5EF4-FFF2-40B4-BE49-F238E27FC236}">
                <a16:creationId xmlns:a16="http://schemas.microsoft.com/office/drawing/2014/main" id="{17D5D921-549D-F64E-D643-1D9FF9AAF0C4}"/>
              </a:ext>
            </a:extLst>
          </p:cNvPr>
          <p:cNvSpPr txBox="1"/>
          <p:nvPr/>
        </p:nvSpPr>
        <p:spPr>
          <a:xfrm>
            <a:off x="1278084" y="3703678"/>
            <a:ext cx="4052451"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rgbClr val="C00000"/>
                </a:solidFill>
              </a:rPr>
              <a:t>Feature 6</a:t>
            </a:r>
          </a:p>
        </p:txBody>
      </p:sp>
      <p:sp>
        <p:nvSpPr>
          <p:cNvPr id="47" name="TextBox 46">
            <a:extLst>
              <a:ext uri="{FF2B5EF4-FFF2-40B4-BE49-F238E27FC236}">
                <a16:creationId xmlns:a16="http://schemas.microsoft.com/office/drawing/2014/main" id="{7BA8BC35-972D-0AD7-3561-7A9B464B89ED}"/>
              </a:ext>
            </a:extLst>
          </p:cNvPr>
          <p:cNvSpPr txBox="1"/>
          <p:nvPr/>
        </p:nvSpPr>
        <p:spPr>
          <a:xfrm>
            <a:off x="1278083" y="3915379"/>
            <a:ext cx="4052451" cy="923330"/>
          </a:xfrm>
          <a:prstGeom prst="rect">
            <a:avLst/>
          </a:prstGeom>
          <a:noFill/>
        </p:spPr>
        <p:txBody>
          <a:bodyPr wrap="square" rtlCol="0">
            <a:spAutoFit/>
          </a:bodyPr>
          <a:lstStyle/>
          <a:p>
            <a:r>
              <a:rPr lang="en-US" b="1" dirty="0">
                <a:solidFill>
                  <a:schemeClr val="accent6">
                    <a:lumMod val="50000"/>
                  </a:schemeClr>
                </a:solidFill>
              </a:rPr>
              <a:t>.</a:t>
            </a:r>
          </a:p>
          <a:p>
            <a:r>
              <a:rPr lang="en-US" b="1" dirty="0">
                <a:solidFill>
                  <a:schemeClr val="accent6">
                    <a:lumMod val="50000"/>
                  </a:schemeClr>
                </a:solidFill>
              </a:rPr>
              <a:t>.</a:t>
            </a:r>
          </a:p>
          <a:p>
            <a:r>
              <a:rPr lang="en-US" b="1" dirty="0">
                <a:solidFill>
                  <a:schemeClr val="accent6">
                    <a:lumMod val="50000"/>
                  </a:schemeClr>
                </a:solidFill>
              </a:rPr>
              <a:t>.</a:t>
            </a:r>
          </a:p>
        </p:txBody>
      </p:sp>
      <p:sp>
        <p:nvSpPr>
          <p:cNvPr id="48" name="TextBox 47">
            <a:extLst>
              <a:ext uri="{FF2B5EF4-FFF2-40B4-BE49-F238E27FC236}">
                <a16:creationId xmlns:a16="http://schemas.microsoft.com/office/drawing/2014/main" id="{858B60E8-111A-297E-FA5C-0CBD6C8FA21B}"/>
              </a:ext>
            </a:extLst>
          </p:cNvPr>
          <p:cNvSpPr txBox="1"/>
          <p:nvPr/>
        </p:nvSpPr>
        <p:spPr>
          <a:xfrm>
            <a:off x="3979729" y="2852686"/>
            <a:ext cx="4152889"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chemeClr val="accent5">
                    <a:lumMod val="50000"/>
                  </a:schemeClr>
                </a:solidFill>
              </a:rPr>
              <a:t>Feature 1 </a:t>
            </a:r>
          </a:p>
        </p:txBody>
      </p:sp>
      <p:sp>
        <p:nvSpPr>
          <p:cNvPr id="49" name="TextBox 48">
            <a:extLst>
              <a:ext uri="{FF2B5EF4-FFF2-40B4-BE49-F238E27FC236}">
                <a16:creationId xmlns:a16="http://schemas.microsoft.com/office/drawing/2014/main" id="{14E75057-059F-8C6A-7898-204D4293FA8F}"/>
              </a:ext>
            </a:extLst>
          </p:cNvPr>
          <p:cNvSpPr txBox="1"/>
          <p:nvPr/>
        </p:nvSpPr>
        <p:spPr>
          <a:xfrm>
            <a:off x="3979728" y="3274205"/>
            <a:ext cx="3778817"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chemeClr val="accent2">
                    <a:lumMod val="50000"/>
                  </a:schemeClr>
                </a:solidFill>
              </a:rPr>
              <a:t>Feature 3</a:t>
            </a:r>
          </a:p>
        </p:txBody>
      </p:sp>
      <p:sp>
        <p:nvSpPr>
          <p:cNvPr id="50" name="TextBox 49">
            <a:extLst>
              <a:ext uri="{FF2B5EF4-FFF2-40B4-BE49-F238E27FC236}">
                <a16:creationId xmlns:a16="http://schemas.microsoft.com/office/drawing/2014/main" id="{A2E464A5-2E0A-AFD1-3705-BB2DDC1597EC}"/>
              </a:ext>
            </a:extLst>
          </p:cNvPr>
          <p:cNvSpPr txBox="1"/>
          <p:nvPr/>
        </p:nvSpPr>
        <p:spPr>
          <a:xfrm>
            <a:off x="3976258" y="3486448"/>
            <a:ext cx="4052451"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chemeClr val="accent6"/>
                </a:solidFill>
              </a:rPr>
              <a:t>Feature 4</a:t>
            </a:r>
          </a:p>
        </p:txBody>
      </p:sp>
      <p:sp>
        <p:nvSpPr>
          <p:cNvPr id="51" name="TextBox 50">
            <a:extLst>
              <a:ext uri="{FF2B5EF4-FFF2-40B4-BE49-F238E27FC236}">
                <a16:creationId xmlns:a16="http://schemas.microsoft.com/office/drawing/2014/main" id="{55FEC8D5-041C-8E15-C784-5B78381C946D}"/>
              </a:ext>
            </a:extLst>
          </p:cNvPr>
          <p:cNvSpPr txBox="1"/>
          <p:nvPr/>
        </p:nvSpPr>
        <p:spPr>
          <a:xfrm>
            <a:off x="3976257" y="3701342"/>
            <a:ext cx="4052451"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rgbClr val="C00000"/>
                </a:solidFill>
              </a:rPr>
              <a:t>Feature 5</a:t>
            </a:r>
          </a:p>
        </p:txBody>
      </p:sp>
      <p:sp>
        <p:nvSpPr>
          <p:cNvPr id="52" name="TextBox 51">
            <a:extLst>
              <a:ext uri="{FF2B5EF4-FFF2-40B4-BE49-F238E27FC236}">
                <a16:creationId xmlns:a16="http://schemas.microsoft.com/office/drawing/2014/main" id="{8948BCF9-0D03-12B1-8CD6-046F42745074}"/>
              </a:ext>
            </a:extLst>
          </p:cNvPr>
          <p:cNvSpPr txBox="1"/>
          <p:nvPr/>
        </p:nvSpPr>
        <p:spPr>
          <a:xfrm>
            <a:off x="3976256" y="3913043"/>
            <a:ext cx="4052451" cy="923330"/>
          </a:xfrm>
          <a:prstGeom prst="rect">
            <a:avLst/>
          </a:prstGeom>
          <a:noFill/>
        </p:spPr>
        <p:txBody>
          <a:bodyPr wrap="square" rtlCol="0">
            <a:spAutoFit/>
          </a:bodyPr>
          <a:lstStyle/>
          <a:p>
            <a:r>
              <a:rPr lang="en-US" b="1" dirty="0">
                <a:solidFill>
                  <a:schemeClr val="accent6">
                    <a:lumMod val="50000"/>
                  </a:schemeClr>
                </a:solidFill>
              </a:rPr>
              <a:t>.</a:t>
            </a:r>
          </a:p>
          <a:p>
            <a:r>
              <a:rPr lang="en-US" b="1" dirty="0">
                <a:solidFill>
                  <a:schemeClr val="accent6">
                    <a:lumMod val="50000"/>
                  </a:schemeClr>
                </a:solidFill>
              </a:rPr>
              <a:t>.</a:t>
            </a:r>
          </a:p>
          <a:p>
            <a:r>
              <a:rPr lang="en-US" b="1" dirty="0">
                <a:solidFill>
                  <a:schemeClr val="accent6">
                    <a:lumMod val="50000"/>
                  </a:schemeClr>
                </a:solidFill>
              </a:rPr>
              <a:t>.</a:t>
            </a:r>
          </a:p>
        </p:txBody>
      </p:sp>
      <p:sp>
        <p:nvSpPr>
          <p:cNvPr id="53" name="TextBox 52">
            <a:extLst>
              <a:ext uri="{FF2B5EF4-FFF2-40B4-BE49-F238E27FC236}">
                <a16:creationId xmlns:a16="http://schemas.microsoft.com/office/drawing/2014/main" id="{BE1B5CB5-2E67-3ABB-E063-01E2A2EA09A0}"/>
              </a:ext>
            </a:extLst>
          </p:cNvPr>
          <p:cNvSpPr txBox="1"/>
          <p:nvPr/>
        </p:nvSpPr>
        <p:spPr>
          <a:xfrm>
            <a:off x="3976256" y="3067265"/>
            <a:ext cx="4575447"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chemeClr val="accent4">
                    <a:lumMod val="50000"/>
                  </a:schemeClr>
                </a:solidFill>
              </a:rPr>
              <a:t>Feature 2</a:t>
            </a:r>
          </a:p>
        </p:txBody>
      </p:sp>
      <p:sp>
        <p:nvSpPr>
          <p:cNvPr id="54" name="TextBox 53">
            <a:extLst>
              <a:ext uri="{FF2B5EF4-FFF2-40B4-BE49-F238E27FC236}">
                <a16:creationId xmlns:a16="http://schemas.microsoft.com/office/drawing/2014/main" id="{CC550FD2-305A-50D0-1AE3-755401AA1739}"/>
              </a:ext>
            </a:extLst>
          </p:cNvPr>
          <p:cNvSpPr txBox="1"/>
          <p:nvPr/>
        </p:nvSpPr>
        <p:spPr>
          <a:xfrm>
            <a:off x="6954984" y="2852686"/>
            <a:ext cx="4152889"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chemeClr val="accent5">
                    <a:lumMod val="50000"/>
                  </a:schemeClr>
                </a:solidFill>
              </a:rPr>
              <a:t>Feature 1 </a:t>
            </a:r>
          </a:p>
        </p:txBody>
      </p:sp>
      <p:sp>
        <p:nvSpPr>
          <p:cNvPr id="55" name="TextBox 54">
            <a:extLst>
              <a:ext uri="{FF2B5EF4-FFF2-40B4-BE49-F238E27FC236}">
                <a16:creationId xmlns:a16="http://schemas.microsoft.com/office/drawing/2014/main" id="{9299D5D1-9F9C-CB47-4CF3-820EFF6D2F0F}"/>
              </a:ext>
            </a:extLst>
          </p:cNvPr>
          <p:cNvSpPr txBox="1"/>
          <p:nvPr/>
        </p:nvSpPr>
        <p:spPr>
          <a:xfrm>
            <a:off x="6954983" y="3274205"/>
            <a:ext cx="3778817"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chemeClr val="accent2">
                    <a:lumMod val="50000"/>
                  </a:schemeClr>
                </a:solidFill>
              </a:rPr>
              <a:t>Feature 3</a:t>
            </a:r>
          </a:p>
        </p:txBody>
      </p:sp>
      <p:sp>
        <p:nvSpPr>
          <p:cNvPr id="56" name="TextBox 55">
            <a:extLst>
              <a:ext uri="{FF2B5EF4-FFF2-40B4-BE49-F238E27FC236}">
                <a16:creationId xmlns:a16="http://schemas.microsoft.com/office/drawing/2014/main" id="{8C163861-744C-C668-D1AD-79CC37BD631E}"/>
              </a:ext>
            </a:extLst>
          </p:cNvPr>
          <p:cNvSpPr txBox="1"/>
          <p:nvPr/>
        </p:nvSpPr>
        <p:spPr>
          <a:xfrm>
            <a:off x="6951513" y="3486448"/>
            <a:ext cx="4052451"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chemeClr val="accent6"/>
                </a:solidFill>
              </a:rPr>
              <a:t>Feature 4</a:t>
            </a:r>
          </a:p>
        </p:txBody>
      </p:sp>
      <p:sp>
        <p:nvSpPr>
          <p:cNvPr id="57" name="TextBox 56">
            <a:extLst>
              <a:ext uri="{FF2B5EF4-FFF2-40B4-BE49-F238E27FC236}">
                <a16:creationId xmlns:a16="http://schemas.microsoft.com/office/drawing/2014/main" id="{1D6033DA-24A5-9356-6938-0039A7630E17}"/>
              </a:ext>
            </a:extLst>
          </p:cNvPr>
          <p:cNvSpPr txBox="1"/>
          <p:nvPr/>
        </p:nvSpPr>
        <p:spPr>
          <a:xfrm>
            <a:off x="6951512" y="3701342"/>
            <a:ext cx="4052451"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rgbClr val="C00000"/>
                </a:solidFill>
              </a:rPr>
              <a:t>Feature 5</a:t>
            </a:r>
          </a:p>
        </p:txBody>
      </p:sp>
      <p:sp>
        <p:nvSpPr>
          <p:cNvPr id="58" name="TextBox 57">
            <a:extLst>
              <a:ext uri="{FF2B5EF4-FFF2-40B4-BE49-F238E27FC236}">
                <a16:creationId xmlns:a16="http://schemas.microsoft.com/office/drawing/2014/main" id="{13ABCC6A-A2D8-2227-4A5E-786583595535}"/>
              </a:ext>
            </a:extLst>
          </p:cNvPr>
          <p:cNvSpPr txBox="1"/>
          <p:nvPr/>
        </p:nvSpPr>
        <p:spPr>
          <a:xfrm>
            <a:off x="6951511" y="3913043"/>
            <a:ext cx="4052451" cy="923330"/>
          </a:xfrm>
          <a:prstGeom prst="rect">
            <a:avLst/>
          </a:prstGeom>
          <a:noFill/>
        </p:spPr>
        <p:txBody>
          <a:bodyPr wrap="square" rtlCol="0">
            <a:spAutoFit/>
          </a:bodyPr>
          <a:lstStyle/>
          <a:p>
            <a:r>
              <a:rPr lang="en-US" b="1" dirty="0">
                <a:solidFill>
                  <a:schemeClr val="accent6">
                    <a:lumMod val="50000"/>
                  </a:schemeClr>
                </a:solidFill>
              </a:rPr>
              <a:t>.</a:t>
            </a:r>
          </a:p>
          <a:p>
            <a:r>
              <a:rPr lang="en-US" b="1" dirty="0">
                <a:solidFill>
                  <a:schemeClr val="accent6">
                    <a:lumMod val="50000"/>
                  </a:schemeClr>
                </a:solidFill>
              </a:rPr>
              <a:t>.</a:t>
            </a:r>
          </a:p>
          <a:p>
            <a:r>
              <a:rPr lang="en-US" b="1" dirty="0">
                <a:solidFill>
                  <a:schemeClr val="accent6">
                    <a:lumMod val="50000"/>
                  </a:schemeClr>
                </a:solidFill>
              </a:rPr>
              <a:t>.</a:t>
            </a:r>
          </a:p>
        </p:txBody>
      </p:sp>
      <p:sp>
        <p:nvSpPr>
          <p:cNvPr id="59" name="TextBox 58">
            <a:extLst>
              <a:ext uri="{FF2B5EF4-FFF2-40B4-BE49-F238E27FC236}">
                <a16:creationId xmlns:a16="http://schemas.microsoft.com/office/drawing/2014/main" id="{64CAC567-F203-4E8F-B3B5-15E61F783DBF}"/>
              </a:ext>
            </a:extLst>
          </p:cNvPr>
          <p:cNvSpPr txBox="1"/>
          <p:nvPr/>
        </p:nvSpPr>
        <p:spPr>
          <a:xfrm>
            <a:off x="6951511" y="3067265"/>
            <a:ext cx="4575447"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chemeClr val="accent4">
                    <a:lumMod val="50000"/>
                  </a:schemeClr>
                </a:solidFill>
              </a:rPr>
              <a:t>Feature 2</a:t>
            </a:r>
          </a:p>
        </p:txBody>
      </p:sp>
      <p:sp>
        <p:nvSpPr>
          <p:cNvPr id="61" name="TextBox 60">
            <a:extLst>
              <a:ext uri="{FF2B5EF4-FFF2-40B4-BE49-F238E27FC236}">
                <a16:creationId xmlns:a16="http://schemas.microsoft.com/office/drawing/2014/main" id="{5E815635-97D6-91CF-6C5B-819EC0670003}"/>
              </a:ext>
            </a:extLst>
          </p:cNvPr>
          <p:cNvSpPr txBox="1"/>
          <p:nvPr/>
        </p:nvSpPr>
        <p:spPr>
          <a:xfrm>
            <a:off x="9646216" y="2848075"/>
            <a:ext cx="4052451" cy="923330"/>
          </a:xfrm>
          <a:prstGeom prst="rect">
            <a:avLst/>
          </a:prstGeom>
          <a:noFill/>
        </p:spPr>
        <p:txBody>
          <a:bodyPr wrap="square" rtlCol="0">
            <a:spAutoFit/>
          </a:bodyPr>
          <a:lstStyle/>
          <a:p>
            <a:r>
              <a:rPr lang="en-US" b="1" dirty="0">
                <a:solidFill>
                  <a:schemeClr val="accent6">
                    <a:lumMod val="50000"/>
                  </a:schemeClr>
                </a:solidFill>
              </a:rPr>
              <a:t>. . .</a:t>
            </a:r>
          </a:p>
          <a:p>
            <a:endParaRPr lang="en-US" b="1" dirty="0">
              <a:solidFill>
                <a:schemeClr val="accent6">
                  <a:lumMod val="50000"/>
                </a:schemeClr>
              </a:solidFill>
            </a:endParaRPr>
          </a:p>
          <a:p>
            <a:endParaRPr lang="en-US" b="1" dirty="0">
              <a:solidFill>
                <a:schemeClr val="accent6">
                  <a:lumMod val="50000"/>
                </a:schemeClr>
              </a:solidFill>
            </a:endParaRPr>
          </a:p>
        </p:txBody>
      </p:sp>
    </p:spTree>
    <p:extLst>
      <p:ext uri="{BB962C8B-B14F-4D97-AF65-F5344CB8AC3E}">
        <p14:creationId xmlns:p14="http://schemas.microsoft.com/office/powerpoint/2010/main" val="3417897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21622" y="148399"/>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Steps</a:t>
            </a:r>
            <a:endParaRPr lang="en-US" sz="4000" dirty="0"/>
          </a:p>
        </p:txBody>
      </p:sp>
      <p:cxnSp>
        <p:nvCxnSpPr>
          <p:cNvPr id="7" name="Straight Connector 6">
            <a:extLst>
              <a:ext uri="{FF2B5EF4-FFF2-40B4-BE49-F238E27FC236}">
                <a16:creationId xmlns:a16="http://schemas.microsoft.com/office/drawing/2014/main" id="{EA069E69-1E82-3B1A-B467-F26325E28781}"/>
              </a:ext>
            </a:extLst>
          </p:cNvPr>
          <p:cNvCxnSpPr>
            <a:cxnSpLocks/>
          </p:cNvCxnSpPr>
          <p:nvPr/>
        </p:nvCxnSpPr>
        <p:spPr>
          <a:xfrm flipH="1">
            <a:off x="3148445" y="1672936"/>
            <a:ext cx="1" cy="411480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9155E494-E96F-C034-8731-0F2C779AB98D}"/>
              </a:ext>
            </a:extLst>
          </p:cNvPr>
          <p:cNvSpPr/>
          <p:nvPr/>
        </p:nvSpPr>
        <p:spPr>
          <a:xfrm>
            <a:off x="3148446" y="1766454"/>
            <a:ext cx="5380309" cy="290945"/>
          </a:xfrm>
          <a:prstGeom prst="rect">
            <a:avLst/>
          </a:prstGeom>
          <a:gradFill flip="none" rotWithShape="1">
            <a:gsLst>
              <a:gs pos="84000">
                <a:srgbClr val="FFCFE1"/>
              </a:gs>
              <a:gs pos="22990">
                <a:srgbClr val="FF9BC3"/>
              </a:gs>
              <a:gs pos="38000">
                <a:srgbClr val="FFA9CB"/>
              </a:gs>
              <a:gs pos="0">
                <a:srgbClr val="FF2F92">
                  <a:tint val="66000"/>
                  <a:satMod val="160000"/>
                </a:srgbClr>
              </a:gs>
              <a:gs pos="50000">
                <a:srgbClr val="FF2F92">
                  <a:tint val="44500"/>
                  <a:satMod val="160000"/>
                </a:srgbClr>
              </a:gs>
              <a:gs pos="100000">
                <a:srgbClr val="FF2F92">
                  <a:tint val="23500"/>
                  <a:satMod val="160000"/>
                </a:srgbClr>
              </a:gs>
            </a:gsLst>
            <a:path path="circle">
              <a:fillToRect l="100000" b="100000"/>
            </a:path>
            <a:tileRect t="-100000" r="-100000"/>
          </a:gra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CD08A72-07A7-FEEA-25A5-85EA66FAF78E}"/>
              </a:ext>
            </a:extLst>
          </p:cNvPr>
          <p:cNvSpPr/>
          <p:nvPr/>
        </p:nvSpPr>
        <p:spPr>
          <a:xfrm>
            <a:off x="3148446" y="2150917"/>
            <a:ext cx="4457691" cy="290945"/>
          </a:xfrm>
          <a:prstGeom prst="rect">
            <a:avLst/>
          </a:prstGeom>
          <a:gradFill flip="none" rotWithShape="1">
            <a:gsLst>
              <a:gs pos="0">
                <a:srgbClr val="8EFA00">
                  <a:tint val="66000"/>
                  <a:satMod val="160000"/>
                </a:srgbClr>
              </a:gs>
              <a:gs pos="50000">
                <a:srgbClr val="8EFA00">
                  <a:tint val="44500"/>
                  <a:satMod val="160000"/>
                </a:srgbClr>
              </a:gs>
              <a:gs pos="100000">
                <a:srgbClr val="8EFA00">
                  <a:tint val="23500"/>
                  <a:satMod val="160000"/>
                </a:srgbClr>
              </a:gs>
            </a:gsLst>
            <a:path path="circle">
              <a:fillToRect t="100000" r="100000"/>
            </a:path>
            <a:tileRect l="-100000" b="-100000"/>
          </a:gra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980F5B8-2E6D-1B7E-01B6-E3587FE08C51}"/>
              </a:ext>
            </a:extLst>
          </p:cNvPr>
          <p:cNvSpPr/>
          <p:nvPr/>
        </p:nvSpPr>
        <p:spPr>
          <a:xfrm>
            <a:off x="3148446" y="2556161"/>
            <a:ext cx="4312219" cy="290945"/>
          </a:xfrm>
          <a:prstGeom prst="rect">
            <a:avLst/>
          </a:prstGeom>
          <a:gradFill flip="none" rotWithShape="1">
            <a:gsLst>
              <a:gs pos="0">
                <a:srgbClr val="945200">
                  <a:shade val="30000"/>
                  <a:satMod val="115000"/>
                </a:srgbClr>
              </a:gs>
              <a:gs pos="50000">
                <a:srgbClr val="945200">
                  <a:shade val="67500"/>
                  <a:satMod val="115000"/>
                </a:srgbClr>
              </a:gs>
              <a:gs pos="100000">
                <a:srgbClr val="945200">
                  <a:shade val="100000"/>
                  <a:satMod val="115000"/>
                </a:srgbClr>
              </a:gs>
            </a:gsLst>
            <a:path path="circle">
              <a:fillToRect t="100000" r="100000"/>
            </a:path>
            <a:tileRect l="-100000" b="-100000"/>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A96CAF-5F50-DA01-21F7-838DA737FA31}"/>
              </a:ext>
            </a:extLst>
          </p:cNvPr>
          <p:cNvSpPr/>
          <p:nvPr/>
        </p:nvSpPr>
        <p:spPr>
          <a:xfrm>
            <a:off x="3148445" y="2961405"/>
            <a:ext cx="3803065" cy="290945"/>
          </a:xfrm>
          <a:prstGeom prst="rect">
            <a:avLst/>
          </a:prstGeom>
          <a:solidFill>
            <a:schemeClr val="accent5">
              <a:lumMod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7A02EC2-C381-F333-1F89-E914669BC675}"/>
              </a:ext>
            </a:extLst>
          </p:cNvPr>
          <p:cNvSpPr/>
          <p:nvPr/>
        </p:nvSpPr>
        <p:spPr>
          <a:xfrm>
            <a:off x="3148446" y="3392628"/>
            <a:ext cx="2971797" cy="290945"/>
          </a:xfrm>
          <a:prstGeom prst="rect">
            <a:avLst/>
          </a:prstGeom>
          <a:solidFill>
            <a:srgbClr val="00B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A479F14-E68D-40C4-416A-571C73A616B4}"/>
              </a:ext>
            </a:extLst>
          </p:cNvPr>
          <p:cNvSpPr/>
          <p:nvPr/>
        </p:nvSpPr>
        <p:spPr>
          <a:xfrm>
            <a:off x="3148445" y="4046506"/>
            <a:ext cx="509150"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0B2E495-CDDB-2147-1207-1B37F4E3E9A5}"/>
              </a:ext>
            </a:extLst>
          </p:cNvPr>
          <p:cNvSpPr/>
          <p:nvPr/>
        </p:nvSpPr>
        <p:spPr>
          <a:xfrm>
            <a:off x="3148445" y="4478588"/>
            <a:ext cx="426017"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46F34F-57FA-B20F-12FA-08F712711AA7}"/>
              </a:ext>
            </a:extLst>
          </p:cNvPr>
          <p:cNvSpPr/>
          <p:nvPr/>
        </p:nvSpPr>
        <p:spPr>
          <a:xfrm>
            <a:off x="3148446" y="4910670"/>
            <a:ext cx="342900"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176253D-531E-610C-AC23-1C7C67B4E400}"/>
              </a:ext>
            </a:extLst>
          </p:cNvPr>
          <p:cNvSpPr/>
          <p:nvPr/>
        </p:nvSpPr>
        <p:spPr>
          <a:xfrm>
            <a:off x="3148445" y="5342752"/>
            <a:ext cx="342897" cy="29094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1A5DC8EF-F19F-D717-07E8-49D4B632BC98}"/>
              </a:ext>
            </a:extLst>
          </p:cNvPr>
          <p:cNvCxnSpPr>
            <a:cxnSpLocks/>
          </p:cNvCxnSpPr>
          <p:nvPr/>
        </p:nvCxnSpPr>
        <p:spPr>
          <a:xfrm flipH="1">
            <a:off x="3138056" y="5776493"/>
            <a:ext cx="6057900" cy="0"/>
          </a:xfrm>
          <a:prstGeom prst="line">
            <a:avLst/>
          </a:prstGeom>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288317F-10B8-DE4D-6E33-23EF707B29E1}"/>
              </a:ext>
            </a:extLst>
          </p:cNvPr>
          <p:cNvSpPr txBox="1"/>
          <p:nvPr/>
        </p:nvSpPr>
        <p:spPr>
          <a:xfrm>
            <a:off x="5070765" y="5757470"/>
            <a:ext cx="2878281" cy="369332"/>
          </a:xfrm>
          <a:prstGeom prst="rect">
            <a:avLst/>
          </a:prstGeom>
          <a:noFill/>
        </p:spPr>
        <p:txBody>
          <a:bodyPr wrap="square" rtlCol="0">
            <a:spAutoFit/>
          </a:bodyPr>
          <a:lstStyle/>
          <a:p>
            <a:r>
              <a:rPr lang="en-US" b="1" dirty="0"/>
              <a:t>Normalized Performance</a:t>
            </a:r>
          </a:p>
        </p:txBody>
      </p:sp>
      <p:sp>
        <p:nvSpPr>
          <p:cNvPr id="36" name="TextBox 35">
            <a:extLst>
              <a:ext uri="{FF2B5EF4-FFF2-40B4-BE49-F238E27FC236}">
                <a16:creationId xmlns:a16="http://schemas.microsoft.com/office/drawing/2014/main" id="{90E2D720-74F4-BCE1-0A95-7326C16EB740}"/>
              </a:ext>
            </a:extLst>
          </p:cNvPr>
          <p:cNvSpPr txBox="1"/>
          <p:nvPr/>
        </p:nvSpPr>
        <p:spPr>
          <a:xfrm>
            <a:off x="3158835" y="3286146"/>
            <a:ext cx="696191" cy="707886"/>
          </a:xfrm>
          <a:prstGeom prst="rect">
            <a:avLst/>
          </a:prstGeom>
          <a:noFill/>
        </p:spPr>
        <p:txBody>
          <a:bodyPr wrap="square" rtlCol="0">
            <a:spAutoFit/>
          </a:bodyPr>
          <a:lstStyle/>
          <a:p>
            <a:r>
              <a:rPr lang="en-US" sz="4000" dirty="0"/>
              <a:t>.</a:t>
            </a:r>
          </a:p>
        </p:txBody>
      </p:sp>
      <p:sp>
        <p:nvSpPr>
          <p:cNvPr id="37" name="TextBox 36">
            <a:extLst>
              <a:ext uri="{FF2B5EF4-FFF2-40B4-BE49-F238E27FC236}">
                <a16:creationId xmlns:a16="http://schemas.microsoft.com/office/drawing/2014/main" id="{04083D13-FE61-752C-2C42-6D05C6DE2CEA}"/>
              </a:ext>
            </a:extLst>
          </p:cNvPr>
          <p:cNvSpPr txBox="1"/>
          <p:nvPr/>
        </p:nvSpPr>
        <p:spPr>
          <a:xfrm>
            <a:off x="3155636" y="3396888"/>
            <a:ext cx="696191" cy="707886"/>
          </a:xfrm>
          <a:prstGeom prst="rect">
            <a:avLst/>
          </a:prstGeom>
          <a:noFill/>
        </p:spPr>
        <p:txBody>
          <a:bodyPr wrap="square" rtlCol="0">
            <a:spAutoFit/>
          </a:bodyPr>
          <a:lstStyle/>
          <a:p>
            <a:r>
              <a:rPr lang="en-US" sz="4000" dirty="0"/>
              <a:t>.</a:t>
            </a:r>
          </a:p>
        </p:txBody>
      </p:sp>
      <p:sp>
        <p:nvSpPr>
          <p:cNvPr id="38" name="TextBox 37">
            <a:extLst>
              <a:ext uri="{FF2B5EF4-FFF2-40B4-BE49-F238E27FC236}">
                <a16:creationId xmlns:a16="http://schemas.microsoft.com/office/drawing/2014/main" id="{96658258-A75F-D8DA-270E-862A9B16DCC8}"/>
              </a:ext>
            </a:extLst>
          </p:cNvPr>
          <p:cNvSpPr txBox="1"/>
          <p:nvPr/>
        </p:nvSpPr>
        <p:spPr>
          <a:xfrm>
            <a:off x="897088" y="1743335"/>
            <a:ext cx="4152889" cy="369332"/>
          </a:xfrm>
          <a:prstGeom prst="rect">
            <a:avLst/>
          </a:prstGeom>
          <a:noFill/>
        </p:spPr>
        <p:txBody>
          <a:bodyPr wrap="square" rtlCol="0">
            <a:spAutoFit/>
          </a:bodyPr>
          <a:lstStyle/>
          <a:p>
            <a:r>
              <a:rPr lang="en-US" b="1" dirty="0">
                <a:solidFill>
                  <a:schemeClr val="accent6">
                    <a:lumMod val="50000"/>
                  </a:schemeClr>
                </a:solidFill>
              </a:rPr>
              <a:t>Feature 5 + </a:t>
            </a:r>
            <a:r>
              <a:rPr lang="en-US" b="1" dirty="0">
                <a:solidFill>
                  <a:schemeClr val="accent5">
                    <a:lumMod val="50000"/>
                  </a:schemeClr>
                </a:solidFill>
              </a:rPr>
              <a:t>Feature 1 </a:t>
            </a:r>
          </a:p>
        </p:txBody>
      </p:sp>
      <p:sp>
        <p:nvSpPr>
          <p:cNvPr id="39" name="TextBox 38">
            <a:extLst>
              <a:ext uri="{FF2B5EF4-FFF2-40B4-BE49-F238E27FC236}">
                <a16:creationId xmlns:a16="http://schemas.microsoft.com/office/drawing/2014/main" id="{5BF2E3A2-2CD6-9A27-E989-7AEB7F1BEC6C}"/>
              </a:ext>
            </a:extLst>
          </p:cNvPr>
          <p:cNvSpPr txBox="1"/>
          <p:nvPr/>
        </p:nvSpPr>
        <p:spPr>
          <a:xfrm>
            <a:off x="897088" y="2116690"/>
            <a:ext cx="4052451" cy="369332"/>
          </a:xfrm>
          <a:prstGeom prst="rect">
            <a:avLst/>
          </a:prstGeom>
          <a:noFill/>
        </p:spPr>
        <p:txBody>
          <a:bodyPr wrap="square" rtlCol="0">
            <a:spAutoFit/>
          </a:bodyPr>
          <a:lstStyle/>
          <a:p>
            <a:r>
              <a:rPr lang="en-US" b="1" dirty="0">
                <a:solidFill>
                  <a:schemeClr val="accent6">
                    <a:lumMod val="50000"/>
                  </a:schemeClr>
                </a:solidFill>
              </a:rPr>
              <a:t>Feature 7 + </a:t>
            </a:r>
            <a:r>
              <a:rPr lang="en-US" b="1" dirty="0">
                <a:solidFill>
                  <a:schemeClr val="accent6"/>
                </a:solidFill>
              </a:rPr>
              <a:t>Feature 4</a:t>
            </a:r>
          </a:p>
        </p:txBody>
      </p:sp>
      <p:sp>
        <p:nvSpPr>
          <p:cNvPr id="40" name="TextBox 39">
            <a:extLst>
              <a:ext uri="{FF2B5EF4-FFF2-40B4-BE49-F238E27FC236}">
                <a16:creationId xmlns:a16="http://schemas.microsoft.com/office/drawing/2014/main" id="{A957D534-D40F-6CAC-80C3-F332879712FC}"/>
              </a:ext>
            </a:extLst>
          </p:cNvPr>
          <p:cNvSpPr txBox="1"/>
          <p:nvPr/>
        </p:nvSpPr>
        <p:spPr>
          <a:xfrm>
            <a:off x="765467" y="2516967"/>
            <a:ext cx="4052451"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rgbClr val="C00000"/>
                </a:solidFill>
              </a:rPr>
              <a:t>Feature 5</a:t>
            </a:r>
          </a:p>
        </p:txBody>
      </p:sp>
      <p:sp>
        <p:nvSpPr>
          <p:cNvPr id="41" name="TextBox 40">
            <a:extLst>
              <a:ext uri="{FF2B5EF4-FFF2-40B4-BE49-F238E27FC236}">
                <a16:creationId xmlns:a16="http://schemas.microsoft.com/office/drawing/2014/main" id="{1F8334D3-ADA4-AE75-ABF7-DB2D7587A4B8}"/>
              </a:ext>
            </a:extLst>
          </p:cNvPr>
          <p:cNvSpPr txBox="1"/>
          <p:nvPr/>
        </p:nvSpPr>
        <p:spPr>
          <a:xfrm>
            <a:off x="765467" y="2912233"/>
            <a:ext cx="4575447" cy="369332"/>
          </a:xfrm>
          <a:prstGeom prst="rect">
            <a:avLst/>
          </a:prstGeom>
          <a:noFill/>
        </p:spPr>
        <p:txBody>
          <a:bodyPr wrap="square" rtlCol="0">
            <a:spAutoFit/>
          </a:bodyPr>
          <a:lstStyle/>
          <a:p>
            <a:r>
              <a:rPr lang="en-US" b="1" dirty="0">
                <a:solidFill>
                  <a:schemeClr val="accent6">
                    <a:lumMod val="50000"/>
                  </a:schemeClr>
                </a:solidFill>
              </a:rPr>
              <a:t>Feature 21 + </a:t>
            </a:r>
            <a:r>
              <a:rPr lang="en-US" b="1" dirty="0">
                <a:solidFill>
                  <a:schemeClr val="accent4">
                    <a:lumMod val="50000"/>
                  </a:schemeClr>
                </a:solidFill>
              </a:rPr>
              <a:t>Feature 2</a:t>
            </a:r>
          </a:p>
        </p:txBody>
      </p:sp>
      <p:sp>
        <p:nvSpPr>
          <p:cNvPr id="42" name="TextBox 41">
            <a:extLst>
              <a:ext uri="{FF2B5EF4-FFF2-40B4-BE49-F238E27FC236}">
                <a16:creationId xmlns:a16="http://schemas.microsoft.com/office/drawing/2014/main" id="{9BD97D60-4D48-45F1-2701-11C93E66EDE5}"/>
              </a:ext>
            </a:extLst>
          </p:cNvPr>
          <p:cNvSpPr txBox="1"/>
          <p:nvPr/>
        </p:nvSpPr>
        <p:spPr>
          <a:xfrm>
            <a:off x="765467" y="3346692"/>
            <a:ext cx="3778817" cy="369332"/>
          </a:xfrm>
          <a:prstGeom prst="rect">
            <a:avLst/>
          </a:prstGeom>
          <a:noFill/>
        </p:spPr>
        <p:txBody>
          <a:bodyPr wrap="square" rtlCol="0">
            <a:spAutoFit/>
          </a:bodyPr>
          <a:lstStyle/>
          <a:p>
            <a:r>
              <a:rPr lang="en-US" b="1" dirty="0">
                <a:solidFill>
                  <a:schemeClr val="accent6">
                    <a:lumMod val="50000"/>
                  </a:schemeClr>
                </a:solidFill>
              </a:rPr>
              <a:t>Feature 13 + </a:t>
            </a:r>
            <a:r>
              <a:rPr lang="en-US" b="1" dirty="0">
                <a:solidFill>
                  <a:schemeClr val="accent2">
                    <a:lumMod val="50000"/>
                  </a:schemeClr>
                </a:solidFill>
              </a:rPr>
              <a:t>Feature 3</a:t>
            </a:r>
          </a:p>
        </p:txBody>
      </p:sp>
      <p:sp>
        <p:nvSpPr>
          <p:cNvPr id="43" name="TextBox 42">
            <a:extLst>
              <a:ext uri="{FF2B5EF4-FFF2-40B4-BE49-F238E27FC236}">
                <a16:creationId xmlns:a16="http://schemas.microsoft.com/office/drawing/2014/main" id="{A8411AA3-B96C-989D-43CB-250B17FFB4B4}"/>
              </a:ext>
            </a:extLst>
          </p:cNvPr>
          <p:cNvSpPr txBox="1"/>
          <p:nvPr/>
        </p:nvSpPr>
        <p:spPr>
          <a:xfrm>
            <a:off x="521622" y="1118741"/>
            <a:ext cx="8206742"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
              <a:lnSpc>
                <a:spcPct val="90000"/>
              </a:lnSpc>
              <a:spcAft>
                <a:spcPts val="600"/>
              </a:spcAft>
            </a:pPr>
            <a:r>
              <a:rPr lang="en-US" sz="2000" dirty="0"/>
              <a:t>4.    Simulations are launched for set-of-2 combinations</a:t>
            </a:r>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2266340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ounded Rectangle 59">
            <a:extLst>
              <a:ext uri="{FF2B5EF4-FFF2-40B4-BE49-F238E27FC236}">
                <a16:creationId xmlns:a16="http://schemas.microsoft.com/office/drawing/2014/main" id="{91D31459-A6D7-843F-2AA3-5009068A5B5C}"/>
              </a:ext>
            </a:extLst>
          </p:cNvPr>
          <p:cNvSpPr/>
          <p:nvPr/>
        </p:nvSpPr>
        <p:spPr>
          <a:xfrm>
            <a:off x="498753" y="2171860"/>
            <a:ext cx="10505209" cy="28575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21622" y="148399"/>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Feature Selection Steps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521622" y="1118741"/>
            <a:ext cx="8206742"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
              <a:lnSpc>
                <a:spcPct val="90000"/>
              </a:lnSpc>
              <a:spcAft>
                <a:spcPts val="600"/>
              </a:spcAft>
            </a:pPr>
            <a:r>
              <a:rPr lang="en-US" sz="2000" dirty="0"/>
              <a:t>5.     Set-of-3 combinations are formed</a:t>
            </a:r>
          </a:p>
          <a:p>
            <a:pPr marL="57150">
              <a:lnSpc>
                <a:spcPct val="90000"/>
              </a:lnSpc>
              <a:spcAft>
                <a:spcPts val="600"/>
              </a:spcAft>
            </a:pPr>
            <a:endParaRPr lang="en-US" sz="2000" dirty="0"/>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sp>
        <p:nvSpPr>
          <p:cNvPr id="41" name="TextBox 40">
            <a:extLst>
              <a:ext uri="{FF2B5EF4-FFF2-40B4-BE49-F238E27FC236}">
                <a16:creationId xmlns:a16="http://schemas.microsoft.com/office/drawing/2014/main" id="{1F666E2C-0433-B1F0-1582-1A4E11913D12}"/>
              </a:ext>
            </a:extLst>
          </p:cNvPr>
          <p:cNvSpPr txBox="1"/>
          <p:nvPr/>
        </p:nvSpPr>
        <p:spPr>
          <a:xfrm>
            <a:off x="1281556" y="2855022"/>
            <a:ext cx="4152889" cy="369332"/>
          </a:xfrm>
          <a:prstGeom prst="rect">
            <a:avLst/>
          </a:prstGeom>
          <a:noFill/>
        </p:spPr>
        <p:txBody>
          <a:bodyPr wrap="square" rtlCol="0">
            <a:spAutoFit/>
          </a:bodyPr>
          <a:lstStyle/>
          <a:p>
            <a:r>
              <a:rPr lang="en-US" b="1" dirty="0">
                <a:solidFill>
                  <a:schemeClr val="accent6">
                    <a:lumMod val="50000"/>
                  </a:schemeClr>
                </a:solidFill>
              </a:rPr>
              <a:t>Feature 5 + Feature 1 </a:t>
            </a:r>
            <a:r>
              <a:rPr lang="en-US" b="1" dirty="0">
                <a:solidFill>
                  <a:schemeClr val="accent5">
                    <a:lumMod val="50000"/>
                  </a:schemeClr>
                </a:solidFill>
              </a:rPr>
              <a:t>+ Feature 2  </a:t>
            </a:r>
          </a:p>
        </p:txBody>
      </p:sp>
      <p:sp>
        <p:nvSpPr>
          <p:cNvPr id="42" name="TextBox 41">
            <a:extLst>
              <a:ext uri="{FF2B5EF4-FFF2-40B4-BE49-F238E27FC236}">
                <a16:creationId xmlns:a16="http://schemas.microsoft.com/office/drawing/2014/main" id="{626E2446-CD57-C28C-F699-B54817D77617}"/>
              </a:ext>
            </a:extLst>
          </p:cNvPr>
          <p:cNvSpPr txBox="1"/>
          <p:nvPr/>
        </p:nvSpPr>
        <p:spPr>
          <a:xfrm>
            <a:off x="1073737" y="2301566"/>
            <a:ext cx="3778817" cy="461665"/>
          </a:xfrm>
          <a:prstGeom prst="rect">
            <a:avLst/>
          </a:prstGeom>
          <a:noFill/>
        </p:spPr>
        <p:txBody>
          <a:bodyPr wrap="square" rtlCol="0">
            <a:spAutoFit/>
          </a:bodyPr>
          <a:lstStyle/>
          <a:p>
            <a:r>
              <a:rPr lang="en-US" sz="2400" b="1" dirty="0"/>
              <a:t>Set-of-3 combination</a:t>
            </a:r>
          </a:p>
        </p:txBody>
      </p:sp>
      <p:sp>
        <p:nvSpPr>
          <p:cNvPr id="47" name="TextBox 46">
            <a:extLst>
              <a:ext uri="{FF2B5EF4-FFF2-40B4-BE49-F238E27FC236}">
                <a16:creationId xmlns:a16="http://schemas.microsoft.com/office/drawing/2014/main" id="{7BA8BC35-972D-0AD7-3561-7A9B464B89ED}"/>
              </a:ext>
            </a:extLst>
          </p:cNvPr>
          <p:cNvSpPr txBox="1"/>
          <p:nvPr/>
        </p:nvSpPr>
        <p:spPr>
          <a:xfrm>
            <a:off x="1278083" y="3915379"/>
            <a:ext cx="4052451" cy="923330"/>
          </a:xfrm>
          <a:prstGeom prst="rect">
            <a:avLst/>
          </a:prstGeom>
          <a:noFill/>
        </p:spPr>
        <p:txBody>
          <a:bodyPr wrap="square" rtlCol="0">
            <a:spAutoFit/>
          </a:bodyPr>
          <a:lstStyle/>
          <a:p>
            <a:r>
              <a:rPr lang="en-US" b="1" dirty="0">
                <a:solidFill>
                  <a:schemeClr val="accent6">
                    <a:lumMod val="50000"/>
                  </a:schemeClr>
                </a:solidFill>
              </a:rPr>
              <a:t>.</a:t>
            </a:r>
          </a:p>
          <a:p>
            <a:r>
              <a:rPr lang="en-US" b="1" dirty="0">
                <a:solidFill>
                  <a:schemeClr val="accent6">
                    <a:lumMod val="50000"/>
                  </a:schemeClr>
                </a:solidFill>
              </a:rPr>
              <a:t>.</a:t>
            </a:r>
          </a:p>
          <a:p>
            <a:r>
              <a:rPr lang="en-US" b="1" dirty="0">
                <a:solidFill>
                  <a:schemeClr val="accent6">
                    <a:lumMod val="50000"/>
                  </a:schemeClr>
                </a:solidFill>
              </a:rPr>
              <a:t>.</a:t>
            </a:r>
          </a:p>
        </p:txBody>
      </p:sp>
      <p:sp>
        <p:nvSpPr>
          <p:cNvPr id="58" name="TextBox 57">
            <a:extLst>
              <a:ext uri="{FF2B5EF4-FFF2-40B4-BE49-F238E27FC236}">
                <a16:creationId xmlns:a16="http://schemas.microsoft.com/office/drawing/2014/main" id="{13ABCC6A-A2D8-2227-4A5E-786583595535}"/>
              </a:ext>
            </a:extLst>
          </p:cNvPr>
          <p:cNvSpPr txBox="1"/>
          <p:nvPr/>
        </p:nvSpPr>
        <p:spPr>
          <a:xfrm>
            <a:off x="6951511" y="3913043"/>
            <a:ext cx="4052451" cy="923330"/>
          </a:xfrm>
          <a:prstGeom prst="rect">
            <a:avLst/>
          </a:prstGeom>
          <a:noFill/>
        </p:spPr>
        <p:txBody>
          <a:bodyPr wrap="square" rtlCol="0">
            <a:spAutoFit/>
          </a:bodyPr>
          <a:lstStyle/>
          <a:p>
            <a:r>
              <a:rPr lang="en-US" b="1" dirty="0">
                <a:solidFill>
                  <a:schemeClr val="accent6">
                    <a:lumMod val="50000"/>
                  </a:schemeClr>
                </a:solidFill>
              </a:rPr>
              <a:t>.</a:t>
            </a:r>
          </a:p>
          <a:p>
            <a:r>
              <a:rPr lang="en-US" b="1" dirty="0">
                <a:solidFill>
                  <a:schemeClr val="accent6">
                    <a:lumMod val="50000"/>
                  </a:schemeClr>
                </a:solidFill>
              </a:rPr>
              <a:t>.</a:t>
            </a:r>
          </a:p>
          <a:p>
            <a:r>
              <a:rPr lang="en-US" b="1" dirty="0">
                <a:solidFill>
                  <a:schemeClr val="accent6">
                    <a:lumMod val="50000"/>
                  </a:schemeClr>
                </a:solidFill>
              </a:rPr>
              <a:t>.</a:t>
            </a:r>
          </a:p>
        </p:txBody>
      </p:sp>
      <p:sp>
        <p:nvSpPr>
          <p:cNvPr id="61" name="TextBox 60">
            <a:extLst>
              <a:ext uri="{FF2B5EF4-FFF2-40B4-BE49-F238E27FC236}">
                <a16:creationId xmlns:a16="http://schemas.microsoft.com/office/drawing/2014/main" id="{5E815635-97D6-91CF-6C5B-819EC0670003}"/>
              </a:ext>
            </a:extLst>
          </p:cNvPr>
          <p:cNvSpPr txBox="1"/>
          <p:nvPr/>
        </p:nvSpPr>
        <p:spPr>
          <a:xfrm>
            <a:off x="9646216" y="2848075"/>
            <a:ext cx="4052451" cy="923330"/>
          </a:xfrm>
          <a:prstGeom prst="rect">
            <a:avLst/>
          </a:prstGeom>
          <a:noFill/>
        </p:spPr>
        <p:txBody>
          <a:bodyPr wrap="square" rtlCol="0">
            <a:spAutoFit/>
          </a:bodyPr>
          <a:lstStyle/>
          <a:p>
            <a:r>
              <a:rPr lang="en-US" b="1" dirty="0">
                <a:solidFill>
                  <a:schemeClr val="accent6">
                    <a:lumMod val="50000"/>
                  </a:schemeClr>
                </a:solidFill>
              </a:rPr>
              <a:t>. . .</a:t>
            </a:r>
          </a:p>
          <a:p>
            <a:endParaRPr lang="en-US" b="1" dirty="0">
              <a:solidFill>
                <a:schemeClr val="accent6">
                  <a:lumMod val="50000"/>
                </a:schemeClr>
              </a:solidFill>
            </a:endParaRPr>
          </a:p>
          <a:p>
            <a:endParaRPr lang="en-US" b="1" dirty="0">
              <a:solidFill>
                <a:schemeClr val="accent6">
                  <a:lumMod val="50000"/>
                </a:schemeClr>
              </a:solidFill>
            </a:endParaRPr>
          </a:p>
        </p:txBody>
      </p:sp>
      <p:sp>
        <p:nvSpPr>
          <p:cNvPr id="2" name="TextBox 1">
            <a:extLst>
              <a:ext uri="{FF2B5EF4-FFF2-40B4-BE49-F238E27FC236}">
                <a16:creationId xmlns:a16="http://schemas.microsoft.com/office/drawing/2014/main" id="{3B2FA3EA-07ED-5C9A-511A-385112CD5B3A}"/>
              </a:ext>
            </a:extLst>
          </p:cNvPr>
          <p:cNvSpPr txBox="1"/>
          <p:nvPr/>
        </p:nvSpPr>
        <p:spPr>
          <a:xfrm>
            <a:off x="1278083" y="3067265"/>
            <a:ext cx="4152889" cy="369332"/>
          </a:xfrm>
          <a:prstGeom prst="rect">
            <a:avLst/>
          </a:prstGeom>
          <a:noFill/>
        </p:spPr>
        <p:txBody>
          <a:bodyPr wrap="square" rtlCol="0">
            <a:spAutoFit/>
          </a:bodyPr>
          <a:lstStyle/>
          <a:p>
            <a:r>
              <a:rPr lang="en-US" b="1" dirty="0">
                <a:solidFill>
                  <a:schemeClr val="accent6">
                    <a:lumMod val="50000"/>
                  </a:schemeClr>
                </a:solidFill>
              </a:rPr>
              <a:t>Feature 5 + Feature 1 </a:t>
            </a:r>
            <a:r>
              <a:rPr lang="en-US" b="1" dirty="0">
                <a:solidFill>
                  <a:schemeClr val="accent5">
                    <a:lumMod val="50000"/>
                  </a:schemeClr>
                </a:solidFill>
              </a:rPr>
              <a:t>+ </a:t>
            </a:r>
            <a:r>
              <a:rPr lang="en-US" b="1" dirty="0">
                <a:solidFill>
                  <a:srgbClr val="FF2F92"/>
                </a:solidFill>
              </a:rPr>
              <a:t>Feature 3</a:t>
            </a:r>
            <a:r>
              <a:rPr lang="en-US" b="1" dirty="0">
                <a:solidFill>
                  <a:schemeClr val="accent5">
                    <a:lumMod val="50000"/>
                  </a:schemeClr>
                </a:solidFill>
              </a:rPr>
              <a:t>  </a:t>
            </a:r>
          </a:p>
        </p:txBody>
      </p:sp>
      <p:sp>
        <p:nvSpPr>
          <p:cNvPr id="3" name="TextBox 2">
            <a:extLst>
              <a:ext uri="{FF2B5EF4-FFF2-40B4-BE49-F238E27FC236}">
                <a16:creationId xmlns:a16="http://schemas.microsoft.com/office/drawing/2014/main" id="{D1BF713E-86C9-920F-6C93-89E297F945A2}"/>
              </a:ext>
            </a:extLst>
          </p:cNvPr>
          <p:cNvSpPr txBox="1"/>
          <p:nvPr/>
        </p:nvSpPr>
        <p:spPr>
          <a:xfrm>
            <a:off x="1274610" y="3283762"/>
            <a:ext cx="4152889" cy="369332"/>
          </a:xfrm>
          <a:prstGeom prst="rect">
            <a:avLst/>
          </a:prstGeom>
          <a:noFill/>
        </p:spPr>
        <p:txBody>
          <a:bodyPr wrap="square" rtlCol="0">
            <a:spAutoFit/>
          </a:bodyPr>
          <a:lstStyle/>
          <a:p>
            <a:r>
              <a:rPr lang="en-US" b="1" dirty="0">
                <a:solidFill>
                  <a:schemeClr val="accent6">
                    <a:lumMod val="50000"/>
                  </a:schemeClr>
                </a:solidFill>
              </a:rPr>
              <a:t>Feature 5 + Feature 1 </a:t>
            </a:r>
            <a:r>
              <a:rPr lang="en-US" b="1" dirty="0">
                <a:solidFill>
                  <a:schemeClr val="accent5">
                    <a:lumMod val="50000"/>
                  </a:schemeClr>
                </a:solidFill>
              </a:rPr>
              <a:t>+ </a:t>
            </a:r>
            <a:r>
              <a:rPr lang="en-US" b="1" dirty="0">
                <a:solidFill>
                  <a:srgbClr val="8EFA00"/>
                </a:solidFill>
              </a:rPr>
              <a:t>Feature 4</a:t>
            </a:r>
            <a:r>
              <a:rPr lang="en-US" b="1" dirty="0">
                <a:solidFill>
                  <a:schemeClr val="accent5">
                    <a:lumMod val="50000"/>
                  </a:schemeClr>
                </a:solidFill>
              </a:rPr>
              <a:t>  </a:t>
            </a:r>
          </a:p>
        </p:txBody>
      </p:sp>
      <p:sp>
        <p:nvSpPr>
          <p:cNvPr id="6" name="TextBox 5">
            <a:extLst>
              <a:ext uri="{FF2B5EF4-FFF2-40B4-BE49-F238E27FC236}">
                <a16:creationId xmlns:a16="http://schemas.microsoft.com/office/drawing/2014/main" id="{3BFD2A1B-29A0-472D-75CD-5B5CE021D332}"/>
              </a:ext>
            </a:extLst>
          </p:cNvPr>
          <p:cNvSpPr txBox="1"/>
          <p:nvPr/>
        </p:nvSpPr>
        <p:spPr>
          <a:xfrm>
            <a:off x="1271137" y="3496005"/>
            <a:ext cx="4152889" cy="369332"/>
          </a:xfrm>
          <a:prstGeom prst="rect">
            <a:avLst/>
          </a:prstGeom>
          <a:noFill/>
        </p:spPr>
        <p:txBody>
          <a:bodyPr wrap="square" rtlCol="0">
            <a:spAutoFit/>
          </a:bodyPr>
          <a:lstStyle/>
          <a:p>
            <a:r>
              <a:rPr lang="en-US" b="1" dirty="0">
                <a:solidFill>
                  <a:schemeClr val="accent6">
                    <a:lumMod val="50000"/>
                  </a:schemeClr>
                </a:solidFill>
              </a:rPr>
              <a:t>Feature 5 + Feature 1 </a:t>
            </a:r>
            <a:r>
              <a:rPr lang="en-US" b="1" dirty="0">
                <a:solidFill>
                  <a:schemeClr val="accent5">
                    <a:lumMod val="50000"/>
                  </a:schemeClr>
                </a:solidFill>
              </a:rPr>
              <a:t>+ </a:t>
            </a:r>
            <a:r>
              <a:rPr lang="en-US" b="1" dirty="0">
                <a:solidFill>
                  <a:srgbClr val="002060"/>
                </a:solidFill>
              </a:rPr>
              <a:t>Feature 6</a:t>
            </a:r>
            <a:r>
              <a:rPr lang="en-US" b="1" dirty="0">
                <a:solidFill>
                  <a:schemeClr val="accent5">
                    <a:lumMod val="50000"/>
                  </a:schemeClr>
                </a:solidFill>
              </a:rPr>
              <a:t>  </a:t>
            </a:r>
          </a:p>
        </p:txBody>
      </p:sp>
      <p:sp>
        <p:nvSpPr>
          <p:cNvPr id="7" name="TextBox 6">
            <a:extLst>
              <a:ext uri="{FF2B5EF4-FFF2-40B4-BE49-F238E27FC236}">
                <a16:creationId xmlns:a16="http://schemas.microsoft.com/office/drawing/2014/main" id="{79873655-8F82-ABC1-CD17-45369D0EDCD3}"/>
              </a:ext>
            </a:extLst>
          </p:cNvPr>
          <p:cNvSpPr txBox="1"/>
          <p:nvPr/>
        </p:nvSpPr>
        <p:spPr>
          <a:xfrm>
            <a:off x="1267664" y="3701342"/>
            <a:ext cx="4152889" cy="369332"/>
          </a:xfrm>
          <a:prstGeom prst="rect">
            <a:avLst/>
          </a:prstGeom>
          <a:noFill/>
        </p:spPr>
        <p:txBody>
          <a:bodyPr wrap="square" rtlCol="0">
            <a:spAutoFit/>
          </a:bodyPr>
          <a:lstStyle/>
          <a:p>
            <a:r>
              <a:rPr lang="en-US" b="1" dirty="0">
                <a:solidFill>
                  <a:schemeClr val="accent6">
                    <a:lumMod val="50000"/>
                  </a:schemeClr>
                </a:solidFill>
              </a:rPr>
              <a:t>Feature 5 + Feature 1 </a:t>
            </a:r>
            <a:r>
              <a:rPr lang="en-US" b="1" dirty="0">
                <a:solidFill>
                  <a:schemeClr val="accent5">
                    <a:lumMod val="50000"/>
                  </a:schemeClr>
                </a:solidFill>
              </a:rPr>
              <a:t>+ Feature 7  </a:t>
            </a:r>
          </a:p>
        </p:txBody>
      </p:sp>
      <p:sp>
        <p:nvSpPr>
          <p:cNvPr id="14" name="TextBox 13">
            <a:extLst>
              <a:ext uri="{FF2B5EF4-FFF2-40B4-BE49-F238E27FC236}">
                <a16:creationId xmlns:a16="http://schemas.microsoft.com/office/drawing/2014/main" id="{7FF6C868-4913-A459-5FED-9AD52EDFE822}"/>
              </a:ext>
            </a:extLst>
          </p:cNvPr>
          <p:cNvSpPr txBox="1"/>
          <p:nvPr/>
        </p:nvSpPr>
        <p:spPr>
          <a:xfrm>
            <a:off x="6005956" y="2865615"/>
            <a:ext cx="4152889" cy="369332"/>
          </a:xfrm>
          <a:prstGeom prst="rect">
            <a:avLst/>
          </a:prstGeom>
          <a:noFill/>
        </p:spPr>
        <p:txBody>
          <a:bodyPr wrap="square" rtlCol="0">
            <a:spAutoFit/>
          </a:bodyPr>
          <a:lstStyle/>
          <a:p>
            <a:r>
              <a:rPr lang="en-US" b="1" dirty="0">
                <a:solidFill>
                  <a:schemeClr val="accent6">
                    <a:lumMod val="50000"/>
                  </a:schemeClr>
                </a:solidFill>
              </a:rPr>
              <a:t>Feature 21 + Feature 2 </a:t>
            </a:r>
            <a:r>
              <a:rPr lang="en-US" b="1" dirty="0">
                <a:solidFill>
                  <a:schemeClr val="accent5">
                    <a:lumMod val="50000"/>
                  </a:schemeClr>
                </a:solidFill>
              </a:rPr>
              <a:t>+ Feature 1  </a:t>
            </a:r>
          </a:p>
        </p:txBody>
      </p:sp>
      <p:sp>
        <p:nvSpPr>
          <p:cNvPr id="15" name="TextBox 14">
            <a:extLst>
              <a:ext uri="{FF2B5EF4-FFF2-40B4-BE49-F238E27FC236}">
                <a16:creationId xmlns:a16="http://schemas.microsoft.com/office/drawing/2014/main" id="{81EEF7AD-90C2-8AA3-4F09-520F2B87053D}"/>
              </a:ext>
            </a:extLst>
          </p:cNvPr>
          <p:cNvSpPr txBox="1"/>
          <p:nvPr/>
        </p:nvSpPr>
        <p:spPr>
          <a:xfrm>
            <a:off x="6002483" y="3077858"/>
            <a:ext cx="4152889" cy="369332"/>
          </a:xfrm>
          <a:prstGeom prst="rect">
            <a:avLst/>
          </a:prstGeom>
          <a:noFill/>
        </p:spPr>
        <p:txBody>
          <a:bodyPr wrap="square" rtlCol="0">
            <a:spAutoFit/>
          </a:bodyPr>
          <a:lstStyle/>
          <a:p>
            <a:r>
              <a:rPr lang="en-US" b="1" dirty="0">
                <a:solidFill>
                  <a:schemeClr val="accent6">
                    <a:lumMod val="50000"/>
                  </a:schemeClr>
                </a:solidFill>
              </a:rPr>
              <a:t>Feature 21 + Feature 2 </a:t>
            </a:r>
            <a:r>
              <a:rPr lang="en-US" b="1" dirty="0">
                <a:solidFill>
                  <a:schemeClr val="accent5">
                    <a:lumMod val="50000"/>
                  </a:schemeClr>
                </a:solidFill>
              </a:rPr>
              <a:t>+ </a:t>
            </a:r>
            <a:r>
              <a:rPr lang="en-US" b="1" dirty="0">
                <a:solidFill>
                  <a:srgbClr val="FF2F92"/>
                </a:solidFill>
              </a:rPr>
              <a:t>Feature 3</a:t>
            </a:r>
            <a:r>
              <a:rPr lang="en-US" b="1" dirty="0">
                <a:solidFill>
                  <a:schemeClr val="accent5">
                    <a:lumMod val="50000"/>
                  </a:schemeClr>
                </a:solidFill>
              </a:rPr>
              <a:t>  </a:t>
            </a:r>
          </a:p>
        </p:txBody>
      </p:sp>
      <p:sp>
        <p:nvSpPr>
          <p:cNvPr id="16" name="TextBox 15">
            <a:extLst>
              <a:ext uri="{FF2B5EF4-FFF2-40B4-BE49-F238E27FC236}">
                <a16:creationId xmlns:a16="http://schemas.microsoft.com/office/drawing/2014/main" id="{EF89517B-D203-43E9-C8F0-0188C39ED5D0}"/>
              </a:ext>
            </a:extLst>
          </p:cNvPr>
          <p:cNvSpPr txBox="1"/>
          <p:nvPr/>
        </p:nvSpPr>
        <p:spPr>
          <a:xfrm>
            <a:off x="5999010" y="3294355"/>
            <a:ext cx="4152889" cy="369332"/>
          </a:xfrm>
          <a:prstGeom prst="rect">
            <a:avLst/>
          </a:prstGeom>
          <a:noFill/>
        </p:spPr>
        <p:txBody>
          <a:bodyPr wrap="square" rtlCol="0">
            <a:spAutoFit/>
          </a:bodyPr>
          <a:lstStyle/>
          <a:p>
            <a:r>
              <a:rPr lang="en-US" b="1" dirty="0">
                <a:solidFill>
                  <a:schemeClr val="accent6">
                    <a:lumMod val="50000"/>
                  </a:schemeClr>
                </a:solidFill>
              </a:rPr>
              <a:t>Feature 21 + Feature 2 </a:t>
            </a:r>
            <a:r>
              <a:rPr lang="en-US" b="1" dirty="0">
                <a:solidFill>
                  <a:schemeClr val="accent5">
                    <a:lumMod val="50000"/>
                  </a:schemeClr>
                </a:solidFill>
              </a:rPr>
              <a:t>+ </a:t>
            </a:r>
            <a:r>
              <a:rPr lang="en-US" b="1" dirty="0">
                <a:solidFill>
                  <a:srgbClr val="8EFA00"/>
                </a:solidFill>
              </a:rPr>
              <a:t>Feature 4</a:t>
            </a:r>
            <a:r>
              <a:rPr lang="en-US" b="1" dirty="0">
                <a:solidFill>
                  <a:schemeClr val="accent5">
                    <a:lumMod val="50000"/>
                  </a:schemeClr>
                </a:solidFill>
              </a:rPr>
              <a:t>  </a:t>
            </a:r>
          </a:p>
        </p:txBody>
      </p:sp>
      <p:sp>
        <p:nvSpPr>
          <p:cNvPr id="17" name="TextBox 16">
            <a:extLst>
              <a:ext uri="{FF2B5EF4-FFF2-40B4-BE49-F238E27FC236}">
                <a16:creationId xmlns:a16="http://schemas.microsoft.com/office/drawing/2014/main" id="{DEA19EE7-51EB-FF95-1F42-940B481CBC46}"/>
              </a:ext>
            </a:extLst>
          </p:cNvPr>
          <p:cNvSpPr txBox="1"/>
          <p:nvPr/>
        </p:nvSpPr>
        <p:spPr>
          <a:xfrm>
            <a:off x="5995537" y="3506598"/>
            <a:ext cx="4152889" cy="369332"/>
          </a:xfrm>
          <a:prstGeom prst="rect">
            <a:avLst/>
          </a:prstGeom>
          <a:noFill/>
        </p:spPr>
        <p:txBody>
          <a:bodyPr wrap="square" rtlCol="0">
            <a:spAutoFit/>
          </a:bodyPr>
          <a:lstStyle/>
          <a:p>
            <a:r>
              <a:rPr lang="en-US" b="1" dirty="0">
                <a:solidFill>
                  <a:schemeClr val="accent6">
                    <a:lumMod val="50000"/>
                  </a:schemeClr>
                </a:solidFill>
              </a:rPr>
              <a:t>Feature 21 + Feature 2 </a:t>
            </a:r>
            <a:r>
              <a:rPr lang="en-US" b="1" dirty="0">
                <a:solidFill>
                  <a:schemeClr val="accent5">
                    <a:lumMod val="50000"/>
                  </a:schemeClr>
                </a:solidFill>
              </a:rPr>
              <a:t>+ </a:t>
            </a:r>
            <a:r>
              <a:rPr lang="en-US" b="1" dirty="0">
                <a:solidFill>
                  <a:srgbClr val="002060"/>
                </a:solidFill>
              </a:rPr>
              <a:t>Feature 5</a:t>
            </a:r>
            <a:r>
              <a:rPr lang="en-US" b="1" dirty="0">
                <a:solidFill>
                  <a:schemeClr val="accent5">
                    <a:lumMod val="50000"/>
                  </a:schemeClr>
                </a:solidFill>
              </a:rPr>
              <a:t>  </a:t>
            </a:r>
          </a:p>
        </p:txBody>
      </p:sp>
      <p:sp>
        <p:nvSpPr>
          <p:cNvPr id="18" name="TextBox 17">
            <a:extLst>
              <a:ext uri="{FF2B5EF4-FFF2-40B4-BE49-F238E27FC236}">
                <a16:creationId xmlns:a16="http://schemas.microsoft.com/office/drawing/2014/main" id="{4060E39C-B83A-AF5E-89B9-418EE93ADC6A}"/>
              </a:ext>
            </a:extLst>
          </p:cNvPr>
          <p:cNvSpPr txBox="1"/>
          <p:nvPr/>
        </p:nvSpPr>
        <p:spPr>
          <a:xfrm>
            <a:off x="5992064" y="3711935"/>
            <a:ext cx="4152889" cy="369332"/>
          </a:xfrm>
          <a:prstGeom prst="rect">
            <a:avLst/>
          </a:prstGeom>
          <a:noFill/>
        </p:spPr>
        <p:txBody>
          <a:bodyPr wrap="square" rtlCol="0">
            <a:spAutoFit/>
          </a:bodyPr>
          <a:lstStyle/>
          <a:p>
            <a:r>
              <a:rPr lang="en-US" b="1" dirty="0">
                <a:solidFill>
                  <a:schemeClr val="accent6">
                    <a:lumMod val="50000"/>
                  </a:schemeClr>
                </a:solidFill>
              </a:rPr>
              <a:t>Feature 21 + Feature 2 </a:t>
            </a:r>
            <a:r>
              <a:rPr lang="en-US" b="1" dirty="0">
                <a:solidFill>
                  <a:schemeClr val="accent5">
                    <a:lumMod val="50000"/>
                  </a:schemeClr>
                </a:solidFill>
              </a:rPr>
              <a:t>+ Feature 6  </a:t>
            </a:r>
          </a:p>
        </p:txBody>
      </p:sp>
    </p:spTree>
    <p:extLst>
      <p:ext uri="{BB962C8B-B14F-4D97-AF65-F5344CB8AC3E}">
        <p14:creationId xmlns:p14="http://schemas.microsoft.com/office/powerpoint/2010/main" val="2385374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Offline Training Results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802176" y="1638135"/>
            <a:ext cx="8206742"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7150">
              <a:lnSpc>
                <a:spcPct val="90000"/>
              </a:lnSpc>
              <a:spcAft>
                <a:spcPts val="600"/>
              </a:spcAft>
            </a:pPr>
            <a:r>
              <a:rPr lang="en-US" sz="2000" dirty="0"/>
              <a:t>Final list of selected program features: </a:t>
            </a:r>
          </a:p>
          <a:p>
            <a:pPr marL="971550" lvl="1" indent="-457200">
              <a:lnSpc>
                <a:spcPct val="90000"/>
              </a:lnSpc>
              <a:spcAft>
                <a:spcPts val="600"/>
              </a:spcAft>
              <a:buFont typeface="+mj-lt"/>
              <a:buAutoNum type="arabicPeriod"/>
            </a:pPr>
            <a:endParaRPr lang="en-US" sz="2000" dirty="0"/>
          </a:p>
          <a:p>
            <a:pPr marL="57150">
              <a:lnSpc>
                <a:spcPct val="90000"/>
              </a:lnSpc>
              <a:spcAft>
                <a:spcPts val="600"/>
              </a:spcAft>
            </a:pPr>
            <a:endParaRPr lang="en-US" sz="2000" dirty="0"/>
          </a:p>
          <a:p>
            <a:pPr marL="400050" indent="-3429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endParaRPr lang="en-US" sz="2000" dirty="0"/>
          </a:p>
          <a:p>
            <a:pPr marL="742950" lvl="1" indent="-228600">
              <a:lnSpc>
                <a:spcPct val="90000"/>
              </a:lnSpc>
              <a:spcAft>
                <a:spcPts val="600"/>
              </a:spcAft>
              <a:buFont typeface="Arial" panose="020B0604020202020204" pitchFamily="34" charset="0"/>
              <a:buChar char="•"/>
            </a:pPr>
            <a:endParaRPr lang="en-US" sz="2000" dirty="0"/>
          </a:p>
        </p:txBody>
      </p:sp>
      <p:pic>
        <p:nvPicPr>
          <p:cNvPr id="10" name="Picture 9" descr="A close-up of a chart&#10;&#10;Description automatically generated">
            <a:extLst>
              <a:ext uri="{FF2B5EF4-FFF2-40B4-BE49-F238E27FC236}">
                <a16:creationId xmlns:a16="http://schemas.microsoft.com/office/drawing/2014/main" id="{BE162A3A-D2A8-FC3F-D996-36F75216AF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127" y="1981355"/>
            <a:ext cx="7137400" cy="1993900"/>
          </a:xfrm>
          <a:prstGeom prst="rect">
            <a:avLst/>
          </a:prstGeom>
        </p:spPr>
      </p:pic>
      <p:sp>
        <p:nvSpPr>
          <p:cNvPr id="11" name="TextBox 10">
            <a:extLst>
              <a:ext uri="{FF2B5EF4-FFF2-40B4-BE49-F238E27FC236}">
                <a16:creationId xmlns:a16="http://schemas.microsoft.com/office/drawing/2014/main" id="{9F2FBFCB-7F1D-4728-B48E-5D1A6C0873AF}"/>
              </a:ext>
            </a:extLst>
          </p:cNvPr>
          <p:cNvSpPr txBox="1"/>
          <p:nvPr/>
        </p:nvSpPr>
        <p:spPr>
          <a:xfrm>
            <a:off x="997527" y="4613564"/>
            <a:ext cx="6525491" cy="369332"/>
          </a:xfrm>
          <a:prstGeom prst="rect">
            <a:avLst/>
          </a:prstGeom>
          <a:noFill/>
        </p:spPr>
        <p:txBody>
          <a:bodyPr wrap="square" rtlCol="0">
            <a:spAutoFit/>
          </a:bodyPr>
          <a:lstStyle/>
          <a:p>
            <a:r>
              <a:rPr lang="en-US" b="1" dirty="0">
                <a:sym typeface="Wingdings" pitchFamily="2" charset="2"/>
              </a:rPr>
              <a:t> Activation Threshold = 16</a:t>
            </a:r>
            <a:endParaRPr lang="en-US" b="1" dirty="0"/>
          </a:p>
        </p:txBody>
      </p:sp>
    </p:spTree>
    <p:extLst>
      <p:ext uri="{BB962C8B-B14F-4D97-AF65-F5344CB8AC3E}">
        <p14:creationId xmlns:p14="http://schemas.microsoft.com/office/powerpoint/2010/main" val="3915193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Pearson Correlation Coefficient</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802175" y="1638135"/>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r>
              <a:rPr lang="en-US" sz="2000" b="1" dirty="0"/>
              <a:t>Pearson Correlation Coefficient (PCC) </a:t>
            </a:r>
            <a:r>
              <a:rPr lang="en-US" sz="2000" dirty="0"/>
              <a:t>measures linear correlation between two sets of data</a:t>
            </a:r>
          </a:p>
          <a:p>
            <a:pPr marL="857250" lvl="1" indent="-342900">
              <a:lnSpc>
                <a:spcPct val="90000"/>
              </a:lnSpc>
              <a:spcAft>
                <a:spcPts val="600"/>
              </a:spcAft>
              <a:buFont typeface="Arial" panose="020B0604020202020204" pitchFamily="34" charset="0"/>
              <a:buChar char="•"/>
            </a:pPr>
            <a:r>
              <a:rPr lang="en-US" sz="2000" dirty="0"/>
              <a:t>Ranges from </a:t>
            </a:r>
            <a:r>
              <a:rPr lang="en-US" sz="2000" b="1" dirty="0">
                <a:solidFill>
                  <a:srgbClr val="00B050"/>
                </a:solidFill>
              </a:rPr>
              <a:t>+1 </a:t>
            </a:r>
            <a:r>
              <a:rPr lang="en-US" sz="2000" dirty="0"/>
              <a:t>to </a:t>
            </a:r>
            <a:r>
              <a:rPr lang="en-US" sz="2000" b="1" dirty="0">
                <a:solidFill>
                  <a:srgbClr val="C00000"/>
                </a:solidFill>
              </a:rPr>
              <a:t>-1</a:t>
            </a:r>
          </a:p>
          <a:p>
            <a:pPr marL="857250" lvl="1" indent="-342900">
              <a:lnSpc>
                <a:spcPct val="90000"/>
              </a:lnSpc>
              <a:spcAft>
                <a:spcPts val="600"/>
              </a:spcAft>
              <a:buFont typeface="Arial" panose="020B0604020202020204" pitchFamily="34" charset="0"/>
              <a:buChar char="•"/>
            </a:pPr>
            <a:r>
              <a:rPr lang="en-US" sz="2000" dirty="0"/>
              <a:t>Indicates strong </a:t>
            </a:r>
            <a:r>
              <a:rPr lang="en-US" sz="2000" b="1" dirty="0">
                <a:solidFill>
                  <a:srgbClr val="00B050"/>
                </a:solidFill>
              </a:rPr>
              <a:t>positive</a:t>
            </a:r>
            <a:r>
              <a:rPr lang="en-US" sz="2000" dirty="0"/>
              <a:t>/</a:t>
            </a:r>
            <a:r>
              <a:rPr lang="en-US" sz="2000" b="1" dirty="0">
                <a:solidFill>
                  <a:srgbClr val="C00000"/>
                </a:solidFill>
              </a:rPr>
              <a:t>negative</a:t>
            </a:r>
            <a:r>
              <a:rPr lang="en-US" sz="2000" dirty="0"/>
              <a:t> correlation between two input</a:t>
            </a:r>
          </a:p>
        </p:txBody>
      </p:sp>
      <p:pic>
        <p:nvPicPr>
          <p:cNvPr id="3" name="Picture 2" descr="A graph of blue bars with black text&#10;&#10;Description automatically generated">
            <a:extLst>
              <a:ext uri="{FF2B5EF4-FFF2-40B4-BE49-F238E27FC236}">
                <a16:creationId xmlns:a16="http://schemas.microsoft.com/office/drawing/2014/main" id="{A7B3AD85-0F60-65BC-6EDA-D4A00035BF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6263" y="2930217"/>
            <a:ext cx="5739244" cy="3290500"/>
          </a:xfrm>
          <a:prstGeom prst="rect">
            <a:avLst/>
          </a:prstGeom>
        </p:spPr>
      </p:pic>
      <p:sp>
        <p:nvSpPr>
          <p:cNvPr id="6" name="Rectangle 5">
            <a:extLst>
              <a:ext uri="{FF2B5EF4-FFF2-40B4-BE49-F238E27FC236}">
                <a16:creationId xmlns:a16="http://schemas.microsoft.com/office/drawing/2014/main" id="{AE35F1C1-EFCC-C4EC-FBCF-8389061286BB}"/>
              </a:ext>
            </a:extLst>
          </p:cNvPr>
          <p:cNvSpPr/>
          <p:nvPr/>
        </p:nvSpPr>
        <p:spPr>
          <a:xfrm>
            <a:off x="7618470" y="2986719"/>
            <a:ext cx="1244976" cy="2156782"/>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539498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a:extLst>
              <a:ext uri="{FF2B5EF4-FFF2-40B4-BE49-F238E27FC236}">
                <a16:creationId xmlns:a16="http://schemas.microsoft.com/office/drawing/2014/main" id="{A8666035-961E-1353-1FEA-0E09A7502421}"/>
              </a:ext>
            </a:extLst>
          </p:cNvPr>
          <p:cNvSpPr/>
          <p:nvPr/>
        </p:nvSpPr>
        <p:spPr>
          <a:xfrm>
            <a:off x="7637318" y="3054927"/>
            <a:ext cx="4083627" cy="81049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Overhead: Logging Tables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802175" y="1638135"/>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endParaRPr lang="en-US" sz="2000" dirty="0"/>
          </a:p>
        </p:txBody>
      </p:sp>
      <p:pic>
        <p:nvPicPr>
          <p:cNvPr id="2" name="Picture 1" descr="A diagram of a software&#10;&#10;Description automatically generated">
            <a:extLst>
              <a:ext uri="{FF2B5EF4-FFF2-40B4-BE49-F238E27FC236}">
                <a16:creationId xmlns:a16="http://schemas.microsoft.com/office/drawing/2014/main" id="{F965C07C-B313-6957-D578-DA1C6A4EB7CA}"/>
              </a:ext>
            </a:extLst>
          </p:cNvPr>
          <p:cNvPicPr>
            <a:picLocks noChangeAspect="1"/>
          </p:cNvPicPr>
          <p:nvPr/>
        </p:nvPicPr>
        <p:blipFill rotWithShape="1">
          <a:blip r:embed="rId4">
            <a:extLst>
              <a:ext uri="{28A0092B-C50C-407E-A947-70E740481C1C}">
                <a14:useLocalDpi xmlns:a14="http://schemas.microsoft.com/office/drawing/2010/main" val="0"/>
              </a:ext>
            </a:extLst>
          </a:blip>
          <a:srcRect l="63028" t="31753" r="4639" b="10034"/>
          <a:stretch/>
        </p:blipFill>
        <p:spPr>
          <a:xfrm>
            <a:off x="763733" y="2422443"/>
            <a:ext cx="1762990" cy="2700275"/>
          </a:xfrm>
          <a:prstGeom prst="rect">
            <a:avLst/>
          </a:prstGeom>
        </p:spPr>
      </p:pic>
      <p:sp>
        <p:nvSpPr>
          <p:cNvPr id="7" name="Rectangle 6">
            <a:extLst>
              <a:ext uri="{FF2B5EF4-FFF2-40B4-BE49-F238E27FC236}">
                <a16:creationId xmlns:a16="http://schemas.microsoft.com/office/drawing/2014/main" id="{819A5B01-63A6-0A37-8004-D3760D85DFC3}"/>
              </a:ext>
            </a:extLst>
          </p:cNvPr>
          <p:cNvSpPr/>
          <p:nvPr/>
        </p:nvSpPr>
        <p:spPr>
          <a:xfrm>
            <a:off x="802175" y="2436545"/>
            <a:ext cx="1650080" cy="285873"/>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cxnSp>
        <p:nvCxnSpPr>
          <p:cNvPr id="10" name="Straight Arrow Connector 9">
            <a:extLst>
              <a:ext uri="{FF2B5EF4-FFF2-40B4-BE49-F238E27FC236}">
                <a16:creationId xmlns:a16="http://schemas.microsoft.com/office/drawing/2014/main" id="{CC768E97-A9A9-BBC4-695C-31DA1EB58D2D}"/>
              </a:ext>
            </a:extLst>
          </p:cNvPr>
          <p:cNvCxnSpPr>
            <a:stCxn id="7" idx="3"/>
          </p:cNvCxnSpPr>
          <p:nvPr/>
        </p:nvCxnSpPr>
        <p:spPr>
          <a:xfrm>
            <a:off x="2452255" y="2579482"/>
            <a:ext cx="1402772" cy="3715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Picture 11" descr="A white rectangular box with black text&#10;&#10;Description automatically generated">
            <a:extLst>
              <a:ext uri="{FF2B5EF4-FFF2-40B4-BE49-F238E27FC236}">
                <a16:creationId xmlns:a16="http://schemas.microsoft.com/office/drawing/2014/main" id="{EFBF7159-6083-5454-D089-1D11AB55ED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93469" y="2114640"/>
            <a:ext cx="3075709" cy="2719482"/>
          </a:xfrm>
          <a:prstGeom prst="rect">
            <a:avLst/>
          </a:prstGeom>
        </p:spPr>
      </p:pic>
      <p:pic>
        <p:nvPicPr>
          <p:cNvPr id="16" name="Picture 15">
            <a:extLst>
              <a:ext uri="{FF2B5EF4-FFF2-40B4-BE49-F238E27FC236}">
                <a16:creationId xmlns:a16="http://schemas.microsoft.com/office/drawing/2014/main" id="{609E6B98-8066-7A36-EC62-A30CD83413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21060" y="4834122"/>
            <a:ext cx="2993736" cy="259234"/>
          </a:xfrm>
          <a:prstGeom prst="rect">
            <a:avLst/>
          </a:prstGeom>
        </p:spPr>
      </p:pic>
      <p:sp>
        <p:nvSpPr>
          <p:cNvPr id="17" name="TextBox 16">
            <a:extLst>
              <a:ext uri="{FF2B5EF4-FFF2-40B4-BE49-F238E27FC236}">
                <a16:creationId xmlns:a16="http://schemas.microsoft.com/office/drawing/2014/main" id="{00388BF9-6C49-C8EF-7A57-27D54B3EBD5A}"/>
              </a:ext>
            </a:extLst>
          </p:cNvPr>
          <p:cNvSpPr txBox="1"/>
          <p:nvPr/>
        </p:nvSpPr>
        <p:spPr>
          <a:xfrm>
            <a:off x="882180" y="1382009"/>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Each entry has enough information to retrieve the system state + all features </a:t>
            </a:r>
          </a:p>
        </p:txBody>
      </p:sp>
      <p:sp>
        <p:nvSpPr>
          <p:cNvPr id="18" name="TextBox 17">
            <a:extLst>
              <a:ext uri="{FF2B5EF4-FFF2-40B4-BE49-F238E27FC236}">
                <a16:creationId xmlns:a16="http://schemas.microsoft.com/office/drawing/2014/main" id="{2F26F46C-ACFE-EB82-5AF9-27C901C61816}"/>
              </a:ext>
            </a:extLst>
          </p:cNvPr>
          <p:cNvSpPr txBox="1"/>
          <p:nvPr/>
        </p:nvSpPr>
        <p:spPr>
          <a:xfrm>
            <a:off x="7679222" y="3151215"/>
            <a:ext cx="4457700" cy="646331"/>
          </a:xfrm>
          <a:prstGeom prst="rect">
            <a:avLst/>
          </a:prstGeom>
          <a:noFill/>
        </p:spPr>
        <p:txBody>
          <a:bodyPr wrap="square" rtlCol="0">
            <a:spAutoFit/>
          </a:bodyPr>
          <a:lstStyle/>
          <a:p>
            <a:r>
              <a:rPr lang="en-US" b="1" dirty="0">
                <a:solidFill>
                  <a:srgbClr val="00B050"/>
                </a:solidFill>
              </a:rPr>
              <a:t>Positive Table</a:t>
            </a:r>
            <a:r>
              <a:rPr lang="en-US" dirty="0"/>
              <a:t>: 1024 entries = </a:t>
            </a:r>
            <a:r>
              <a:rPr lang="en-US" b="1" dirty="0"/>
              <a:t>10.75KB</a:t>
            </a:r>
          </a:p>
          <a:p>
            <a:r>
              <a:rPr lang="en-US" b="1" dirty="0">
                <a:solidFill>
                  <a:srgbClr val="C00000"/>
                </a:solidFill>
              </a:rPr>
              <a:t>Negative Table</a:t>
            </a:r>
            <a:r>
              <a:rPr lang="en-US" dirty="0"/>
              <a:t>: 512 entries = </a:t>
            </a:r>
            <a:r>
              <a:rPr lang="en-US" b="1" dirty="0"/>
              <a:t>5.375KB</a:t>
            </a:r>
            <a:r>
              <a:rPr lang="en-US" dirty="0"/>
              <a:t> </a:t>
            </a:r>
          </a:p>
        </p:txBody>
      </p:sp>
      <p:sp>
        <p:nvSpPr>
          <p:cNvPr id="20" name="Rectangle 19">
            <a:extLst>
              <a:ext uri="{FF2B5EF4-FFF2-40B4-BE49-F238E27FC236}">
                <a16:creationId xmlns:a16="http://schemas.microsoft.com/office/drawing/2014/main" id="{2D409811-E07F-FB4F-66CF-909DDBCDF196}"/>
              </a:ext>
            </a:extLst>
          </p:cNvPr>
          <p:cNvSpPr/>
          <p:nvPr/>
        </p:nvSpPr>
        <p:spPr>
          <a:xfrm>
            <a:off x="6378609" y="4553411"/>
            <a:ext cx="536187" cy="259234"/>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228469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Overhead: Counters and Buffers</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802175" y="1638135"/>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endParaRPr lang="en-US" sz="2000" dirty="0"/>
          </a:p>
        </p:txBody>
      </p:sp>
      <p:sp>
        <p:nvSpPr>
          <p:cNvPr id="17" name="TextBox 16">
            <a:extLst>
              <a:ext uri="{FF2B5EF4-FFF2-40B4-BE49-F238E27FC236}">
                <a16:creationId xmlns:a16="http://schemas.microsoft.com/office/drawing/2014/main" id="{00388BF9-6C49-C8EF-7A57-27D54B3EBD5A}"/>
              </a:ext>
            </a:extLst>
          </p:cNvPr>
          <p:cNvSpPr txBox="1"/>
          <p:nvPr/>
        </p:nvSpPr>
        <p:spPr>
          <a:xfrm>
            <a:off x="954575" y="1431393"/>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To compute the features in MSF, the MC has several counters and buffers to store necessary information.</a:t>
            </a:r>
          </a:p>
          <a:p>
            <a:pPr marL="857250" lvl="1" indent="-342900">
              <a:lnSpc>
                <a:spcPct val="90000"/>
              </a:lnSpc>
              <a:spcAft>
                <a:spcPts val="600"/>
              </a:spcAft>
              <a:buFont typeface="Arial" panose="020B0604020202020204" pitchFamily="34" charset="0"/>
              <a:buChar char="•"/>
            </a:pPr>
            <a:r>
              <a:rPr lang="en-US" sz="2000" dirty="0"/>
              <a:t>Total of </a:t>
            </a:r>
            <a:r>
              <a:rPr lang="en-US" sz="2000" b="1" dirty="0"/>
              <a:t>7274 bits </a:t>
            </a:r>
            <a:r>
              <a:rPr lang="en-US" sz="2000" dirty="0"/>
              <a:t>of counters and buffers</a:t>
            </a:r>
          </a:p>
        </p:txBody>
      </p:sp>
      <p:pic>
        <p:nvPicPr>
          <p:cNvPr id="6" name="Picture 5" descr="A screenshot of a computer&#10;&#10;Description automatically generated">
            <a:extLst>
              <a:ext uri="{FF2B5EF4-FFF2-40B4-BE49-F238E27FC236}">
                <a16:creationId xmlns:a16="http://schemas.microsoft.com/office/drawing/2014/main" id="{089F963F-8249-5ED2-075C-B547F0DD9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5481" y="2416857"/>
            <a:ext cx="5288974" cy="3379634"/>
          </a:xfrm>
          <a:prstGeom prst="rect">
            <a:avLst/>
          </a:prstGeom>
        </p:spPr>
      </p:pic>
      <p:pic>
        <p:nvPicPr>
          <p:cNvPr id="11" name="Picture 10">
            <a:extLst>
              <a:ext uri="{FF2B5EF4-FFF2-40B4-BE49-F238E27FC236}">
                <a16:creationId xmlns:a16="http://schemas.microsoft.com/office/drawing/2014/main" id="{AAB899DD-D4F2-0A61-5A9E-7733E42CED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53245" y="5665982"/>
            <a:ext cx="5053446" cy="332605"/>
          </a:xfrm>
          <a:prstGeom prst="rect">
            <a:avLst/>
          </a:prstGeom>
        </p:spPr>
      </p:pic>
      <p:sp>
        <p:nvSpPr>
          <p:cNvPr id="13" name="Rectangle 12">
            <a:extLst>
              <a:ext uri="{FF2B5EF4-FFF2-40B4-BE49-F238E27FC236}">
                <a16:creationId xmlns:a16="http://schemas.microsoft.com/office/drawing/2014/main" id="{6281FE97-F0B3-34F6-8FEA-6CFCC4FE4C20}"/>
              </a:ext>
            </a:extLst>
          </p:cNvPr>
          <p:cNvSpPr/>
          <p:nvPr/>
        </p:nvSpPr>
        <p:spPr>
          <a:xfrm>
            <a:off x="7669846" y="5426607"/>
            <a:ext cx="836845" cy="256621"/>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7982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25ED15F-27F4-E6B8-0426-B011166DACB7}"/>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Total Overhead</a:t>
            </a:r>
            <a:endParaRPr lang="en-US" sz="4000" dirty="0"/>
          </a:p>
        </p:txBody>
      </p:sp>
      <p:sp>
        <p:nvSpPr>
          <p:cNvPr id="8" name="TextBox 7">
            <a:extLst>
              <a:ext uri="{FF2B5EF4-FFF2-40B4-BE49-F238E27FC236}">
                <a16:creationId xmlns:a16="http://schemas.microsoft.com/office/drawing/2014/main" id="{C1061CE9-11D0-E57B-2366-7B7CA509AED9}"/>
              </a:ext>
            </a:extLst>
          </p:cNvPr>
          <p:cNvSpPr txBox="1"/>
          <p:nvPr/>
        </p:nvSpPr>
        <p:spPr>
          <a:xfrm>
            <a:off x="954571" y="1376203"/>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endParaRPr lang="en-US" sz="2000" dirty="0"/>
          </a:p>
        </p:txBody>
      </p:sp>
      <p:sp>
        <p:nvSpPr>
          <p:cNvPr id="17" name="TextBox 16">
            <a:extLst>
              <a:ext uri="{FF2B5EF4-FFF2-40B4-BE49-F238E27FC236}">
                <a16:creationId xmlns:a16="http://schemas.microsoft.com/office/drawing/2014/main" id="{00388BF9-6C49-C8EF-7A57-27D54B3EBD5A}"/>
              </a:ext>
            </a:extLst>
          </p:cNvPr>
          <p:cNvSpPr txBox="1"/>
          <p:nvPr/>
        </p:nvSpPr>
        <p:spPr>
          <a:xfrm>
            <a:off x="954575" y="1790535"/>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endParaRPr lang="en-US" sz="2000" dirty="0"/>
          </a:p>
        </p:txBody>
      </p:sp>
      <p:pic>
        <p:nvPicPr>
          <p:cNvPr id="3" name="Picture 2" descr="A table with text and numbers&#10;&#10;Description automatically generated">
            <a:extLst>
              <a:ext uri="{FF2B5EF4-FFF2-40B4-BE49-F238E27FC236}">
                <a16:creationId xmlns:a16="http://schemas.microsoft.com/office/drawing/2014/main" id="{F22D21E0-4DAE-E833-1DED-325EF31B5A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9203" y="2451685"/>
            <a:ext cx="5835327" cy="3449613"/>
          </a:xfrm>
          <a:prstGeom prst="rect">
            <a:avLst/>
          </a:prstGeom>
        </p:spPr>
      </p:pic>
      <p:pic>
        <p:nvPicPr>
          <p:cNvPr id="9" name="Picture 8" descr="A black text with a circle&#10;&#10;Description automatically generated">
            <a:extLst>
              <a:ext uri="{FF2B5EF4-FFF2-40B4-BE49-F238E27FC236}">
                <a16:creationId xmlns:a16="http://schemas.microsoft.com/office/drawing/2014/main" id="{07F9A00B-D367-66E0-1B56-F3B3656D27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7759" y="5864228"/>
            <a:ext cx="1631253" cy="328181"/>
          </a:xfrm>
          <a:prstGeom prst="rect">
            <a:avLst/>
          </a:prstGeom>
        </p:spPr>
      </p:pic>
      <p:sp>
        <p:nvSpPr>
          <p:cNvPr id="10" name="TextBox 9">
            <a:extLst>
              <a:ext uri="{FF2B5EF4-FFF2-40B4-BE49-F238E27FC236}">
                <a16:creationId xmlns:a16="http://schemas.microsoft.com/office/drawing/2014/main" id="{70C1B4F4-237B-AE0F-9AC1-B816AF75B911}"/>
              </a:ext>
            </a:extLst>
          </p:cNvPr>
          <p:cNvSpPr txBox="1"/>
          <p:nvPr/>
        </p:nvSpPr>
        <p:spPr>
          <a:xfrm>
            <a:off x="954573" y="1466721"/>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endParaRPr lang="en-US" sz="2000" dirty="0"/>
          </a:p>
        </p:txBody>
      </p:sp>
      <p:sp>
        <p:nvSpPr>
          <p:cNvPr id="12" name="TextBox 11">
            <a:extLst>
              <a:ext uri="{FF2B5EF4-FFF2-40B4-BE49-F238E27FC236}">
                <a16:creationId xmlns:a16="http://schemas.microsoft.com/office/drawing/2014/main" id="{93EC2656-57A3-B56F-2CBB-AC9711A5CD96}"/>
              </a:ext>
            </a:extLst>
          </p:cNvPr>
          <p:cNvSpPr txBox="1"/>
          <p:nvPr/>
        </p:nvSpPr>
        <p:spPr>
          <a:xfrm>
            <a:off x="954569" y="1352487"/>
            <a:ext cx="9744597"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Overall, MSF consumes </a:t>
            </a:r>
            <a:r>
              <a:rPr lang="en-US" sz="2000" b="1" dirty="0"/>
              <a:t>29.99KB </a:t>
            </a:r>
            <a:r>
              <a:rPr lang="en-US" sz="2000" dirty="0"/>
              <a:t>of storage overhead.</a:t>
            </a:r>
          </a:p>
          <a:p>
            <a:pPr marL="857250" lvl="1" indent="-342900">
              <a:lnSpc>
                <a:spcPct val="90000"/>
              </a:lnSpc>
              <a:spcAft>
                <a:spcPts val="600"/>
              </a:spcAft>
              <a:buFont typeface="Arial" panose="020B0604020202020204" pitchFamily="34" charset="0"/>
              <a:buChar char="•"/>
            </a:pPr>
            <a:r>
              <a:rPr lang="en-US" sz="2000" dirty="0"/>
              <a:t>Note that this overhead is </a:t>
            </a:r>
            <a:r>
              <a:rPr lang="en-US" sz="2000" b="1" dirty="0"/>
              <a:t>per-memory-controller</a:t>
            </a:r>
            <a:r>
              <a:rPr lang="en-US" sz="2000" dirty="0"/>
              <a:t>, instead of </a:t>
            </a:r>
            <a:r>
              <a:rPr lang="en-US" sz="2000" b="1" dirty="0"/>
              <a:t>per-core</a:t>
            </a:r>
            <a:r>
              <a:rPr lang="en-US" sz="2000" dirty="0"/>
              <a:t> as in similar prefetch filtering schemes </a:t>
            </a:r>
          </a:p>
        </p:txBody>
      </p:sp>
      <p:sp>
        <p:nvSpPr>
          <p:cNvPr id="13" name="Rectangle 12">
            <a:extLst>
              <a:ext uri="{FF2B5EF4-FFF2-40B4-BE49-F238E27FC236}">
                <a16:creationId xmlns:a16="http://schemas.microsoft.com/office/drawing/2014/main" id="{305BA811-4BC9-E15A-01D9-2E9EE9768323}"/>
              </a:ext>
            </a:extLst>
          </p:cNvPr>
          <p:cNvSpPr/>
          <p:nvPr/>
        </p:nvSpPr>
        <p:spPr>
          <a:xfrm>
            <a:off x="7583254" y="5549764"/>
            <a:ext cx="1072373" cy="256621"/>
          </a:xfrm>
          <a:prstGeom prst="rect">
            <a:avLst/>
          </a:prstGeom>
          <a:noFill/>
          <a:ln w="57150">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100000" t="100000"/>
              </a:path>
              <a:tileRect r="-100000" b="-100000"/>
            </a:gra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682801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37E5B567-A73A-3B45-D36E-AF6260042BDA}"/>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Experiments and Simulation</a:t>
            </a:r>
            <a:endParaRPr lang="en-US" sz="4000" dirty="0"/>
          </a:p>
        </p:txBody>
      </p:sp>
      <p:pic>
        <p:nvPicPr>
          <p:cNvPr id="7" name="Picture 6" descr="A table with text and numbers&#10;&#10;Description automatically generated">
            <a:extLst>
              <a:ext uri="{FF2B5EF4-FFF2-40B4-BE49-F238E27FC236}">
                <a16:creationId xmlns:a16="http://schemas.microsoft.com/office/drawing/2014/main" id="{220B3937-A734-A394-21A6-5FE2721408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5287" y="1651000"/>
            <a:ext cx="4102100" cy="3327400"/>
          </a:xfrm>
          <a:prstGeom prst="rect">
            <a:avLst/>
          </a:prstGeom>
        </p:spPr>
      </p:pic>
      <p:sp>
        <p:nvSpPr>
          <p:cNvPr id="8" name="TextBox 7">
            <a:extLst>
              <a:ext uri="{FF2B5EF4-FFF2-40B4-BE49-F238E27FC236}">
                <a16:creationId xmlns:a16="http://schemas.microsoft.com/office/drawing/2014/main" id="{28412CAB-CFDA-B3F2-6DB2-302067F26BBD}"/>
              </a:ext>
            </a:extLst>
          </p:cNvPr>
          <p:cNvSpPr txBox="1"/>
          <p:nvPr/>
        </p:nvSpPr>
        <p:spPr>
          <a:xfrm>
            <a:off x="8060460" y="4859604"/>
            <a:ext cx="3816927" cy="369332"/>
          </a:xfrm>
          <a:prstGeom prst="rect">
            <a:avLst/>
          </a:prstGeom>
          <a:noFill/>
        </p:spPr>
        <p:txBody>
          <a:bodyPr wrap="square" rtlCol="0">
            <a:spAutoFit/>
          </a:bodyPr>
          <a:lstStyle/>
          <a:p>
            <a:r>
              <a:rPr lang="en-US" dirty="0"/>
              <a:t>Table: Major Simulation Parameters</a:t>
            </a:r>
          </a:p>
        </p:txBody>
      </p:sp>
      <p:sp>
        <p:nvSpPr>
          <p:cNvPr id="9" name="TextBox 8">
            <a:extLst>
              <a:ext uri="{FF2B5EF4-FFF2-40B4-BE49-F238E27FC236}">
                <a16:creationId xmlns:a16="http://schemas.microsoft.com/office/drawing/2014/main" id="{9221A0BF-A383-34EA-F502-BBFED44B6EC8}"/>
              </a:ext>
            </a:extLst>
          </p:cNvPr>
          <p:cNvSpPr txBox="1"/>
          <p:nvPr/>
        </p:nvSpPr>
        <p:spPr>
          <a:xfrm>
            <a:off x="954569" y="1352487"/>
            <a:ext cx="6724313"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MSF evaluated in </a:t>
            </a:r>
            <a:r>
              <a:rPr lang="en-US" sz="2000" b="1" dirty="0">
                <a:solidFill>
                  <a:srgbClr val="002060"/>
                </a:solidFill>
              </a:rPr>
              <a:t>gem5</a:t>
            </a:r>
            <a:r>
              <a:rPr lang="en-US" sz="2000" dirty="0"/>
              <a:t> simulator</a:t>
            </a:r>
          </a:p>
          <a:p>
            <a:pPr marL="1314450" lvl="2" indent="-342900">
              <a:lnSpc>
                <a:spcPct val="90000"/>
              </a:lnSpc>
              <a:spcAft>
                <a:spcPts val="600"/>
              </a:spcAft>
              <a:buFont typeface="Arial" panose="020B0604020202020204" pitchFamily="34" charset="0"/>
              <a:buChar char="•"/>
            </a:pPr>
            <a:r>
              <a:rPr lang="en-US" sz="2000" dirty="0"/>
              <a:t>Extended to simulate 2 related schemes</a:t>
            </a:r>
          </a:p>
          <a:p>
            <a:pPr marL="1771650" lvl="3" indent="-342900">
              <a:lnSpc>
                <a:spcPct val="90000"/>
              </a:lnSpc>
              <a:spcAft>
                <a:spcPts val="600"/>
              </a:spcAft>
              <a:buFont typeface="Courier New" panose="02070309020205020404" pitchFamily="49" charset="0"/>
              <a:buChar char="o"/>
            </a:pPr>
            <a:r>
              <a:rPr lang="en-US" sz="2000" dirty="0"/>
              <a:t>PPF and PADC</a:t>
            </a:r>
          </a:p>
          <a:p>
            <a:pPr marL="1428750" lvl="3">
              <a:lnSpc>
                <a:spcPct val="90000"/>
              </a:lnSpc>
              <a:spcAft>
                <a:spcPts val="600"/>
              </a:spcAft>
            </a:pPr>
            <a:endParaRPr lang="en-US" sz="2000" dirty="0"/>
          </a:p>
          <a:p>
            <a:pPr marL="857250" lvl="1" indent="-342900">
              <a:lnSpc>
                <a:spcPct val="90000"/>
              </a:lnSpc>
              <a:spcAft>
                <a:spcPts val="600"/>
              </a:spcAft>
              <a:buFont typeface="Wingdings" pitchFamily="2" charset="2"/>
              <a:buChar char="§"/>
            </a:pPr>
            <a:r>
              <a:rPr lang="en-US" sz="2000" dirty="0"/>
              <a:t>4.0GHz 8 out-of-order cores, x86-64 ISA</a:t>
            </a:r>
          </a:p>
          <a:p>
            <a:pPr marL="857250" lvl="1" indent="-342900">
              <a:lnSpc>
                <a:spcPct val="90000"/>
              </a:lnSpc>
              <a:spcAft>
                <a:spcPts val="600"/>
              </a:spcAft>
              <a:buFont typeface="Wingdings" pitchFamily="2" charset="2"/>
              <a:buChar char="§"/>
            </a:pPr>
            <a:r>
              <a:rPr lang="en-US" sz="2000" dirty="0"/>
              <a:t>3 level caches, LLC 16MB</a:t>
            </a:r>
          </a:p>
          <a:p>
            <a:pPr marL="857250" lvl="1"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Wingdings" pitchFamily="2" charset="2"/>
              <a:buChar char="§"/>
            </a:pPr>
            <a:r>
              <a:rPr lang="en-US" sz="2000" dirty="0"/>
              <a:t>Simulations are fast-forwarded to their checkpoints</a:t>
            </a:r>
          </a:p>
          <a:p>
            <a:pPr marL="857250" lvl="1" indent="-342900">
              <a:lnSpc>
                <a:spcPct val="90000"/>
              </a:lnSpc>
              <a:spcAft>
                <a:spcPts val="600"/>
              </a:spcAft>
              <a:buFont typeface="Wingdings" pitchFamily="2" charset="2"/>
              <a:buChar char="§"/>
            </a:pPr>
            <a:r>
              <a:rPr lang="en-US" sz="2000" dirty="0"/>
              <a:t>Run for 1 billion instructions</a:t>
            </a:r>
          </a:p>
          <a:p>
            <a:pPr marL="857250" lvl="1" indent="-342900">
              <a:lnSpc>
                <a:spcPct val="90000"/>
              </a:lnSpc>
              <a:spcAft>
                <a:spcPts val="600"/>
              </a:spcAft>
              <a:buFont typeface="Wingdings" pitchFamily="2" charset="2"/>
              <a:buChar char="§"/>
            </a:pPr>
            <a:endParaRPr lang="en-US" sz="2000" dirty="0"/>
          </a:p>
          <a:p>
            <a:pPr marL="1314450" lvl="2" indent="-342900">
              <a:lnSpc>
                <a:spcPct val="90000"/>
              </a:lnSpc>
              <a:spcAft>
                <a:spcPts val="600"/>
              </a:spcAft>
              <a:buFont typeface="Wingdings" pitchFamily="2" charset="2"/>
              <a:buChar char="§"/>
            </a:pPr>
            <a:endParaRPr lang="en-US" sz="2000" dirty="0"/>
          </a:p>
          <a:p>
            <a:pPr marL="1314450" lvl="2"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03660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6F746219-B102-5BDF-41AE-410B9D326094}"/>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Workloads </a:t>
            </a:r>
            <a:endParaRPr lang="en-US" sz="4000" dirty="0"/>
          </a:p>
        </p:txBody>
      </p:sp>
      <p:sp>
        <p:nvSpPr>
          <p:cNvPr id="6" name="TextBox 5">
            <a:extLst>
              <a:ext uri="{FF2B5EF4-FFF2-40B4-BE49-F238E27FC236}">
                <a16:creationId xmlns:a16="http://schemas.microsoft.com/office/drawing/2014/main" id="{278CAA51-2CFF-8CE3-E7DE-F04BD12249AE}"/>
              </a:ext>
            </a:extLst>
          </p:cNvPr>
          <p:cNvSpPr txBox="1"/>
          <p:nvPr/>
        </p:nvSpPr>
        <p:spPr>
          <a:xfrm>
            <a:off x="954568" y="1352487"/>
            <a:ext cx="10589731" cy="35817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SPEC CPU2006 and CPU2017 applications</a:t>
            </a:r>
          </a:p>
          <a:p>
            <a:pPr marL="857250" lvl="1" indent="-342900">
              <a:lnSpc>
                <a:spcPct val="90000"/>
              </a:lnSpc>
              <a:spcAft>
                <a:spcPts val="600"/>
              </a:spcAft>
              <a:buFont typeface="Arial" panose="020B0604020202020204" pitchFamily="34" charset="0"/>
              <a:buChar char="•"/>
            </a:pPr>
            <a:r>
              <a:rPr lang="en-US" sz="2000" dirty="0"/>
              <a:t>Categorized </a:t>
            </a:r>
            <a:r>
              <a:rPr lang="en-US" sz="2000" i="1" dirty="0"/>
              <a:t>misses-per-kilo-instructions</a:t>
            </a:r>
            <a:r>
              <a:rPr lang="en-US" sz="2000" dirty="0"/>
              <a:t> (MPKI)</a:t>
            </a:r>
          </a:p>
          <a:p>
            <a:pPr marL="857250" lvl="1" indent="-342900">
              <a:lnSpc>
                <a:spcPct val="90000"/>
              </a:lnSpc>
              <a:spcAft>
                <a:spcPts val="600"/>
              </a:spcAft>
              <a:buFont typeface="Arial" panose="020B0604020202020204" pitchFamily="34" charset="0"/>
              <a:buChar char="•"/>
            </a:pPr>
            <a:r>
              <a:rPr lang="en-US" sz="2000" b="1" dirty="0">
                <a:solidFill>
                  <a:srgbClr val="FF0000"/>
                </a:solidFill>
              </a:rPr>
              <a:t>Memory-intensive</a:t>
            </a:r>
            <a:r>
              <a:rPr lang="en-US" sz="2000" dirty="0"/>
              <a:t> workloads:  MPKI &gt; 10.0</a:t>
            </a:r>
          </a:p>
          <a:p>
            <a:pPr marL="857250" lvl="1" indent="-342900">
              <a:lnSpc>
                <a:spcPct val="90000"/>
              </a:lnSpc>
              <a:spcAft>
                <a:spcPts val="600"/>
              </a:spcAft>
              <a:buFont typeface="Arial" panose="020B0604020202020204" pitchFamily="34" charset="0"/>
              <a:buChar char="•"/>
            </a:pPr>
            <a:r>
              <a:rPr lang="en-US" sz="2000" b="1" dirty="0">
                <a:solidFill>
                  <a:srgbClr val="00B050"/>
                </a:solidFill>
              </a:rPr>
              <a:t>Compute-intensive</a:t>
            </a:r>
            <a:r>
              <a:rPr lang="en-US" sz="2000" dirty="0"/>
              <a:t> workloads: MPKI &lt;= 10.0</a:t>
            </a:r>
          </a:p>
          <a:p>
            <a:pPr marL="857250" lvl="1" indent="-342900">
              <a:lnSpc>
                <a:spcPct val="90000"/>
              </a:lnSpc>
              <a:spcAft>
                <a:spcPts val="600"/>
              </a:spcAft>
              <a:buFont typeface="Arial" panose="020B0604020202020204" pitchFamily="34" charset="0"/>
              <a:buChar char="•"/>
            </a:pPr>
            <a:r>
              <a:rPr lang="en-US" sz="2000" dirty="0"/>
              <a:t>Each workload set consists of 8 applications</a:t>
            </a:r>
          </a:p>
          <a:p>
            <a:pPr marL="857250" lvl="1" indent="-342900">
              <a:lnSpc>
                <a:spcPct val="90000"/>
              </a:lnSpc>
              <a:spcAft>
                <a:spcPts val="600"/>
              </a:spcAft>
              <a:buFont typeface="Arial" panose="020B0604020202020204" pitchFamily="34" charset="0"/>
              <a:buChar char="•"/>
            </a:pPr>
            <a:r>
              <a:rPr lang="en-US" sz="2000" dirty="0"/>
              <a:t>All workload sets must have &gt;= 3.0 MPKI </a:t>
            </a:r>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r>
              <a:rPr lang="en-US" sz="2000" dirty="0"/>
              <a:t>Total 55 workload sets</a:t>
            </a:r>
          </a:p>
          <a:p>
            <a:pPr marL="1314450" lvl="2" indent="-342900">
              <a:lnSpc>
                <a:spcPct val="90000"/>
              </a:lnSpc>
              <a:spcAft>
                <a:spcPts val="600"/>
              </a:spcAft>
              <a:buFont typeface="Courier New" panose="02070309020205020404" pitchFamily="49" charset="0"/>
              <a:buChar char="o"/>
            </a:pPr>
            <a:r>
              <a:rPr lang="en-US" sz="2000" dirty="0"/>
              <a:t>37 memory-intensive sets</a:t>
            </a:r>
          </a:p>
          <a:p>
            <a:pPr marL="1314450" lvl="2" indent="-342900">
              <a:lnSpc>
                <a:spcPct val="90000"/>
              </a:lnSpc>
              <a:spcAft>
                <a:spcPts val="600"/>
              </a:spcAft>
              <a:buFont typeface="Courier New" panose="02070309020205020404" pitchFamily="49" charset="0"/>
              <a:buChar char="o"/>
            </a:pPr>
            <a:r>
              <a:rPr lang="en-US" sz="2000" dirty="0"/>
              <a:t>18 mixed sets</a:t>
            </a:r>
          </a:p>
        </p:txBody>
      </p:sp>
      <p:pic>
        <p:nvPicPr>
          <p:cNvPr id="8" name="Picture 7" descr="A close-up of a computer application&#10;&#10;Description automatically generated">
            <a:extLst>
              <a:ext uri="{FF2B5EF4-FFF2-40B4-BE49-F238E27FC236}">
                <a16:creationId xmlns:a16="http://schemas.microsoft.com/office/drawing/2014/main" id="{205A9B0B-21C6-36A4-3DC2-AB17E0DC4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0926" y="3512128"/>
            <a:ext cx="6714259" cy="2531606"/>
          </a:xfrm>
          <a:prstGeom prst="rect">
            <a:avLst/>
          </a:prstGeom>
        </p:spPr>
      </p:pic>
    </p:spTree>
    <p:extLst>
      <p:ext uri="{BB962C8B-B14F-4D97-AF65-F5344CB8AC3E}">
        <p14:creationId xmlns:p14="http://schemas.microsoft.com/office/powerpoint/2010/main" val="547809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A9CD6EEC-9DDE-94E9-862B-A61DB51817A0}"/>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Underlying Prefetchers</a:t>
            </a:r>
            <a:endParaRPr lang="en-US" sz="4000" dirty="0"/>
          </a:p>
        </p:txBody>
      </p:sp>
      <p:sp>
        <p:nvSpPr>
          <p:cNvPr id="6" name="TextBox 5">
            <a:extLst>
              <a:ext uri="{FF2B5EF4-FFF2-40B4-BE49-F238E27FC236}">
                <a16:creationId xmlns:a16="http://schemas.microsoft.com/office/drawing/2014/main" id="{E1A70659-4420-C5E8-77C5-E3B3CABC7FF5}"/>
              </a:ext>
            </a:extLst>
          </p:cNvPr>
          <p:cNvSpPr txBox="1"/>
          <p:nvPr/>
        </p:nvSpPr>
        <p:spPr>
          <a:xfrm>
            <a:off x="954568" y="1352487"/>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971550" lvl="1" indent="-457200">
              <a:lnSpc>
                <a:spcPct val="90000"/>
              </a:lnSpc>
              <a:spcAft>
                <a:spcPts val="600"/>
              </a:spcAft>
              <a:buAutoNum type="arabicParenR"/>
            </a:pPr>
            <a:r>
              <a:rPr lang="en-US" sz="2000" b="1" dirty="0">
                <a:solidFill>
                  <a:srgbClr val="7030A0"/>
                </a:solidFill>
              </a:rPr>
              <a:t>SignaturePath</a:t>
            </a:r>
            <a:r>
              <a:rPr lang="en-US" sz="2000" dirty="0"/>
              <a:t> </a:t>
            </a:r>
            <a:r>
              <a:rPr lang="en-US" sz="2000" b="1" dirty="0">
                <a:solidFill>
                  <a:srgbClr val="7030A0"/>
                </a:solidFill>
              </a:rPr>
              <a:t>Prefetcher (SPP): </a:t>
            </a:r>
            <a:r>
              <a:rPr lang="en-US" sz="2000" dirty="0">
                <a:effectLst/>
                <a:latin typeface="Arial" panose="020B0604020202020204" pitchFamily="34" charset="0"/>
              </a:rPr>
              <a:t>uses</a:t>
            </a:r>
            <a:br>
              <a:rPr lang="en-US" sz="2000" dirty="0"/>
            </a:br>
            <a:r>
              <a:rPr lang="en-US" sz="2000" dirty="0">
                <a:effectLst/>
                <a:latin typeface="Arial" panose="020B0604020202020204" pitchFamily="34" charset="0"/>
              </a:rPr>
              <a:t>compressed history table to accurately predict complex</a:t>
            </a:r>
            <a:br>
              <a:rPr lang="en-US" sz="2000" dirty="0"/>
            </a:br>
            <a:r>
              <a:rPr lang="en-US" sz="2000" dirty="0">
                <a:effectLst/>
                <a:latin typeface="Arial" panose="020B0604020202020204" pitchFamily="34" charset="0"/>
              </a:rPr>
              <a:t>memory access patterns based on its confidence level</a:t>
            </a:r>
          </a:p>
          <a:p>
            <a:pPr marL="971550" lvl="1" indent="-457200">
              <a:lnSpc>
                <a:spcPct val="90000"/>
              </a:lnSpc>
              <a:spcAft>
                <a:spcPts val="600"/>
              </a:spcAft>
              <a:buAutoNum type="arabicParenR"/>
            </a:pPr>
            <a:endParaRPr lang="en-US" sz="2000" b="1" dirty="0">
              <a:solidFill>
                <a:srgbClr val="7030A0"/>
              </a:solidFill>
            </a:endParaRPr>
          </a:p>
          <a:p>
            <a:pPr marL="971550" lvl="1" indent="-457200">
              <a:lnSpc>
                <a:spcPct val="90000"/>
              </a:lnSpc>
              <a:spcAft>
                <a:spcPts val="600"/>
              </a:spcAft>
              <a:buAutoNum type="arabicParenR"/>
            </a:pPr>
            <a:r>
              <a:rPr lang="en-US" sz="2000" b="1" dirty="0">
                <a:solidFill>
                  <a:srgbClr val="002060"/>
                </a:solidFill>
              </a:rPr>
              <a:t>AMPM</a:t>
            </a:r>
            <a:r>
              <a:rPr lang="en-US" sz="2000" dirty="0"/>
              <a:t> </a:t>
            </a:r>
            <a:r>
              <a:rPr lang="en-US" sz="2000" b="1" dirty="0">
                <a:solidFill>
                  <a:srgbClr val="002060"/>
                </a:solidFill>
              </a:rPr>
              <a:t>Prefetcher: </a:t>
            </a:r>
            <a:r>
              <a:rPr lang="en-US" sz="2000" dirty="0">
                <a:effectLst/>
                <a:latin typeface="Arial" panose="020B0604020202020204" pitchFamily="34" charset="0"/>
              </a:rPr>
              <a:t>prefetcher uses memory access mapping to</a:t>
            </a:r>
            <a:br>
              <a:rPr lang="en-US" sz="2000" dirty="0"/>
            </a:br>
            <a:r>
              <a:rPr lang="en-US" sz="2000" dirty="0">
                <a:effectLst/>
                <a:latin typeface="Arial" panose="020B0604020202020204" pitchFamily="34" charset="0"/>
              </a:rPr>
              <a:t>detect any access patter</a:t>
            </a:r>
          </a:p>
          <a:p>
            <a:pPr marL="971550" lvl="1" indent="-457200">
              <a:lnSpc>
                <a:spcPct val="90000"/>
              </a:lnSpc>
              <a:spcAft>
                <a:spcPts val="600"/>
              </a:spcAft>
              <a:buAutoNum type="arabicParenR"/>
            </a:pPr>
            <a:endParaRPr lang="en-US" sz="2000" b="1" dirty="0">
              <a:solidFill>
                <a:srgbClr val="002060"/>
              </a:solidFill>
            </a:endParaRPr>
          </a:p>
          <a:p>
            <a:pPr marL="971550" lvl="1" indent="-457200">
              <a:lnSpc>
                <a:spcPct val="90000"/>
              </a:lnSpc>
              <a:spcAft>
                <a:spcPts val="600"/>
              </a:spcAft>
              <a:buAutoNum type="arabicParenR"/>
            </a:pPr>
            <a:r>
              <a:rPr lang="en-US" sz="2000" b="1" dirty="0">
                <a:solidFill>
                  <a:srgbClr val="0070C0"/>
                </a:solidFill>
              </a:rPr>
              <a:t>DCPT</a:t>
            </a:r>
            <a:r>
              <a:rPr lang="en-US" sz="2000" dirty="0"/>
              <a:t> </a:t>
            </a:r>
            <a:r>
              <a:rPr lang="en-US" sz="2000" b="1" dirty="0">
                <a:solidFill>
                  <a:srgbClr val="0070C0"/>
                </a:solidFill>
              </a:rPr>
              <a:t>Prefetcher</a:t>
            </a:r>
            <a:r>
              <a:rPr lang="en-US" sz="2000" dirty="0"/>
              <a:t>: </a:t>
            </a:r>
            <a:r>
              <a:rPr lang="en-US" sz="2000" dirty="0">
                <a:effectLst/>
                <a:latin typeface="Arial" panose="020B0604020202020204" pitchFamily="34" charset="0"/>
              </a:rPr>
              <a:t>prefetcher stores the deltas of request misses,</a:t>
            </a:r>
            <a:br>
              <a:rPr lang="en-US" sz="2000" dirty="0"/>
            </a:br>
            <a:r>
              <a:rPr lang="en-US" sz="2000" dirty="0">
                <a:effectLst/>
                <a:latin typeface="Arial" panose="020B0604020202020204" pitchFamily="34" charset="0"/>
              </a:rPr>
              <a:t>which are used to detect patterns. </a:t>
            </a:r>
          </a:p>
          <a:p>
            <a:pPr marL="971550" lvl="1" indent="-457200">
              <a:lnSpc>
                <a:spcPct val="90000"/>
              </a:lnSpc>
              <a:spcAft>
                <a:spcPts val="600"/>
              </a:spcAft>
              <a:buAutoNum type="arabicParenR"/>
            </a:pPr>
            <a:endParaRPr lang="en-US" sz="2000" dirty="0"/>
          </a:p>
          <a:p>
            <a:pPr marL="971550" lvl="1" indent="-457200">
              <a:lnSpc>
                <a:spcPct val="90000"/>
              </a:lnSpc>
              <a:spcAft>
                <a:spcPts val="600"/>
              </a:spcAft>
              <a:buAutoNum type="arabicParenR"/>
            </a:pPr>
            <a:r>
              <a:rPr lang="en-US" sz="2000" b="1" dirty="0">
                <a:solidFill>
                  <a:srgbClr val="00B050"/>
                </a:solidFill>
              </a:rPr>
              <a:t>Tagged-Correlating</a:t>
            </a:r>
            <a:r>
              <a:rPr lang="en-US" sz="2000" dirty="0"/>
              <a:t> </a:t>
            </a:r>
            <a:r>
              <a:rPr lang="en-US" sz="2000" b="1" dirty="0">
                <a:solidFill>
                  <a:srgbClr val="00B050"/>
                </a:solidFill>
              </a:rPr>
              <a:t>Prefetcher</a:t>
            </a:r>
            <a:r>
              <a:rPr lang="en-US" sz="2000" dirty="0"/>
              <a:t>: </a:t>
            </a:r>
            <a:r>
              <a:rPr lang="en-US" sz="2000" dirty="0">
                <a:effectLst/>
                <a:latin typeface="Arial" panose="020B0604020202020204" pitchFamily="34" charset="0"/>
              </a:rPr>
              <a:t>tag sequences to correlate the highly-repetitive tag patterns </a:t>
            </a:r>
            <a:endParaRPr lang="en-US" sz="2000" dirty="0"/>
          </a:p>
          <a:p>
            <a:pPr marL="971550" lvl="1" indent="-457200">
              <a:lnSpc>
                <a:spcPct val="90000"/>
              </a:lnSpc>
              <a:spcAft>
                <a:spcPts val="600"/>
              </a:spcAft>
              <a:buAutoNum type="arabicParenR"/>
            </a:pPr>
            <a:endParaRPr lang="en-US" sz="2000" dirty="0"/>
          </a:p>
        </p:txBody>
      </p:sp>
    </p:spTree>
    <p:extLst>
      <p:ext uri="{BB962C8B-B14F-4D97-AF65-F5344CB8AC3E}">
        <p14:creationId xmlns:p14="http://schemas.microsoft.com/office/powerpoint/2010/main" val="727290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32AB613D-7BB4-B84E-93A8-62482E1F118B}"/>
              </a:ext>
            </a:extLst>
          </p:cNvPr>
          <p:cNvSpPr txBox="1">
            <a:spLocks/>
          </p:cNvSpPr>
          <p:nvPr/>
        </p:nvSpPr>
        <p:spPr>
          <a:xfrm>
            <a:off x="532013" y="267703"/>
            <a:ext cx="10282747"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Evaluated Schemes</a:t>
            </a:r>
            <a:endParaRPr lang="en-US" sz="4000" dirty="0"/>
          </a:p>
        </p:txBody>
      </p:sp>
      <p:sp>
        <p:nvSpPr>
          <p:cNvPr id="6" name="TextBox 5">
            <a:extLst>
              <a:ext uri="{FF2B5EF4-FFF2-40B4-BE49-F238E27FC236}">
                <a16:creationId xmlns:a16="http://schemas.microsoft.com/office/drawing/2014/main" id="{58C363D5-A7A6-7393-3F14-9744D555CE75}"/>
              </a:ext>
            </a:extLst>
          </p:cNvPr>
          <p:cNvSpPr txBox="1"/>
          <p:nvPr/>
        </p:nvSpPr>
        <p:spPr>
          <a:xfrm>
            <a:off x="954568" y="1352487"/>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971550" lvl="1" indent="-457200">
              <a:lnSpc>
                <a:spcPct val="90000"/>
              </a:lnSpc>
              <a:spcAft>
                <a:spcPts val="600"/>
              </a:spcAft>
              <a:buAutoNum type="arabicParenR"/>
            </a:pPr>
            <a:r>
              <a:rPr lang="en-US" sz="2000" b="1" dirty="0">
                <a:effectLst/>
                <a:latin typeface="Arial" panose="020B0604020202020204" pitchFamily="34" charset="0"/>
              </a:rPr>
              <a:t>Perceptron-Based Prefetch Filter (PPF): </a:t>
            </a:r>
          </a:p>
          <a:p>
            <a:pPr marL="1428750" lvl="2" indent="-457200">
              <a:lnSpc>
                <a:spcPct val="90000"/>
              </a:lnSpc>
              <a:spcAft>
                <a:spcPts val="600"/>
              </a:spcAft>
              <a:buFont typeface="Arial" panose="020B0604020202020204" pitchFamily="34" charset="0"/>
              <a:buChar char="•"/>
            </a:pPr>
            <a:r>
              <a:rPr lang="en-US" sz="2000" dirty="0">
                <a:latin typeface="Arial" panose="020B0604020202020204" pitchFamily="34" charset="0"/>
              </a:rPr>
              <a:t>F</a:t>
            </a:r>
            <a:r>
              <a:rPr lang="en-US" sz="2000" dirty="0">
                <a:effectLst/>
                <a:latin typeface="Arial" panose="020B0604020202020204" pitchFamily="34" charset="0"/>
              </a:rPr>
              <a:t>ilters prefetches generated by </a:t>
            </a:r>
            <a:r>
              <a:rPr lang="en-US" sz="2000" b="1" dirty="0">
                <a:solidFill>
                  <a:srgbClr val="7030A0"/>
                </a:solidFill>
                <a:effectLst/>
                <a:latin typeface="Arial" panose="020B0604020202020204" pitchFamily="34" charset="0"/>
              </a:rPr>
              <a:t>SignaturePath</a:t>
            </a:r>
            <a:r>
              <a:rPr lang="en-US" sz="2000" dirty="0">
                <a:effectLst/>
                <a:latin typeface="Arial" panose="020B0604020202020204" pitchFamily="34" charset="0"/>
              </a:rPr>
              <a:t> prefetcher</a:t>
            </a:r>
          </a:p>
          <a:p>
            <a:pPr marL="1428750" lvl="2" indent="-457200">
              <a:lnSpc>
                <a:spcPct val="90000"/>
              </a:lnSpc>
              <a:spcAft>
                <a:spcPts val="600"/>
              </a:spcAft>
              <a:buFont typeface="Arial" panose="020B0604020202020204" pitchFamily="34" charset="0"/>
              <a:buChar char="•"/>
            </a:pPr>
            <a:r>
              <a:rPr lang="en-US" sz="2000" dirty="0">
                <a:effectLst/>
                <a:latin typeface="Arial" panose="020B0604020202020204" pitchFamily="34" charset="0"/>
              </a:rPr>
              <a:t>Uses metadata directly from SPP (signature, depth, confidence, etc.)</a:t>
            </a:r>
          </a:p>
          <a:p>
            <a:pPr marL="1428750" lvl="2" indent="-457200">
              <a:lnSpc>
                <a:spcPct val="90000"/>
              </a:lnSpc>
              <a:spcAft>
                <a:spcPts val="600"/>
              </a:spcAft>
              <a:buFont typeface="Arial" panose="020B0604020202020204" pitchFamily="34" charset="0"/>
              <a:buChar char="•"/>
            </a:pPr>
            <a:r>
              <a:rPr lang="en-US" sz="2000" dirty="0">
                <a:latin typeface="Arial" panose="020B0604020202020204" pitchFamily="34" charset="0"/>
              </a:rPr>
              <a:t>The engine is placed directly in the underlying prefetcher, works only for SPP</a:t>
            </a:r>
            <a:r>
              <a:rPr lang="en-US" sz="2000" dirty="0">
                <a:effectLst/>
                <a:latin typeface="Arial" panose="020B0604020202020204" pitchFamily="34" charset="0"/>
              </a:rPr>
              <a:t>  </a:t>
            </a:r>
          </a:p>
          <a:p>
            <a:pPr marL="971550" lvl="1" indent="-457200">
              <a:lnSpc>
                <a:spcPct val="90000"/>
              </a:lnSpc>
              <a:spcAft>
                <a:spcPts val="600"/>
              </a:spcAft>
              <a:buAutoNum type="arabicParenR"/>
            </a:pPr>
            <a:endParaRPr lang="en-US" sz="2000" b="1" dirty="0">
              <a:latin typeface="Arial" panose="020B0604020202020204" pitchFamily="34" charset="0"/>
            </a:endParaRPr>
          </a:p>
          <a:p>
            <a:pPr marL="971550" lvl="1" indent="-457200">
              <a:lnSpc>
                <a:spcPct val="90000"/>
              </a:lnSpc>
              <a:spcAft>
                <a:spcPts val="600"/>
              </a:spcAft>
              <a:buAutoNum type="arabicParenR"/>
            </a:pPr>
            <a:r>
              <a:rPr lang="en-US" sz="2000" b="1" dirty="0">
                <a:effectLst/>
                <a:latin typeface="Arial" panose="020B0604020202020204" pitchFamily="34" charset="0"/>
              </a:rPr>
              <a:t>Prefetch-Aware DRAM Controller (PADC)</a:t>
            </a:r>
          </a:p>
          <a:p>
            <a:pPr marL="1428750" lvl="2" indent="-457200">
              <a:lnSpc>
                <a:spcPct val="90000"/>
              </a:lnSpc>
              <a:spcAft>
                <a:spcPts val="600"/>
              </a:spcAft>
              <a:buFont typeface="Arial" panose="020B0604020202020204" pitchFamily="34" charset="0"/>
              <a:buChar char="•"/>
            </a:pPr>
            <a:r>
              <a:rPr lang="en-US" sz="2000" dirty="0">
                <a:effectLst/>
                <a:latin typeface="Arial" panose="020B0604020202020204" pitchFamily="34" charset="0"/>
              </a:rPr>
              <a:t>Monitors prefetcher’s accuracy to adaptively schedule requests</a:t>
            </a:r>
            <a:endParaRPr lang="en-US" sz="2000" dirty="0">
              <a:latin typeface="Arial" panose="020B0604020202020204" pitchFamily="34" charset="0"/>
            </a:endParaRPr>
          </a:p>
          <a:p>
            <a:pPr marL="1428750" lvl="2" indent="-457200">
              <a:lnSpc>
                <a:spcPct val="90000"/>
              </a:lnSpc>
              <a:spcAft>
                <a:spcPts val="600"/>
              </a:spcAft>
              <a:buFont typeface="Arial" panose="020B0604020202020204" pitchFamily="34" charset="0"/>
              <a:buChar char="•"/>
            </a:pPr>
            <a:r>
              <a:rPr lang="en-US" sz="2000" dirty="0">
                <a:effectLst/>
                <a:latin typeface="Arial" panose="020B0604020202020204" pitchFamily="34" charset="0"/>
              </a:rPr>
              <a:t>Removes prefetch</a:t>
            </a:r>
            <a:r>
              <a:rPr lang="en-US" sz="2000" dirty="0">
                <a:latin typeface="Arial" panose="020B0604020202020204" pitchFamily="34" charset="0"/>
              </a:rPr>
              <a:t>es from Read Queue based on </a:t>
            </a:r>
            <a:r>
              <a:rPr lang="en-US" sz="2000" i="1" dirty="0">
                <a:latin typeface="Arial" panose="020B0604020202020204" pitchFamily="34" charset="0"/>
              </a:rPr>
              <a:t>age</a:t>
            </a:r>
            <a:r>
              <a:rPr lang="en-US" sz="2000" dirty="0">
                <a:latin typeface="Arial" panose="020B0604020202020204" pitchFamily="34" charset="0"/>
              </a:rPr>
              <a:t> metric</a:t>
            </a:r>
            <a:endParaRPr lang="en-US" sz="2000" dirty="0">
              <a:effectLst/>
              <a:latin typeface="Arial" panose="020B0604020202020204" pitchFamily="34" charset="0"/>
            </a:endParaRPr>
          </a:p>
          <a:p>
            <a:pPr marL="971550" lvl="1" indent="-457200">
              <a:lnSpc>
                <a:spcPct val="90000"/>
              </a:lnSpc>
              <a:spcAft>
                <a:spcPts val="600"/>
              </a:spcAft>
              <a:buAutoNum type="arabicParenR"/>
            </a:pPr>
            <a:endParaRPr lang="en-US" sz="2000" b="1" dirty="0">
              <a:latin typeface="Arial" panose="020B0604020202020204" pitchFamily="34" charset="0"/>
            </a:endParaRPr>
          </a:p>
          <a:p>
            <a:pPr marL="971550" lvl="1" indent="-457200">
              <a:lnSpc>
                <a:spcPct val="90000"/>
              </a:lnSpc>
              <a:spcAft>
                <a:spcPts val="600"/>
              </a:spcAft>
              <a:buAutoNum type="arabicParenR"/>
            </a:pPr>
            <a:r>
              <a:rPr lang="en-US" sz="2000" b="1" dirty="0">
                <a:latin typeface="Arial" panose="020B0604020202020204" pitchFamily="34" charset="0"/>
              </a:rPr>
              <a:t>Memory-Side prefetch Filter (MSF): </a:t>
            </a:r>
            <a:r>
              <a:rPr lang="en-US" sz="2000" dirty="0">
                <a:latin typeface="Arial" panose="020B0604020202020204" pitchFamily="34" charset="0"/>
              </a:rPr>
              <a:t>our work</a:t>
            </a:r>
            <a:endParaRPr lang="en-US" sz="2000" b="1" dirty="0"/>
          </a:p>
        </p:txBody>
      </p:sp>
    </p:spTree>
    <p:extLst>
      <p:ext uri="{BB962C8B-B14F-4D97-AF65-F5344CB8AC3E}">
        <p14:creationId xmlns:p14="http://schemas.microsoft.com/office/powerpoint/2010/main" val="635498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a:t>
            </a:r>
            <a:r>
              <a:rPr lang="en-US" sz="4000" b="1"/>
              <a:t>Performance with </a:t>
            </a:r>
            <a:r>
              <a:rPr lang="en-US" sz="4000" b="1" dirty="0"/>
              <a:t>Different Prefetchers</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Performance results of different prefetchers using our prefetch filter</a:t>
            </a:r>
          </a:p>
          <a:p>
            <a:pPr marL="857250" lvl="1" indent="-342900">
              <a:lnSpc>
                <a:spcPct val="90000"/>
              </a:lnSpc>
              <a:spcAft>
                <a:spcPts val="600"/>
              </a:spcAft>
              <a:buFont typeface="Arial" panose="020B0604020202020204" pitchFamily="34" charset="0"/>
              <a:buChar char="•"/>
            </a:pPr>
            <a:r>
              <a:rPr lang="en-US" sz="2000" dirty="0"/>
              <a:t>Sorted in increasing order using IPC values </a:t>
            </a:r>
          </a:p>
          <a:p>
            <a:pPr marL="857250" lvl="1" indent="-342900">
              <a:lnSpc>
                <a:spcPct val="90000"/>
              </a:lnSpc>
              <a:spcAft>
                <a:spcPts val="600"/>
              </a:spcAft>
              <a:buFont typeface="Arial" panose="020B0604020202020204" pitchFamily="34" charset="0"/>
              <a:buChar char="•"/>
            </a:pPr>
            <a:r>
              <a:rPr lang="en-US" sz="2000" b="1" dirty="0">
                <a:solidFill>
                  <a:srgbClr val="C00000"/>
                </a:solidFill>
              </a:rPr>
              <a:t>Memory-intensive</a:t>
            </a:r>
            <a:r>
              <a:rPr lang="en-US" sz="2000" dirty="0"/>
              <a:t> workloads: </a:t>
            </a:r>
          </a:p>
          <a:p>
            <a:pPr marL="1314450" lvl="2" indent="-342900">
              <a:lnSpc>
                <a:spcPct val="90000"/>
              </a:lnSpc>
              <a:spcAft>
                <a:spcPts val="600"/>
              </a:spcAft>
              <a:buFont typeface="Arial" panose="020B0604020202020204" pitchFamily="34" charset="0"/>
              <a:buChar char="•"/>
            </a:pPr>
            <a:r>
              <a:rPr lang="en-US" dirty="0"/>
              <a:t>+7.5% performance with </a:t>
            </a:r>
            <a:r>
              <a:rPr lang="en-US" b="1" dirty="0">
                <a:solidFill>
                  <a:srgbClr val="7030A0"/>
                </a:solidFill>
              </a:rPr>
              <a:t>SPP</a:t>
            </a:r>
          </a:p>
          <a:p>
            <a:pPr marL="1314450" lvl="2" indent="-342900">
              <a:lnSpc>
                <a:spcPct val="90000"/>
              </a:lnSpc>
              <a:spcAft>
                <a:spcPts val="600"/>
              </a:spcAft>
              <a:buFont typeface="Arial" panose="020B0604020202020204" pitchFamily="34" charset="0"/>
              <a:buChar char="•"/>
            </a:pPr>
            <a:r>
              <a:rPr lang="en-US" dirty="0"/>
              <a:t>+3.2% performance with </a:t>
            </a:r>
            <a:r>
              <a:rPr lang="en-US" b="1" dirty="0">
                <a:solidFill>
                  <a:srgbClr val="002060"/>
                </a:solidFill>
              </a:rPr>
              <a:t>AMPM</a:t>
            </a:r>
            <a:r>
              <a:rPr lang="en-US" dirty="0"/>
              <a:t> </a:t>
            </a:r>
          </a:p>
          <a:p>
            <a:pPr marL="1314450" lvl="2" indent="-342900">
              <a:lnSpc>
                <a:spcPct val="90000"/>
              </a:lnSpc>
              <a:spcAft>
                <a:spcPts val="600"/>
              </a:spcAft>
              <a:buFont typeface="Arial" panose="020B0604020202020204" pitchFamily="34" charset="0"/>
              <a:buChar char="•"/>
            </a:pPr>
            <a:r>
              <a:rPr lang="en-US" dirty="0"/>
              <a:t>+5.8% performance with </a:t>
            </a:r>
            <a:r>
              <a:rPr lang="en-US" b="1" dirty="0">
                <a:solidFill>
                  <a:srgbClr val="0070C0"/>
                </a:solidFill>
              </a:rPr>
              <a:t>DCPT</a:t>
            </a:r>
          </a:p>
          <a:p>
            <a:pPr marL="1314450" lvl="2" indent="-342900">
              <a:lnSpc>
                <a:spcPct val="90000"/>
              </a:lnSpc>
              <a:spcAft>
                <a:spcPts val="600"/>
              </a:spcAft>
              <a:buFont typeface="Arial" panose="020B0604020202020204" pitchFamily="34" charset="0"/>
              <a:buChar char="•"/>
            </a:pPr>
            <a:r>
              <a:rPr lang="en-US" dirty="0"/>
              <a:t>+11.2% performance with </a:t>
            </a:r>
            <a:r>
              <a:rPr lang="en-US" b="1" dirty="0">
                <a:solidFill>
                  <a:srgbClr val="00B0F0"/>
                </a:solidFill>
              </a:rPr>
              <a:t>Tagged</a:t>
            </a:r>
          </a:p>
        </p:txBody>
      </p:sp>
      <p:pic>
        <p:nvPicPr>
          <p:cNvPr id="12" name="Picture 11">
            <a:extLst>
              <a:ext uri="{FF2B5EF4-FFF2-40B4-BE49-F238E27FC236}">
                <a16:creationId xmlns:a16="http://schemas.microsoft.com/office/drawing/2014/main" id="{55FA8DF9-DD9E-6E2F-50EE-FC3A7A6AE25E}"/>
              </a:ext>
            </a:extLst>
          </p:cNvPr>
          <p:cNvPicPr>
            <a:picLocks noChangeAspect="1"/>
          </p:cNvPicPr>
          <p:nvPr/>
        </p:nvPicPr>
        <p:blipFill>
          <a:blip r:embed="rId4"/>
          <a:stretch>
            <a:fillRect/>
          </a:stretch>
        </p:blipFill>
        <p:spPr>
          <a:xfrm>
            <a:off x="5564620" y="2514515"/>
            <a:ext cx="6627379" cy="3687710"/>
          </a:xfrm>
          <a:prstGeom prst="rect">
            <a:avLst/>
          </a:prstGeom>
        </p:spPr>
      </p:pic>
    </p:spTree>
    <p:extLst>
      <p:ext uri="{BB962C8B-B14F-4D97-AF65-F5344CB8AC3E}">
        <p14:creationId xmlns:p14="http://schemas.microsoft.com/office/powerpoint/2010/main" val="522407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Performance with Different Prefetchers (</a:t>
            </a:r>
            <a:r>
              <a:rPr lang="en-US" sz="4000" b="1" dirty="0" err="1"/>
              <a:t>Cont</a:t>
            </a:r>
            <a:r>
              <a:rPr lang="en-US" sz="4000" b="1" dirty="0"/>
              <a: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Performance results of different prefetchers using our prefetch filter</a:t>
            </a:r>
          </a:p>
          <a:p>
            <a:pPr marL="857250" lvl="1" indent="-342900">
              <a:lnSpc>
                <a:spcPct val="90000"/>
              </a:lnSpc>
              <a:spcAft>
                <a:spcPts val="600"/>
              </a:spcAft>
              <a:buFont typeface="Arial" panose="020B0604020202020204" pitchFamily="34" charset="0"/>
              <a:buChar char="•"/>
            </a:pPr>
            <a:r>
              <a:rPr lang="en-US" sz="2000" dirty="0"/>
              <a:t>Sorted in increasing order using IPC values </a:t>
            </a:r>
          </a:p>
          <a:p>
            <a:pPr marL="857250" lvl="1" indent="-342900">
              <a:lnSpc>
                <a:spcPct val="90000"/>
              </a:lnSpc>
              <a:spcAft>
                <a:spcPts val="600"/>
              </a:spcAft>
              <a:buFont typeface="Arial" panose="020B0604020202020204" pitchFamily="34" charset="0"/>
              <a:buChar char="•"/>
            </a:pPr>
            <a:r>
              <a:rPr lang="en-US" sz="2000" b="1" dirty="0">
                <a:solidFill>
                  <a:schemeClr val="accent3"/>
                </a:solidFill>
              </a:rPr>
              <a:t>Mixed</a:t>
            </a:r>
            <a:r>
              <a:rPr lang="en-US" sz="2000" dirty="0"/>
              <a:t> workloads: </a:t>
            </a:r>
          </a:p>
          <a:p>
            <a:pPr marL="1314450" lvl="2" indent="-342900">
              <a:lnSpc>
                <a:spcPct val="90000"/>
              </a:lnSpc>
              <a:spcAft>
                <a:spcPts val="600"/>
              </a:spcAft>
              <a:buFont typeface="Arial" panose="020B0604020202020204" pitchFamily="34" charset="0"/>
              <a:buChar char="•"/>
            </a:pPr>
            <a:r>
              <a:rPr lang="en-US" dirty="0"/>
              <a:t>+5.9% performance with </a:t>
            </a:r>
            <a:r>
              <a:rPr lang="en-US" b="1" dirty="0">
                <a:solidFill>
                  <a:srgbClr val="7030A0"/>
                </a:solidFill>
              </a:rPr>
              <a:t>SPP</a:t>
            </a:r>
          </a:p>
          <a:p>
            <a:pPr marL="1314450" lvl="2" indent="-342900">
              <a:lnSpc>
                <a:spcPct val="90000"/>
              </a:lnSpc>
              <a:spcAft>
                <a:spcPts val="600"/>
              </a:spcAft>
              <a:buFont typeface="Arial" panose="020B0604020202020204" pitchFamily="34" charset="0"/>
              <a:buChar char="•"/>
            </a:pPr>
            <a:r>
              <a:rPr lang="en-US" dirty="0"/>
              <a:t>+3.7% performance with </a:t>
            </a:r>
            <a:r>
              <a:rPr lang="en-US" b="1" dirty="0">
                <a:solidFill>
                  <a:srgbClr val="002060"/>
                </a:solidFill>
              </a:rPr>
              <a:t>AMPM</a:t>
            </a:r>
            <a:r>
              <a:rPr lang="en-US" dirty="0"/>
              <a:t> </a:t>
            </a:r>
          </a:p>
          <a:p>
            <a:pPr marL="1314450" lvl="2" indent="-342900">
              <a:lnSpc>
                <a:spcPct val="90000"/>
              </a:lnSpc>
              <a:spcAft>
                <a:spcPts val="600"/>
              </a:spcAft>
              <a:buFont typeface="Arial" panose="020B0604020202020204" pitchFamily="34" charset="0"/>
              <a:buChar char="•"/>
            </a:pPr>
            <a:r>
              <a:rPr lang="en-US" dirty="0"/>
              <a:t>+4.5% performance with </a:t>
            </a:r>
            <a:r>
              <a:rPr lang="en-US" b="1" dirty="0">
                <a:solidFill>
                  <a:srgbClr val="0070C0"/>
                </a:solidFill>
              </a:rPr>
              <a:t>DCPT</a:t>
            </a:r>
          </a:p>
          <a:p>
            <a:pPr marL="1314450" lvl="2" indent="-342900">
              <a:lnSpc>
                <a:spcPct val="90000"/>
              </a:lnSpc>
              <a:spcAft>
                <a:spcPts val="600"/>
              </a:spcAft>
              <a:buFont typeface="Arial" panose="020B0604020202020204" pitchFamily="34" charset="0"/>
              <a:buChar char="•"/>
            </a:pPr>
            <a:r>
              <a:rPr lang="en-US" dirty="0"/>
              <a:t>+8.0% performance with </a:t>
            </a:r>
            <a:r>
              <a:rPr lang="en-US" b="1" dirty="0">
                <a:solidFill>
                  <a:srgbClr val="00B0F0"/>
                </a:solidFill>
              </a:rPr>
              <a:t>Tagged</a:t>
            </a:r>
          </a:p>
        </p:txBody>
      </p:sp>
      <p:pic>
        <p:nvPicPr>
          <p:cNvPr id="12" name="Picture 11">
            <a:extLst>
              <a:ext uri="{FF2B5EF4-FFF2-40B4-BE49-F238E27FC236}">
                <a16:creationId xmlns:a16="http://schemas.microsoft.com/office/drawing/2014/main" id="{55FA8DF9-DD9E-6E2F-50EE-FC3A7A6AE25E}"/>
              </a:ext>
            </a:extLst>
          </p:cNvPr>
          <p:cNvPicPr>
            <a:picLocks noChangeAspect="1"/>
          </p:cNvPicPr>
          <p:nvPr/>
        </p:nvPicPr>
        <p:blipFill>
          <a:blip r:embed="rId4"/>
          <a:stretch>
            <a:fillRect/>
          </a:stretch>
        </p:blipFill>
        <p:spPr>
          <a:xfrm>
            <a:off x="5564620" y="2514515"/>
            <a:ext cx="6627379" cy="3687710"/>
          </a:xfrm>
          <a:prstGeom prst="rect">
            <a:avLst/>
          </a:prstGeom>
        </p:spPr>
      </p:pic>
    </p:spTree>
    <p:extLst>
      <p:ext uri="{BB962C8B-B14F-4D97-AF65-F5344CB8AC3E}">
        <p14:creationId xmlns:p14="http://schemas.microsoft.com/office/powerpoint/2010/main" val="1662735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Performance with Different Prefetchers (</a:t>
            </a:r>
            <a:r>
              <a:rPr lang="en-US" sz="4000" b="1" dirty="0" err="1"/>
              <a:t>Cont</a:t>
            </a:r>
            <a:r>
              <a:rPr lang="en-US" sz="4000" b="1" dirty="0"/>
              <a: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Performance results of different prefetchers using our prefetch filter</a:t>
            </a:r>
          </a:p>
          <a:p>
            <a:pPr marL="857250" lvl="1" indent="-342900">
              <a:lnSpc>
                <a:spcPct val="90000"/>
              </a:lnSpc>
              <a:spcAft>
                <a:spcPts val="600"/>
              </a:spcAft>
              <a:buFont typeface="Arial" panose="020B0604020202020204" pitchFamily="34" charset="0"/>
              <a:buChar char="•"/>
            </a:pPr>
            <a:r>
              <a:rPr lang="en-US" sz="2000" dirty="0"/>
              <a:t>Sorted in increasing order using IPC values </a:t>
            </a:r>
          </a:p>
          <a:p>
            <a:pPr marL="857250" lvl="1" indent="-342900">
              <a:lnSpc>
                <a:spcPct val="90000"/>
              </a:lnSpc>
              <a:spcAft>
                <a:spcPts val="600"/>
              </a:spcAft>
              <a:buFont typeface="Arial" panose="020B0604020202020204" pitchFamily="34" charset="0"/>
              <a:buChar char="•"/>
            </a:pPr>
            <a:r>
              <a:rPr lang="en-US" sz="2000" b="1" dirty="0"/>
              <a:t>Overall</a:t>
            </a:r>
            <a:r>
              <a:rPr lang="en-US" sz="2000" dirty="0"/>
              <a:t> workloads: </a:t>
            </a:r>
          </a:p>
          <a:p>
            <a:pPr marL="1314450" lvl="2" indent="-342900">
              <a:lnSpc>
                <a:spcPct val="90000"/>
              </a:lnSpc>
              <a:spcAft>
                <a:spcPts val="600"/>
              </a:spcAft>
              <a:buFont typeface="Arial" panose="020B0604020202020204" pitchFamily="34" charset="0"/>
              <a:buChar char="•"/>
            </a:pPr>
            <a:r>
              <a:rPr lang="en-US" dirty="0"/>
              <a:t>+7.0% performance with </a:t>
            </a:r>
            <a:r>
              <a:rPr lang="en-US" b="1" dirty="0">
                <a:solidFill>
                  <a:srgbClr val="7030A0"/>
                </a:solidFill>
              </a:rPr>
              <a:t>SPP</a:t>
            </a:r>
          </a:p>
          <a:p>
            <a:pPr marL="1314450" lvl="2" indent="-342900">
              <a:lnSpc>
                <a:spcPct val="90000"/>
              </a:lnSpc>
              <a:spcAft>
                <a:spcPts val="600"/>
              </a:spcAft>
              <a:buFont typeface="Arial" panose="020B0604020202020204" pitchFamily="34" charset="0"/>
              <a:buChar char="•"/>
            </a:pPr>
            <a:r>
              <a:rPr lang="en-US" dirty="0"/>
              <a:t>+3.3% performance with </a:t>
            </a:r>
            <a:r>
              <a:rPr lang="en-US" b="1" dirty="0">
                <a:solidFill>
                  <a:srgbClr val="002060"/>
                </a:solidFill>
              </a:rPr>
              <a:t>AMPM</a:t>
            </a:r>
            <a:r>
              <a:rPr lang="en-US" dirty="0"/>
              <a:t> </a:t>
            </a:r>
          </a:p>
          <a:p>
            <a:pPr marL="1314450" lvl="2" indent="-342900">
              <a:lnSpc>
                <a:spcPct val="90000"/>
              </a:lnSpc>
              <a:spcAft>
                <a:spcPts val="600"/>
              </a:spcAft>
              <a:buFont typeface="Arial" panose="020B0604020202020204" pitchFamily="34" charset="0"/>
              <a:buChar char="•"/>
            </a:pPr>
            <a:r>
              <a:rPr lang="en-US" dirty="0"/>
              <a:t>+5.3% performance with </a:t>
            </a:r>
            <a:r>
              <a:rPr lang="en-US" b="1" dirty="0">
                <a:solidFill>
                  <a:srgbClr val="0070C0"/>
                </a:solidFill>
              </a:rPr>
              <a:t>DCPT</a:t>
            </a:r>
          </a:p>
          <a:p>
            <a:pPr marL="1314450" lvl="2" indent="-342900">
              <a:lnSpc>
                <a:spcPct val="90000"/>
              </a:lnSpc>
              <a:spcAft>
                <a:spcPts val="600"/>
              </a:spcAft>
              <a:buFont typeface="Arial" panose="020B0604020202020204" pitchFamily="34" charset="0"/>
              <a:buChar char="•"/>
            </a:pPr>
            <a:r>
              <a:rPr lang="en-US" dirty="0"/>
              <a:t>+10.5% performance with </a:t>
            </a:r>
            <a:r>
              <a:rPr lang="en-US" b="1" dirty="0">
                <a:solidFill>
                  <a:srgbClr val="00B0F0"/>
                </a:solidFill>
              </a:rPr>
              <a:t>Tagged</a:t>
            </a:r>
          </a:p>
          <a:p>
            <a:pPr marL="1314450" lvl="2" indent="-342900">
              <a:lnSpc>
                <a:spcPct val="90000"/>
              </a:lnSpc>
              <a:spcAft>
                <a:spcPts val="600"/>
              </a:spcAft>
              <a:buFont typeface="Arial" panose="020B0604020202020204" pitchFamily="34" charset="0"/>
              <a:buChar char="•"/>
            </a:pPr>
            <a:endParaRPr lang="en-US" b="1" dirty="0">
              <a:solidFill>
                <a:srgbClr val="00B0F0"/>
              </a:solidFill>
            </a:endParaRPr>
          </a:p>
          <a:p>
            <a:pPr marL="971550" lvl="2">
              <a:lnSpc>
                <a:spcPct val="90000"/>
              </a:lnSpc>
              <a:spcAft>
                <a:spcPts val="600"/>
              </a:spcAft>
            </a:pPr>
            <a:endParaRPr lang="en-US" b="1" dirty="0">
              <a:solidFill>
                <a:srgbClr val="00B0F0"/>
              </a:solidFill>
            </a:endParaRPr>
          </a:p>
          <a:p>
            <a:pPr marL="857250" lvl="1" indent="-342900">
              <a:lnSpc>
                <a:spcPct val="90000"/>
              </a:lnSpc>
              <a:spcAft>
                <a:spcPts val="600"/>
              </a:spcAft>
              <a:buFont typeface="Arial" panose="020B0604020202020204" pitchFamily="34" charset="0"/>
              <a:buChar char="•"/>
            </a:pPr>
            <a:r>
              <a:rPr lang="en-US" b="1" dirty="0"/>
              <a:t>MSF works well with any underlying 						        prefetcher</a:t>
            </a:r>
          </a:p>
        </p:txBody>
      </p:sp>
      <p:pic>
        <p:nvPicPr>
          <p:cNvPr id="12" name="Picture 11">
            <a:extLst>
              <a:ext uri="{FF2B5EF4-FFF2-40B4-BE49-F238E27FC236}">
                <a16:creationId xmlns:a16="http://schemas.microsoft.com/office/drawing/2014/main" id="{55FA8DF9-DD9E-6E2F-50EE-FC3A7A6AE25E}"/>
              </a:ext>
            </a:extLst>
          </p:cNvPr>
          <p:cNvPicPr>
            <a:picLocks noChangeAspect="1"/>
          </p:cNvPicPr>
          <p:nvPr/>
        </p:nvPicPr>
        <p:blipFill>
          <a:blip r:embed="rId4"/>
          <a:stretch>
            <a:fillRect/>
          </a:stretch>
        </p:blipFill>
        <p:spPr>
          <a:xfrm>
            <a:off x="5564620" y="2514515"/>
            <a:ext cx="6627379" cy="3687710"/>
          </a:xfrm>
          <a:prstGeom prst="rect">
            <a:avLst/>
          </a:prstGeom>
        </p:spPr>
      </p:pic>
    </p:spTree>
    <p:extLst>
      <p:ext uri="{BB962C8B-B14F-4D97-AF65-F5344CB8AC3E}">
        <p14:creationId xmlns:p14="http://schemas.microsoft.com/office/powerpoint/2010/main" val="1150099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Accuracy</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MSF filters out unnecessary prefetch requests =&gt; </a:t>
            </a:r>
            <a:r>
              <a:rPr lang="en-US" sz="2000" i="1" dirty="0"/>
              <a:t>Improves accuracy</a:t>
            </a:r>
          </a:p>
          <a:p>
            <a:pPr marL="857250" lvl="1" indent="-342900">
              <a:lnSpc>
                <a:spcPct val="90000"/>
              </a:lnSpc>
              <a:spcAft>
                <a:spcPts val="600"/>
              </a:spcAft>
              <a:buFont typeface="Arial" panose="020B0604020202020204" pitchFamily="34" charset="0"/>
              <a:buChar char="•"/>
            </a:pPr>
            <a:r>
              <a:rPr lang="en-US" sz="2000" dirty="0"/>
              <a:t>Figure shows </a:t>
            </a:r>
            <a:r>
              <a:rPr lang="en-US" sz="2000" b="1" dirty="0">
                <a:solidFill>
                  <a:srgbClr val="7030A0"/>
                </a:solidFill>
              </a:rPr>
              <a:t>SPP</a:t>
            </a:r>
            <a:r>
              <a:rPr lang="en-US" sz="2000" dirty="0"/>
              <a:t> prefetcher’s accuracy between no filter vs MSF filter</a:t>
            </a:r>
          </a:p>
          <a:p>
            <a:pPr marL="857250" lvl="1" indent="-342900">
              <a:lnSpc>
                <a:spcPct val="90000"/>
              </a:lnSpc>
              <a:spcAft>
                <a:spcPts val="600"/>
              </a:spcAft>
              <a:buFont typeface="Arial" panose="020B0604020202020204" pitchFamily="34" charset="0"/>
              <a:buChar char="•"/>
            </a:pPr>
            <a:r>
              <a:rPr lang="en-US" sz="2000" dirty="0"/>
              <a:t>Overall, MSF increases </a:t>
            </a:r>
            <a:r>
              <a:rPr lang="en-US" sz="2000" b="1" dirty="0">
                <a:solidFill>
                  <a:srgbClr val="7030A0"/>
                </a:solidFill>
              </a:rPr>
              <a:t>SPP’s</a:t>
            </a:r>
            <a:r>
              <a:rPr lang="en-US" sz="2000" dirty="0"/>
              <a:t> accuracy by 11.4%</a:t>
            </a:r>
          </a:p>
          <a:p>
            <a:pPr marL="857250" lvl="1" indent="-342900">
              <a:lnSpc>
                <a:spcPct val="90000"/>
              </a:lnSpc>
              <a:spcAft>
                <a:spcPts val="600"/>
              </a:spcAft>
              <a:buFont typeface="Arial" panose="020B0604020202020204" pitchFamily="34" charset="0"/>
              <a:buChar char="•"/>
            </a:pPr>
            <a:endParaRPr lang="en-US" sz="2000" dirty="0"/>
          </a:p>
        </p:txBody>
      </p:sp>
      <p:pic>
        <p:nvPicPr>
          <p:cNvPr id="13" name="Picture 12">
            <a:extLst>
              <a:ext uri="{FF2B5EF4-FFF2-40B4-BE49-F238E27FC236}">
                <a16:creationId xmlns:a16="http://schemas.microsoft.com/office/drawing/2014/main" id="{F9B8007B-D4D1-9595-E09E-864D6FB98826}"/>
              </a:ext>
            </a:extLst>
          </p:cNvPr>
          <p:cNvPicPr>
            <a:picLocks noChangeAspect="1"/>
          </p:cNvPicPr>
          <p:nvPr/>
        </p:nvPicPr>
        <p:blipFill>
          <a:blip r:embed="rId4"/>
          <a:stretch>
            <a:fillRect/>
          </a:stretch>
        </p:blipFill>
        <p:spPr>
          <a:xfrm>
            <a:off x="2859140" y="2628900"/>
            <a:ext cx="6473719" cy="3602208"/>
          </a:xfrm>
          <a:prstGeom prst="rect">
            <a:avLst/>
          </a:prstGeom>
        </p:spPr>
      </p:pic>
    </p:spTree>
    <p:extLst>
      <p:ext uri="{BB962C8B-B14F-4D97-AF65-F5344CB8AC3E}">
        <p14:creationId xmlns:p14="http://schemas.microsoft.com/office/powerpoint/2010/main" val="3138966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Accuracy(Cont.)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a:t>
            </a:r>
            <a:r>
              <a:rPr lang="en-US" sz="2000" b="1" dirty="0">
                <a:solidFill>
                  <a:srgbClr val="002060"/>
                </a:solidFill>
              </a:rPr>
              <a:t>AMPM</a:t>
            </a:r>
            <a:r>
              <a:rPr lang="en-US" sz="2000" dirty="0"/>
              <a:t> prefetcher’s accuracy between no filter vs MSF filter</a:t>
            </a:r>
          </a:p>
          <a:p>
            <a:pPr marL="857250" lvl="1" indent="-342900">
              <a:lnSpc>
                <a:spcPct val="90000"/>
              </a:lnSpc>
              <a:spcAft>
                <a:spcPts val="600"/>
              </a:spcAft>
              <a:buFont typeface="Arial" panose="020B0604020202020204" pitchFamily="34" charset="0"/>
              <a:buChar char="•"/>
            </a:pPr>
            <a:r>
              <a:rPr lang="en-US" sz="2000" dirty="0"/>
              <a:t>Overall, MSF increases </a:t>
            </a:r>
            <a:r>
              <a:rPr lang="en-US" sz="2000" b="1" dirty="0">
                <a:solidFill>
                  <a:srgbClr val="002060"/>
                </a:solidFill>
              </a:rPr>
              <a:t>AMPM</a:t>
            </a:r>
            <a:r>
              <a:rPr lang="en-US" sz="2000" dirty="0"/>
              <a:t> accuracy by 9.1%</a:t>
            </a:r>
          </a:p>
          <a:p>
            <a:pPr marL="857250" lvl="1" indent="-3429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82B9552A-B846-8FF4-FC96-5B0D8CDACBC3}"/>
              </a:ext>
            </a:extLst>
          </p:cNvPr>
          <p:cNvPicPr>
            <a:picLocks noChangeAspect="1"/>
          </p:cNvPicPr>
          <p:nvPr/>
        </p:nvPicPr>
        <p:blipFill>
          <a:blip r:embed="rId4"/>
          <a:stretch>
            <a:fillRect/>
          </a:stretch>
        </p:blipFill>
        <p:spPr>
          <a:xfrm>
            <a:off x="2820205" y="2681959"/>
            <a:ext cx="6359691" cy="3538758"/>
          </a:xfrm>
          <a:prstGeom prst="rect">
            <a:avLst/>
          </a:prstGeom>
        </p:spPr>
      </p:pic>
    </p:spTree>
    <p:extLst>
      <p:ext uri="{BB962C8B-B14F-4D97-AF65-F5344CB8AC3E}">
        <p14:creationId xmlns:p14="http://schemas.microsoft.com/office/powerpoint/2010/main" val="2295765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Accuracy(Cont.)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a:t>
            </a:r>
            <a:r>
              <a:rPr lang="en-US" sz="2000" b="1" dirty="0">
                <a:solidFill>
                  <a:srgbClr val="0070C0"/>
                </a:solidFill>
              </a:rPr>
              <a:t>DCPT</a:t>
            </a:r>
            <a:r>
              <a:rPr lang="en-US" sz="2000" dirty="0"/>
              <a:t> prefetcher’s accuracy between no filter vs MSF filter</a:t>
            </a:r>
          </a:p>
          <a:p>
            <a:pPr marL="857250" lvl="1" indent="-342900">
              <a:lnSpc>
                <a:spcPct val="90000"/>
              </a:lnSpc>
              <a:spcAft>
                <a:spcPts val="600"/>
              </a:spcAft>
              <a:buFont typeface="Arial" panose="020B0604020202020204" pitchFamily="34" charset="0"/>
              <a:buChar char="•"/>
            </a:pPr>
            <a:r>
              <a:rPr lang="en-US" sz="2000" dirty="0"/>
              <a:t>Overall, MSF increases </a:t>
            </a:r>
            <a:r>
              <a:rPr lang="en-US" sz="2000" b="1" dirty="0">
                <a:solidFill>
                  <a:srgbClr val="0070C0"/>
                </a:solidFill>
              </a:rPr>
              <a:t>DCPT</a:t>
            </a:r>
            <a:r>
              <a:rPr lang="en-US" sz="2000" dirty="0"/>
              <a:t> accuracy by 5.1%</a:t>
            </a:r>
          </a:p>
          <a:p>
            <a:pPr marL="857250" lvl="1" indent="-342900">
              <a:lnSpc>
                <a:spcPct val="90000"/>
              </a:lnSpc>
              <a:spcAft>
                <a:spcPts val="600"/>
              </a:spcAft>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8EB3F222-B96E-2663-856D-396CADE2F540}"/>
              </a:ext>
            </a:extLst>
          </p:cNvPr>
          <p:cNvPicPr>
            <a:picLocks noChangeAspect="1"/>
          </p:cNvPicPr>
          <p:nvPr/>
        </p:nvPicPr>
        <p:blipFill>
          <a:blip r:embed="rId4"/>
          <a:stretch>
            <a:fillRect/>
          </a:stretch>
        </p:blipFill>
        <p:spPr>
          <a:xfrm>
            <a:off x="2889250" y="2620030"/>
            <a:ext cx="6413500" cy="3568700"/>
          </a:xfrm>
          <a:prstGeom prst="rect">
            <a:avLst/>
          </a:prstGeom>
        </p:spPr>
      </p:pic>
    </p:spTree>
    <p:extLst>
      <p:ext uri="{BB962C8B-B14F-4D97-AF65-F5344CB8AC3E}">
        <p14:creationId xmlns:p14="http://schemas.microsoft.com/office/powerpoint/2010/main" val="3944395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Accuracy(Cont.)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a:t>
            </a:r>
            <a:r>
              <a:rPr lang="en-US" sz="2000" b="1" dirty="0">
                <a:solidFill>
                  <a:srgbClr val="00B0F0"/>
                </a:solidFill>
              </a:rPr>
              <a:t>Tagged-Correlating</a:t>
            </a:r>
            <a:r>
              <a:rPr lang="en-US" sz="2000" dirty="0"/>
              <a:t> prefetcher’s accuracy between no filter vs MSF filter</a:t>
            </a:r>
          </a:p>
          <a:p>
            <a:pPr marL="857250" lvl="1" indent="-342900">
              <a:lnSpc>
                <a:spcPct val="90000"/>
              </a:lnSpc>
              <a:spcAft>
                <a:spcPts val="600"/>
              </a:spcAft>
              <a:buFont typeface="Arial" panose="020B0604020202020204" pitchFamily="34" charset="0"/>
              <a:buChar char="•"/>
            </a:pPr>
            <a:r>
              <a:rPr lang="en-US" sz="2000" dirty="0"/>
              <a:t>Overall, MSF increases </a:t>
            </a:r>
            <a:r>
              <a:rPr lang="en-US" sz="2000" b="1" dirty="0">
                <a:solidFill>
                  <a:srgbClr val="00B0F0"/>
                </a:solidFill>
              </a:rPr>
              <a:t>Tagged-Correlating</a:t>
            </a:r>
            <a:r>
              <a:rPr lang="en-US" sz="2000" dirty="0"/>
              <a:t> accuracy by 14.2%</a:t>
            </a:r>
          </a:p>
          <a:p>
            <a:pPr marL="857250" lvl="1" indent="-3429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288FC38F-CB7A-3660-5294-E2B022A94A4D}"/>
              </a:ext>
            </a:extLst>
          </p:cNvPr>
          <p:cNvPicPr>
            <a:picLocks noChangeAspect="1"/>
          </p:cNvPicPr>
          <p:nvPr/>
        </p:nvPicPr>
        <p:blipFill>
          <a:blip r:embed="rId4"/>
          <a:stretch>
            <a:fillRect/>
          </a:stretch>
        </p:blipFill>
        <p:spPr>
          <a:xfrm>
            <a:off x="2889250" y="2620030"/>
            <a:ext cx="6413500" cy="3568700"/>
          </a:xfrm>
          <a:prstGeom prst="rect">
            <a:avLst/>
          </a:prstGeom>
        </p:spPr>
      </p:pic>
    </p:spTree>
    <p:extLst>
      <p:ext uri="{BB962C8B-B14F-4D97-AF65-F5344CB8AC3E}">
        <p14:creationId xmlns:p14="http://schemas.microsoft.com/office/powerpoint/2010/main" val="523690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Coverage</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MSF does not always make the correct decision  =&gt;  </a:t>
            </a:r>
            <a:r>
              <a:rPr lang="en-US" sz="2000" i="1" dirty="0"/>
              <a:t>Decreased coverage</a:t>
            </a:r>
          </a:p>
          <a:p>
            <a:pPr marL="857250" lvl="1" indent="-342900">
              <a:lnSpc>
                <a:spcPct val="90000"/>
              </a:lnSpc>
              <a:spcAft>
                <a:spcPts val="600"/>
              </a:spcAft>
              <a:buFont typeface="Arial" panose="020B0604020202020204" pitchFamily="34" charset="0"/>
              <a:buChar char="•"/>
            </a:pPr>
            <a:r>
              <a:rPr lang="en-US" sz="2000" dirty="0"/>
              <a:t>Coverage: portion of cache misses that are avoided due to prefetching</a:t>
            </a:r>
          </a:p>
          <a:p>
            <a:pPr marL="857250" lvl="1" indent="-342900">
              <a:lnSpc>
                <a:spcPct val="90000"/>
              </a:lnSpc>
              <a:spcAft>
                <a:spcPts val="600"/>
              </a:spcAft>
              <a:buFont typeface="Arial" panose="020B0604020202020204" pitchFamily="34" charset="0"/>
              <a:buChar char="•"/>
            </a:pPr>
            <a:r>
              <a:rPr lang="en-US" sz="2000" dirty="0"/>
              <a:t>Figure shows the </a:t>
            </a:r>
            <a:r>
              <a:rPr lang="en-US" sz="2000" b="1" dirty="0">
                <a:solidFill>
                  <a:srgbClr val="7030A0"/>
                </a:solidFill>
              </a:rPr>
              <a:t>SPP</a:t>
            </a:r>
            <a:r>
              <a:rPr lang="en-US" sz="2000" dirty="0"/>
              <a:t> prefetcher’s coverage between no filter vs MSF filter</a:t>
            </a:r>
          </a:p>
          <a:p>
            <a:pPr marL="857250" lvl="1" indent="-342900">
              <a:lnSpc>
                <a:spcPct val="90000"/>
              </a:lnSpc>
              <a:spcAft>
                <a:spcPts val="600"/>
              </a:spcAft>
              <a:buFont typeface="Arial" panose="020B0604020202020204" pitchFamily="34" charset="0"/>
              <a:buChar char="•"/>
            </a:pPr>
            <a:r>
              <a:rPr lang="en-US" sz="2000" dirty="0"/>
              <a:t>MSF decreases </a:t>
            </a:r>
            <a:r>
              <a:rPr lang="en-US" sz="2000" b="1" dirty="0">
                <a:solidFill>
                  <a:srgbClr val="7030A0"/>
                </a:solidFill>
              </a:rPr>
              <a:t>SPP</a:t>
            </a:r>
            <a:r>
              <a:rPr lang="en-US" sz="2000" dirty="0"/>
              <a:t> coverage by 6.3%</a:t>
            </a:r>
          </a:p>
          <a:p>
            <a:pPr marL="857250" lvl="1" indent="-342900">
              <a:lnSpc>
                <a:spcPct val="90000"/>
              </a:lnSpc>
              <a:spcAft>
                <a:spcPts val="600"/>
              </a:spcAft>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DAF9C2E7-37EA-8039-5FEA-F5BEF8068690}"/>
              </a:ext>
            </a:extLst>
          </p:cNvPr>
          <p:cNvPicPr>
            <a:picLocks noChangeAspect="1"/>
          </p:cNvPicPr>
          <p:nvPr/>
        </p:nvPicPr>
        <p:blipFill>
          <a:blip r:embed="rId4"/>
          <a:stretch>
            <a:fillRect/>
          </a:stretch>
        </p:blipFill>
        <p:spPr>
          <a:xfrm>
            <a:off x="3075708" y="2691794"/>
            <a:ext cx="6227041" cy="3464948"/>
          </a:xfrm>
          <a:prstGeom prst="rect">
            <a:avLst/>
          </a:prstGeom>
        </p:spPr>
      </p:pic>
    </p:spTree>
    <p:extLst>
      <p:ext uri="{BB962C8B-B14F-4D97-AF65-F5344CB8AC3E}">
        <p14:creationId xmlns:p14="http://schemas.microsoft.com/office/powerpoint/2010/main" val="3327333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Coverage (Cont.)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the </a:t>
            </a:r>
            <a:r>
              <a:rPr lang="en-US" sz="2000" b="1" dirty="0">
                <a:solidFill>
                  <a:srgbClr val="002060"/>
                </a:solidFill>
              </a:rPr>
              <a:t>AMPM</a:t>
            </a:r>
            <a:r>
              <a:rPr lang="en-US" sz="2000" dirty="0"/>
              <a:t> prefetcher’s coverage between no filter vs MSF filter</a:t>
            </a:r>
          </a:p>
          <a:p>
            <a:pPr marL="857250" lvl="1" indent="-342900">
              <a:lnSpc>
                <a:spcPct val="90000"/>
              </a:lnSpc>
              <a:spcAft>
                <a:spcPts val="600"/>
              </a:spcAft>
              <a:buFont typeface="Arial" panose="020B0604020202020204" pitchFamily="34" charset="0"/>
              <a:buChar char="•"/>
            </a:pPr>
            <a:r>
              <a:rPr lang="en-US" sz="2000" dirty="0"/>
              <a:t>MSF decreases </a:t>
            </a:r>
            <a:r>
              <a:rPr lang="en-US" sz="2000" b="1" dirty="0">
                <a:solidFill>
                  <a:srgbClr val="002060"/>
                </a:solidFill>
              </a:rPr>
              <a:t>AMPM</a:t>
            </a:r>
            <a:r>
              <a:rPr lang="en-US" sz="2000" dirty="0"/>
              <a:t> coverage by 3.3%</a:t>
            </a:r>
          </a:p>
          <a:p>
            <a:pPr marL="857250" lvl="1" indent="-3429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90C8C897-C03A-1157-AC65-AC40086C6AE1}"/>
              </a:ext>
            </a:extLst>
          </p:cNvPr>
          <p:cNvPicPr>
            <a:picLocks noChangeAspect="1"/>
          </p:cNvPicPr>
          <p:nvPr/>
        </p:nvPicPr>
        <p:blipFill>
          <a:blip r:embed="rId4"/>
          <a:stretch>
            <a:fillRect/>
          </a:stretch>
        </p:blipFill>
        <p:spPr>
          <a:xfrm>
            <a:off x="2889250" y="2588042"/>
            <a:ext cx="6413500" cy="3568700"/>
          </a:xfrm>
          <a:prstGeom prst="rect">
            <a:avLst/>
          </a:prstGeom>
        </p:spPr>
      </p:pic>
    </p:spTree>
    <p:extLst>
      <p:ext uri="{BB962C8B-B14F-4D97-AF65-F5344CB8AC3E}">
        <p14:creationId xmlns:p14="http://schemas.microsoft.com/office/powerpoint/2010/main" val="4146816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Coverage (Cont.)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the </a:t>
            </a:r>
            <a:r>
              <a:rPr lang="en-US" sz="2000" b="1" dirty="0">
                <a:solidFill>
                  <a:srgbClr val="0070C0"/>
                </a:solidFill>
              </a:rPr>
              <a:t>DCPT</a:t>
            </a:r>
            <a:r>
              <a:rPr lang="en-US" sz="2000" dirty="0"/>
              <a:t> prefetcher’s coverage between no filter vs MSF filter</a:t>
            </a:r>
          </a:p>
          <a:p>
            <a:pPr marL="857250" lvl="1" indent="-342900">
              <a:lnSpc>
                <a:spcPct val="90000"/>
              </a:lnSpc>
              <a:spcAft>
                <a:spcPts val="600"/>
              </a:spcAft>
              <a:buFont typeface="Arial" panose="020B0604020202020204" pitchFamily="34" charset="0"/>
              <a:buChar char="•"/>
            </a:pPr>
            <a:r>
              <a:rPr lang="en-US" sz="2000" dirty="0"/>
              <a:t>MSF decreases </a:t>
            </a:r>
            <a:r>
              <a:rPr lang="en-US" sz="2000" b="1" dirty="0">
                <a:solidFill>
                  <a:srgbClr val="0070C0"/>
                </a:solidFill>
              </a:rPr>
              <a:t>DCPT</a:t>
            </a:r>
            <a:r>
              <a:rPr lang="en-US" sz="2000" dirty="0"/>
              <a:t> coverage by 2.8%</a:t>
            </a:r>
          </a:p>
          <a:p>
            <a:pPr marL="857250" lvl="1" indent="-342900">
              <a:lnSpc>
                <a:spcPct val="90000"/>
              </a:lnSpc>
              <a:spcAft>
                <a:spcPts val="600"/>
              </a:spcAft>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3952F4F4-1C6D-9CFB-9006-DC0308A5A427}"/>
              </a:ext>
            </a:extLst>
          </p:cNvPr>
          <p:cNvPicPr>
            <a:picLocks noChangeAspect="1"/>
          </p:cNvPicPr>
          <p:nvPr/>
        </p:nvPicPr>
        <p:blipFill>
          <a:blip r:embed="rId4"/>
          <a:stretch>
            <a:fillRect/>
          </a:stretch>
        </p:blipFill>
        <p:spPr>
          <a:xfrm>
            <a:off x="2889250" y="2588042"/>
            <a:ext cx="6413500" cy="3568700"/>
          </a:xfrm>
          <a:prstGeom prst="rect">
            <a:avLst/>
          </a:prstGeom>
        </p:spPr>
      </p:pic>
    </p:spTree>
    <p:extLst>
      <p:ext uri="{BB962C8B-B14F-4D97-AF65-F5344CB8AC3E}">
        <p14:creationId xmlns:p14="http://schemas.microsoft.com/office/powerpoint/2010/main" val="32892130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Prefetcher’s Coverage (Cont.)</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the </a:t>
            </a:r>
            <a:r>
              <a:rPr lang="en-US" sz="2000" b="1" dirty="0">
                <a:solidFill>
                  <a:srgbClr val="00B0F0"/>
                </a:solidFill>
              </a:rPr>
              <a:t>Tagged-Correlating</a:t>
            </a:r>
            <a:r>
              <a:rPr lang="en-US" sz="2000" dirty="0"/>
              <a:t> coverage between no filter vs MSF filter</a:t>
            </a:r>
          </a:p>
          <a:p>
            <a:pPr marL="857250" lvl="1" indent="-342900">
              <a:lnSpc>
                <a:spcPct val="90000"/>
              </a:lnSpc>
              <a:spcAft>
                <a:spcPts val="600"/>
              </a:spcAft>
              <a:buFont typeface="Arial" panose="020B0604020202020204" pitchFamily="34" charset="0"/>
              <a:buChar char="•"/>
            </a:pPr>
            <a:r>
              <a:rPr lang="en-US" sz="2000" dirty="0"/>
              <a:t>MSF decreases </a:t>
            </a:r>
            <a:r>
              <a:rPr lang="en-US" sz="2000" b="1" dirty="0">
                <a:solidFill>
                  <a:srgbClr val="00B0F0"/>
                </a:solidFill>
              </a:rPr>
              <a:t>Tagged-Correlating</a:t>
            </a:r>
            <a:r>
              <a:rPr lang="en-US" sz="2000" dirty="0"/>
              <a:t> coverage by 6.1%</a:t>
            </a:r>
          </a:p>
          <a:p>
            <a:pPr marL="857250" lvl="1" indent="-342900">
              <a:lnSpc>
                <a:spcPct val="90000"/>
              </a:lnSpc>
              <a:spcAft>
                <a:spcPts val="600"/>
              </a:spcAft>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25218178-5759-19A8-9F3B-BA42F572147E}"/>
              </a:ext>
            </a:extLst>
          </p:cNvPr>
          <p:cNvPicPr>
            <a:picLocks noChangeAspect="1"/>
          </p:cNvPicPr>
          <p:nvPr/>
        </p:nvPicPr>
        <p:blipFill>
          <a:blip r:embed="rId4"/>
          <a:stretch>
            <a:fillRect/>
          </a:stretch>
        </p:blipFill>
        <p:spPr>
          <a:xfrm>
            <a:off x="2889250" y="2588042"/>
            <a:ext cx="6413500" cy="3568700"/>
          </a:xfrm>
          <a:prstGeom prst="rect">
            <a:avLst/>
          </a:prstGeom>
        </p:spPr>
      </p:pic>
    </p:spTree>
    <p:extLst>
      <p:ext uri="{BB962C8B-B14F-4D97-AF65-F5344CB8AC3E}">
        <p14:creationId xmlns:p14="http://schemas.microsoft.com/office/powerpoint/2010/main" val="3627052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LLC Evicted Prefetches</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Inaccurate prefetchers bring data into cache that aren’t used  =&gt; </a:t>
            </a:r>
            <a:r>
              <a:rPr lang="en-US" sz="2000" i="1" dirty="0"/>
              <a:t>Cache Pollution</a:t>
            </a:r>
          </a:p>
          <a:p>
            <a:pPr marL="857250" lvl="1" indent="-342900">
              <a:lnSpc>
                <a:spcPct val="90000"/>
              </a:lnSpc>
              <a:spcAft>
                <a:spcPts val="600"/>
              </a:spcAft>
              <a:buFont typeface="Arial" panose="020B0604020202020204" pitchFamily="34" charset="0"/>
              <a:buChar char="•"/>
            </a:pPr>
            <a:r>
              <a:rPr lang="en-US" sz="2000" dirty="0"/>
              <a:t>Figure shows the normalized number of LLC Evicted Prefetches without references</a:t>
            </a:r>
          </a:p>
          <a:p>
            <a:pPr marL="857250" lvl="1" indent="-342900">
              <a:lnSpc>
                <a:spcPct val="90000"/>
              </a:lnSpc>
              <a:spcAft>
                <a:spcPts val="600"/>
              </a:spcAft>
              <a:buFont typeface="Arial" panose="020B0604020202020204" pitchFamily="34" charset="0"/>
              <a:buChar char="•"/>
            </a:pPr>
            <a:r>
              <a:rPr lang="en-US" sz="2000" dirty="0"/>
              <a:t>Across 55 workloads, MSF reduces LLC evicted prefetches by:</a:t>
            </a:r>
          </a:p>
          <a:p>
            <a:pPr marL="1314450" lvl="2" indent="-342900">
              <a:lnSpc>
                <a:spcPct val="90000"/>
              </a:lnSpc>
              <a:spcAft>
                <a:spcPts val="600"/>
              </a:spcAft>
              <a:buFont typeface="Arial" panose="020B0604020202020204" pitchFamily="34" charset="0"/>
              <a:buChar char="•"/>
            </a:pPr>
            <a:r>
              <a:rPr lang="en-US" dirty="0"/>
              <a:t>52.6% less for </a:t>
            </a:r>
            <a:r>
              <a:rPr lang="en-US" b="1" dirty="0">
                <a:solidFill>
                  <a:srgbClr val="7030A0"/>
                </a:solidFill>
              </a:rPr>
              <a:t>SPP			</a:t>
            </a:r>
            <a:r>
              <a:rPr lang="en-US" dirty="0"/>
              <a:t>40.8% less for </a:t>
            </a:r>
            <a:r>
              <a:rPr lang="en-US" b="1" dirty="0">
                <a:solidFill>
                  <a:srgbClr val="0070C0"/>
                </a:solidFill>
              </a:rPr>
              <a:t>DCPT</a:t>
            </a:r>
          </a:p>
          <a:p>
            <a:pPr marL="1314450" lvl="2" indent="-342900">
              <a:lnSpc>
                <a:spcPct val="90000"/>
              </a:lnSpc>
              <a:spcAft>
                <a:spcPts val="600"/>
              </a:spcAft>
              <a:buFont typeface="Arial" panose="020B0604020202020204" pitchFamily="34" charset="0"/>
              <a:buChar char="•"/>
            </a:pPr>
            <a:r>
              <a:rPr lang="en-US" sz="2000" dirty="0"/>
              <a:t>24.7% less for </a:t>
            </a:r>
            <a:r>
              <a:rPr lang="en-US" sz="2000" b="1" dirty="0">
                <a:solidFill>
                  <a:srgbClr val="002060"/>
                </a:solidFill>
              </a:rPr>
              <a:t>AMPM			</a:t>
            </a:r>
            <a:r>
              <a:rPr lang="en-US" sz="2000" dirty="0"/>
              <a:t>50.8% less for </a:t>
            </a:r>
            <a:r>
              <a:rPr lang="en-US" sz="2000" b="1" dirty="0">
                <a:solidFill>
                  <a:srgbClr val="00B0F0"/>
                </a:solidFill>
              </a:rPr>
              <a:t>Tagged-Correlating</a:t>
            </a:r>
            <a:endParaRPr lang="en-US" b="1" dirty="0">
              <a:solidFill>
                <a:srgbClr val="00B0F0"/>
              </a:solidFill>
            </a:endParaRPr>
          </a:p>
          <a:p>
            <a:pPr marL="857250" lvl="1" indent="-342900">
              <a:lnSpc>
                <a:spcPct val="90000"/>
              </a:lnSpc>
              <a:spcAft>
                <a:spcPts val="600"/>
              </a:spcAft>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61E4240B-4724-DF43-FAAF-247A8AF6620D}"/>
              </a:ext>
            </a:extLst>
          </p:cNvPr>
          <p:cNvPicPr>
            <a:picLocks noChangeAspect="1"/>
          </p:cNvPicPr>
          <p:nvPr/>
        </p:nvPicPr>
        <p:blipFill>
          <a:blip r:embed="rId4"/>
          <a:stretch>
            <a:fillRect/>
          </a:stretch>
        </p:blipFill>
        <p:spPr>
          <a:xfrm>
            <a:off x="3208649" y="3114246"/>
            <a:ext cx="5582804" cy="3106471"/>
          </a:xfrm>
          <a:prstGeom prst="rect">
            <a:avLst/>
          </a:prstGeom>
        </p:spPr>
      </p:pic>
    </p:spTree>
    <p:extLst>
      <p:ext uri="{BB962C8B-B14F-4D97-AF65-F5344CB8AC3E}">
        <p14:creationId xmlns:p14="http://schemas.microsoft.com/office/powerpoint/2010/main" val="19491933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3" y="26770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Scalability</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288512"/>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Showcase MSF is scalable across different memory configurations</a:t>
            </a:r>
          </a:p>
          <a:p>
            <a:pPr marL="857250" lvl="1" indent="-342900">
              <a:lnSpc>
                <a:spcPct val="90000"/>
              </a:lnSpc>
              <a:spcAft>
                <a:spcPts val="600"/>
              </a:spcAft>
              <a:buFont typeface="Arial" panose="020B0604020202020204" pitchFamily="34" charset="0"/>
              <a:buChar char="•"/>
            </a:pPr>
            <a:r>
              <a:rPr lang="en-US" sz="2000" b="1" dirty="0">
                <a:solidFill>
                  <a:srgbClr val="C00000"/>
                </a:solidFill>
              </a:rPr>
              <a:t>Memory-intensive</a:t>
            </a:r>
            <a:r>
              <a:rPr lang="en-US" sz="2000" dirty="0"/>
              <a:t> workloads: performance +7.0% to +8.7%</a:t>
            </a:r>
          </a:p>
          <a:p>
            <a:pPr marL="857250" lvl="1" indent="-342900">
              <a:lnSpc>
                <a:spcPct val="90000"/>
              </a:lnSpc>
              <a:spcAft>
                <a:spcPts val="600"/>
              </a:spcAft>
              <a:buFont typeface="Arial" panose="020B0604020202020204" pitchFamily="34" charset="0"/>
              <a:buChar char="•"/>
            </a:pPr>
            <a:r>
              <a:rPr lang="en-US" sz="2000" b="1" dirty="0">
                <a:solidFill>
                  <a:schemeClr val="accent3">
                    <a:lumMod val="50000"/>
                  </a:schemeClr>
                </a:solidFill>
              </a:rPr>
              <a:t>Mixed</a:t>
            </a:r>
            <a:r>
              <a:rPr lang="en-US" sz="2000" dirty="0"/>
              <a:t> workloads: performance +5.2% to 6.2%</a:t>
            </a:r>
          </a:p>
          <a:p>
            <a:pPr marL="514350" lvl="1">
              <a:lnSpc>
                <a:spcPct val="90000"/>
              </a:lnSpc>
              <a:spcAft>
                <a:spcPts val="600"/>
              </a:spcAft>
            </a:pPr>
            <a:r>
              <a:rPr lang="en-US" sz="2000" i="1" dirty="0">
                <a:sym typeface="Wingdings" pitchFamily="2" charset="2"/>
              </a:rPr>
              <a:t> MSF can scale well as number of DIMMs increases.</a:t>
            </a:r>
            <a:endParaRPr lang="en-US" sz="2000" i="1" dirty="0"/>
          </a:p>
        </p:txBody>
      </p:sp>
      <p:pic>
        <p:nvPicPr>
          <p:cNvPr id="3" name="Picture 2" descr="A graph of a performance comparison&#10;&#10;Description automatically generated">
            <a:extLst>
              <a:ext uri="{FF2B5EF4-FFF2-40B4-BE49-F238E27FC236}">
                <a16:creationId xmlns:a16="http://schemas.microsoft.com/office/drawing/2014/main" id="{1DB09760-EA4F-E795-DC00-68547E09FF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043" y="2890161"/>
            <a:ext cx="5902583" cy="3330556"/>
          </a:xfrm>
          <a:prstGeom prst="rect">
            <a:avLst/>
          </a:prstGeom>
        </p:spPr>
      </p:pic>
      <p:pic>
        <p:nvPicPr>
          <p:cNvPr id="11" name="Picture 10">
            <a:extLst>
              <a:ext uri="{FF2B5EF4-FFF2-40B4-BE49-F238E27FC236}">
                <a16:creationId xmlns:a16="http://schemas.microsoft.com/office/drawing/2014/main" id="{FED91417-2C47-D7B3-8486-4F41D0585188}"/>
              </a:ext>
            </a:extLst>
          </p:cNvPr>
          <p:cNvPicPr>
            <a:picLocks noChangeAspect="1"/>
          </p:cNvPicPr>
          <p:nvPr/>
        </p:nvPicPr>
        <p:blipFill>
          <a:blip r:embed="rId5"/>
          <a:stretch>
            <a:fillRect/>
          </a:stretch>
        </p:blipFill>
        <p:spPr>
          <a:xfrm>
            <a:off x="6296891" y="2958870"/>
            <a:ext cx="5747066" cy="3197872"/>
          </a:xfrm>
          <a:prstGeom prst="rect">
            <a:avLst/>
          </a:prstGeom>
        </p:spPr>
      </p:pic>
    </p:spTree>
    <p:extLst>
      <p:ext uri="{BB962C8B-B14F-4D97-AF65-F5344CB8AC3E}">
        <p14:creationId xmlns:p14="http://schemas.microsoft.com/office/powerpoint/2010/main" val="1128328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1" y="14136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Reduction in Requests</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099807"/>
            <a:ext cx="10589731"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MSF filters out unnecessary requests =&gt; </a:t>
            </a:r>
            <a:r>
              <a:rPr lang="en-US" sz="2000" i="1" dirty="0"/>
              <a:t>saving valuable resources</a:t>
            </a:r>
          </a:p>
          <a:p>
            <a:pPr marL="857250" lvl="1" indent="-342900">
              <a:lnSpc>
                <a:spcPct val="90000"/>
              </a:lnSpc>
              <a:spcAft>
                <a:spcPts val="600"/>
              </a:spcAft>
              <a:buFont typeface="Arial" panose="020B0604020202020204" pitchFamily="34" charset="0"/>
              <a:buChar char="•"/>
            </a:pPr>
            <a:r>
              <a:rPr lang="en-US" sz="2000" dirty="0"/>
              <a:t>Figure shows the normalized prefetch requests under different prefetchers</a:t>
            </a:r>
          </a:p>
          <a:p>
            <a:pPr marL="857250" lvl="1" indent="-342900">
              <a:lnSpc>
                <a:spcPct val="90000"/>
              </a:lnSpc>
              <a:spcAft>
                <a:spcPts val="600"/>
              </a:spcAft>
              <a:buFont typeface="Arial" panose="020B0604020202020204" pitchFamily="34" charset="0"/>
              <a:buChar char="•"/>
            </a:pPr>
            <a:r>
              <a:rPr lang="en-US" sz="2000" dirty="0"/>
              <a:t>Out of 55 workloads, MSF reduces prefetch requests by:</a:t>
            </a:r>
          </a:p>
          <a:p>
            <a:pPr marL="1314450" lvl="2" indent="-342900">
              <a:lnSpc>
                <a:spcPct val="90000"/>
              </a:lnSpc>
              <a:spcAft>
                <a:spcPts val="600"/>
              </a:spcAft>
              <a:buFont typeface="Arial" panose="020B0604020202020204" pitchFamily="34" charset="0"/>
              <a:buChar char="•"/>
            </a:pPr>
            <a:r>
              <a:rPr lang="en-US" sz="2000" dirty="0"/>
              <a:t>17.9% for </a:t>
            </a:r>
            <a:r>
              <a:rPr lang="en-US" sz="2000" b="1" dirty="0">
                <a:solidFill>
                  <a:srgbClr val="7030A0"/>
                </a:solidFill>
              </a:rPr>
              <a:t>SPP</a:t>
            </a:r>
            <a:r>
              <a:rPr lang="en-US" sz="2000" dirty="0"/>
              <a:t> 		11.3% for </a:t>
            </a:r>
            <a:r>
              <a:rPr lang="en-US" sz="2000" b="1" dirty="0">
                <a:solidFill>
                  <a:srgbClr val="0070C0"/>
                </a:solidFill>
              </a:rPr>
              <a:t>DCPT</a:t>
            </a:r>
          </a:p>
          <a:p>
            <a:pPr marL="1314450" lvl="2" indent="-342900">
              <a:lnSpc>
                <a:spcPct val="90000"/>
              </a:lnSpc>
              <a:spcAft>
                <a:spcPts val="600"/>
              </a:spcAft>
              <a:buFont typeface="Arial" panose="020B0604020202020204" pitchFamily="34" charset="0"/>
              <a:buChar char="•"/>
            </a:pPr>
            <a:r>
              <a:rPr lang="en-US" sz="2000" dirty="0"/>
              <a:t>10.1% for </a:t>
            </a:r>
            <a:r>
              <a:rPr lang="en-US" sz="2000" b="1" dirty="0">
                <a:solidFill>
                  <a:srgbClr val="002060"/>
                </a:solidFill>
              </a:rPr>
              <a:t>AMPM</a:t>
            </a:r>
            <a:r>
              <a:rPr lang="en-US" sz="2000" dirty="0"/>
              <a:t>		19.5% for </a:t>
            </a:r>
            <a:r>
              <a:rPr lang="en-US" sz="2000" b="1" dirty="0">
                <a:solidFill>
                  <a:srgbClr val="00B0F0"/>
                </a:solidFill>
              </a:rPr>
              <a:t>Tagged-Correlating</a:t>
            </a:r>
            <a:r>
              <a:rPr lang="en-US" sz="2000" dirty="0"/>
              <a:t>	</a:t>
            </a:r>
          </a:p>
          <a:p>
            <a:pPr marL="514350" lvl="1">
              <a:lnSpc>
                <a:spcPct val="90000"/>
              </a:lnSpc>
              <a:spcAft>
                <a:spcPts val="600"/>
              </a:spcAft>
            </a:pPr>
            <a:r>
              <a:rPr lang="en-US" sz="2000" i="1" dirty="0">
                <a:sym typeface="Wingdings" pitchFamily="2" charset="2"/>
              </a:rPr>
              <a:t> MSF significantly reduces total number of prefetch requests MC need to serve</a:t>
            </a:r>
            <a:endParaRPr lang="en-US" sz="2000" i="1" dirty="0"/>
          </a:p>
        </p:txBody>
      </p:sp>
      <p:pic>
        <p:nvPicPr>
          <p:cNvPr id="6" name="Picture 5" descr="A graph of a number of lines&#10;&#10;Description automatically generated with medium confidence">
            <a:extLst>
              <a:ext uri="{FF2B5EF4-FFF2-40B4-BE49-F238E27FC236}">
                <a16:creationId xmlns:a16="http://schemas.microsoft.com/office/drawing/2014/main" id="{73E203FD-FDA5-9F6B-7851-6602400379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8929" y="3169845"/>
            <a:ext cx="5460567" cy="3050872"/>
          </a:xfrm>
          <a:prstGeom prst="rect">
            <a:avLst/>
          </a:prstGeom>
        </p:spPr>
      </p:pic>
    </p:spTree>
    <p:extLst>
      <p:ext uri="{BB962C8B-B14F-4D97-AF65-F5344CB8AC3E}">
        <p14:creationId xmlns:p14="http://schemas.microsoft.com/office/powerpoint/2010/main" val="4084755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1" y="141363"/>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Energy Savings</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1099807"/>
            <a:ext cx="11161230"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Benefit of filtering out unnecessary prefetches is saving in memory energy consumption</a:t>
            </a:r>
          </a:p>
          <a:p>
            <a:pPr marL="857250" lvl="1" indent="-342900">
              <a:lnSpc>
                <a:spcPct val="90000"/>
              </a:lnSpc>
              <a:spcAft>
                <a:spcPts val="600"/>
              </a:spcAft>
              <a:buFont typeface="Arial" panose="020B0604020202020204" pitchFamily="34" charset="0"/>
              <a:buChar char="•"/>
            </a:pPr>
            <a:r>
              <a:rPr lang="en-US" sz="2000" dirty="0"/>
              <a:t>Figure shows memory energy breakdown between baseline and MSF (</a:t>
            </a:r>
            <a:r>
              <a:rPr lang="en-US" sz="2000" b="1" dirty="0">
                <a:solidFill>
                  <a:srgbClr val="7030A0"/>
                </a:solidFill>
              </a:rPr>
              <a:t>SPP</a:t>
            </a:r>
            <a:r>
              <a:rPr lang="en-US" sz="2000" dirty="0"/>
              <a:t> prefetcher)</a:t>
            </a:r>
          </a:p>
          <a:p>
            <a:pPr marL="857250" lvl="1" indent="-342900">
              <a:lnSpc>
                <a:spcPct val="90000"/>
              </a:lnSpc>
              <a:spcAft>
                <a:spcPts val="600"/>
              </a:spcAft>
              <a:buFont typeface="Arial" panose="020B0604020202020204" pitchFamily="34" charset="0"/>
              <a:buChar char="•"/>
            </a:pPr>
            <a:r>
              <a:rPr lang="en-US" sz="2000" dirty="0"/>
              <a:t>MSF saves </a:t>
            </a:r>
            <a:r>
              <a:rPr lang="en-US" sz="2000" b="1" dirty="0">
                <a:solidFill>
                  <a:srgbClr val="00B050"/>
                </a:solidFill>
              </a:rPr>
              <a:t>activation</a:t>
            </a:r>
            <a:r>
              <a:rPr lang="en-US" sz="2000" dirty="0"/>
              <a:t> and </a:t>
            </a:r>
            <a:r>
              <a:rPr lang="en-US" sz="2000" b="1" dirty="0">
                <a:solidFill>
                  <a:srgbClr val="00B0F0"/>
                </a:solidFill>
              </a:rPr>
              <a:t>precharge</a:t>
            </a:r>
            <a:r>
              <a:rPr lang="en-US" sz="2000" dirty="0"/>
              <a:t> energy proportionally to reduction in prefetch requests</a:t>
            </a:r>
          </a:p>
          <a:p>
            <a:pPr marL="857250" lvl="1" indent="-342900">
              <a:lnSpc>
                <a:spcPct val="90000"/>
              </a:lnSpc>
              <a:spcAft>
                <a:spcPts val="600"/>
              </a:spcAft>
              <a:buFont typeface="Arial" panose="020B0604020202020204" pitchFamily="34" charset="0"/>
              <a:buChar char="•"/>
            </a:pPr>
            <a:r>
              <a:rPr lang="en-US" sz="2000" dirty="0"/>
              <a:t>MSF saves </a:t>
            </a:r>
            <a:r>
              <a:rPr lang="en-US" sz="2000" b="1" dirty="0">
                <a:solidFill>
                  <a:srgbClr val="945200"/>
                </a:solidFill>
              </a:rPr>
              <a:t>read energy </a:t>
            </a:r>
            <a:r>
              <a:rPr lang="en-US" sz="2000" dirty="0"/>
              <a:t>by 17.5%, </a:t>
            </a:r>
            <a:r>
              <a:rPr lang="en-US" sz="2000" b="1" dirty="0"/>
              <a:t>overall energy </a:t>
            </a:r>
            <a:r>
              <a:rPr lang="en-US" sz="2000" dirty="0"/>
              <a:t>by 10.6%</a:t>
            </a:r>
            <a:endParaRPr lang="en-US" sz="2000" b="1" dirty="0">
              <a:solidFill>
                <a:srgbClr val="945200"/>
              </a:solidFill>
            </a:endParaRPr>
          </a:p>
        </p:txBody>
      </p:sp>
      <p:pic>
        <p:nvPicPr>
          <p:cNvPr id="3" name="Picture 2" descr="A graph of energy consumption&#10;&#10;Description automatically generated">
            <a:extLst>
              <a:ext uri="{FF2B5EF4-FFF2-40B4-BE49-F238E27FC236}">
                <a16:creationId xmlns:a16="http://schemas.microsoft.com/office/drawing/2014/main" id="{393089B8-543E-F5C4-72FC-98B6ACA4EB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7336" y="2509289"/>
            <a:ext cx="6654678" cy="3711428"/>
          </a:xfrm>
          <a:prstGeom prst="rect">
            <a:avLst/>
          </a:prstGeom>
        </p:spPr>
      </p:pic>
    </p:spTree>
    <p:extLst>
      <p:ext uri="{BB962C8B-B14F-4D97-AF65-F5344CB8AC3E}">
        <p14:creationId xmlns:p14="http://schemas.microsoft.com/office/powerpoint/2010/main" val="21097028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546977AE-05DC-BB93-E34D-9986B708DB02}"/>
              </a:ext>
            </a:extLst>
          </p:cNvPr>
          <p:cNvSpPr txBox="1">
            <a:spLocks/>
          </p:cNvSpPr>
          <p:nvPr/>
        </p:nvSpPr>
        <p:spPr>
          <a:xfrm>
            <a:off x="532011" y="141363"/>
            <a:ext cx="11334405" cy="83210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b="1" dirty="0"/>
              <a:t>Results: Performance Versus Related Filtering Schemes</a:t>
            </a:r>
            <a:endParaRPr lang="en-US" sz="4000" dirty="0"/>
          </a:p>
        </p:txBody>
      </p:sp>
      <p:sp>
        <p:nvSpPr>
          <p:cNvPr id="8" name="TextBox 7">
            <a:extLst>
              <a:ext uri="{FF2B5EF4-FFF2-40B4-BE49-F238E27FC236}">
                <a16:creationId xmlns:a16="http://schemas.microsoft.com/office/drawing/2014/main" id="{BB9D788E-8550-5554-B2D5-5A7A49291FAA}"/>
              </a:ext>
            </a:extLst>
          </p:cNvPr>
          <p:cNvSpPr txBox="1"/>
          <p:nvPr/>
        </p:nvSpPr>
        <p:spPr>
          <a:xfrm>
            <a:off x="705186" y="994885"/>
            <a:ext cx="11161230"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Arial" panose="020B0604020202020204" pitchFamily="34" charset="0"/>
              <a:buChar char="•"/>
            </a:pPr>
            <a:r>
              <a:rPr lang="en-US" sz="2000" dirty="0"/>
              <a:t>Figure shows the performance comparison between MSF vs PPF and PADC (</a:t>
            </a:r>
            <a:r>
              <a:rPr lang="en-US" sz="2000" b="1" dirty="0">
                <a:solidFill>
                  <a:srgbClr val="7030A0"/>
                </a:solidFill>
              </a:rPr>
              <a:t>SPP</a:t>
            </a:r>
            <a:r>
              <a:rPr lang="en-US" sz="2000" dirty="0"/>
              <a:t> prefetcher)</a:t>
            </a:r>
          </a:p>
          <a:p>
            <a:pPr marL="857250" lvl="1" indent="-342900">
              <a:lnSpc>
                <a:spcPct val="90000"/>
              </a:lnSpc>
              <a:spcAft>
                <a:spcPts val="600"/>
              </a:spcAft>
              <a:buFont typeface="Arial" panose="020B0604020202020204" pitchFamily="34" charset="0"/>
              <a:buChar char="•"/>
            </a:pPr>
            <a:r>
              <a:rPr lang="en-US" sz="2000" dirty="0"/>
              <a:t>For</a:t>
            </a:r>
            <a:r>
              <a:rPr lang="en-US" sz="2000" b="1" dirty="0">
                <a:solidFill>
                  <a:srgbClr val="C00000"/>
                </a:solidFill>
              </a:rPr>
              <a:t> memory-intensive </a:t>
            </a:r>
            <a:r>
              <a:rPr lang="en-US" sz="2000" dirty="0"/>
              <a:t>workloads, MSF improves 1.6% over PPF, and 5.2% over PADC</a:t>
            </a:r>
          </a:p>
          <a:p>
            <a:pPr marL="857250" lvl="1" indent="-342900">
              <a:lnSpc>
                <a:spcPct val="90000"/>
              </a:lnSpc>
              <a:spcAft>
                <a:spcPts val="600"/>
              </a:spcAft>
              <a:buFont typeface="Arial" panose="020B0604020202020204" pitchFamily="34" charset="0"/>
              <a:buChar char="•"/>
            </a:pPr>
            <a:r>
              <a:rPr lang="en-US" sz="2000" dirty="0"/>
              <a:t>For </a:t>
            </a:r>
            <a:r>
              <a:rPr lang="en-US" sz="2000" b="1" dirty="0">
                <a:solidFill>
                  <a:schemeClr val="accent3">
                    <a:lumMod val="50000"/>
                  </a:schemeClr>
                </a:solidFill>
              </a:rPr>
              <a:t>mixed</a:t>
            </a:r>
            <a:r>
              <a:rPr lang="en-US" sz="2000" dirty="0"/>
              <a:t> workloads, MSF improves 0.1% over PPF, and 3.1% over PADC</a:t>
            </a:r>
          </a:p>
          <a:p>
            <a:pPr marL="857250" lvl="1" indent="-342900">
              <a:lnSpc>
                <a:spcPct val="90000"/>
              </a:lnSpc>
              <a:spcAft>
                <a:spcPts val="600"/>
              </a:spcAft>
              <a:buFont typeface="Arial" panose="020B0604020202020204" pitchFamily="34" charset="0"/>
              <a:buChar char="•"/>
            </a:pPr>
            <a:r>
              <a:rPr lang="en-US" sz="2000" dirty="0"/>
              <a:t>Overall, +1.3% over PPF and +4.6% over PADC </a:t>
            </a:r>
          </a:p>
          <a:p>
            <a:pPr marL="514350" lvl="1">
              <a:lnSpc>
                <a:spcPct val="90000"/>
              </a:lnSpc>
              <a:spcAft>
                <a:spcPts val="600"/>
              </a:spcAft>
            </a:pPr>
            <a:r>
              <a:rPr lang="en-US" sz="2000" dirty="0">
                <a:sym typeface="Wingdings" pitchFamily="2" charset="2"/>
              </a:rPr>
              <a:t> MSF performs better than both filtering schemes and works for </a:t>
            </a:r>
            <a:r>
              <a:rPr lang="en-US" sz="2000" u="sng" dirty="0">
                <a:sym typeface="Wingdings" pitchFamily="2" charset="2"/>
              </a:rPr>
              <a:t>any</a:t>
            </a:r>
            <a:r>
              <a:rPr lang="en-US" sz="2000" dirty="0">
                <a:sym typeface="Wingdings" pitchFamily="2" charset="2"/>
              </a:rPr>
              <a:t> underlying prefetcher</a:t>
            </a:r>
            <a:endParaRPr lang="en-US" sz="2000" dirty="0"/>
          </a:p>
        </p:txBody>
      </p:sp>
      <p:pic>
        <p:nvPicPr>
          <p:cNvPr id="6" name="Picture 5" descr="A graph of a graph with blue and orange lines&#10;&#10;Description automatically generated">
            <a:extLst>
              <a:ext uri="{FF2B5EF4-FFF2-40B4-BE49-F238E27FC236}">
                <a16:creationId xmlns:a16="http://schemas.microsoft.com/office/drawing/2014/main" id="{F9860851-7274-C4A4-93C6-730185281E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5095" y="2764093"/>
            <a:ext cx="6161809" cy="3456624"/>
          </a:xfrm>
          <a:prstGeom prst="rect">
            <a:avLst/>
          </a:prstGeom>
        </p:spPr>
      </p:pic>
    </p:spTree>
    <p:extLst>
      <p:ext uri="{BB962C8B-B14F-4D97-AF65-F5344CB8AC3E}">
        <p14:creationId xmlns:p14="http://schemas.microsoft.com/office/powerpoint/2010/main" val="1202695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FD499B4A-320B-EF6D-C32F-FC48B6D7E101}"/>
              </a:ext>
            </a:extLst>
          </p:cNvPr>
          <p:cNvSpPr txBox="1">
            <a:spLocks/>
          </p:cNvSpPr>
          <p:nvPr/>
        </p:nvSpPr>
        <p:spPr>
          <a:xfrm>
            <a:off x="532011" y="972636"/>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000" b="1" dirty="0"/>
              <a:t>MSF: Summary</a:t>
            </a:r>
            <a:endParaRPr lang="en-US" sz="4000" dirty="0"/>
          </a:p>
        </p:txBody>
      </p:sp>
      <p:sp>
        <p:nvSpPr>
          <p:cNvPr id="6" name="TextBox 5">
            <a:extLst>
              <a:ext uri="{FF2B5EF4-FFF2-40B4-BE49-F238E27FC236}">
                <a16:creationId xmlns:a16="http://schemas.microsoft.com/office/drawing/2014/main" id="{F7C9ACBF-F94F-96E1-FB9B-A12984B8DD7D}"/>
              </a:ext>
            </a:extLst>
          </p:cNvPr>
          <p:cNvSpPr txBox="1"/>
          <p:nvPr/>
        </p:nvSpPr>
        <p:spPr>
          <a:xfrm>
            <a:off x="705186" y="2085930"/>
            <a:ext cx="11161230"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r>
              <a:rPr lang="en-US" sz="2000" b="1" dirty="0"/>
              <a:t>Main ideas:</a:t>
            </a:r>
          </a:p>
          <a:p>
            <a:pPr marL="857250" lvl="1" indent="-342900">
              <a:lnSpc>
                <a:spcPct val="90000"/>
              </a:lnSpc>
              <a:spcAft>
                <a:spcPts val="600"/>
              </a:spcAft>
              <a:buFont typeface="Arial" panose="020B0604020202020204" pitchFamily="34" charset="0"/>
              <a:buChar char="•"/>
            </a:pPr>
            <a:r>
              <a:rPr lang="en-US" sz="2000" dirty="0"/>
              <a:t>Filters unnecessary prefetch requests using both </a:t>
            </a:r>
            <a:r>
              <a:rPr lang="en-US" sz="2000" i="1" dirty="0"/>
              <a:t>memory-side</a:t>
            </a:r>
            <a:r>
              <a:rPr lang="en-US" sz="2000" dirty="0"/>
              <a:t> and </a:t>
            </a:r>
            <a:r>
              <a:rPr lang="en-US" sz="2000" i="1" dirty="0"/>
              <a:t>core-side</a:t>
            </a:r>
            <a:r>
              <a:rPr lang="en-US" sz="2000" dirty="0"/>
              <a:t> metadata</a:t>
            </a:r>
          </a:p>
          <a:p>
            <a:pPr marL="857250" lvl="1" indent="-342900">
              <a:lnSpc>
                <a:spcPct val="90000"/>
              </a:lnSpc>
              <a:spcAft>
                <a:spcPts val="600"/>
              </a:spcAft>
              <a:buFont typeface="Arial" panose="020B0604020202020204" pitchFamily="34" charset="0"/>
              <a:buChar char="•"/>
            </a:pPr>
            <a:r>
              <a:rPr lang="en-US" sz="2000" dirty="0"/>
              <a:t>Uses hashed-perceptron variation to determine request’s usefulness</a:t>
            </a:r>
          </a:p>
          <a:p>
            <a:pPr marL="857250" lvl="1" indent="-342900">
              <a:lnSpc>
                <a:spcPct val="90000"/>
              </a:lnSpc>
              <a:spcAft>
                <a:spcPts val="600"/>
              </a:spcAft>
              <a:buFont typeface="Arial" panose="020B0604020202020204" pitchFamily="34" charset="0"/>
              <a:buChar char="•"/>
            </a:pPr>
            <a:r>
              <a:rPr lang="en-US" sz="2000" dirty="0"/>
              <a:t>Works for </a:t>
            </a:r>
            <a:r>
              <a:rPr lang="en-US" sz="2000" u="sng" dirty="0"/>
              <a:t>any</a:t>
            </a:r>
            <a:r>
              <a:rPr lang="en-US" sz="2000" dirty="0"/>
              <a:t> underlying prefetcher</a:t>
            </a:r>
          </a:p>
          <a:p>
            <a:pPr marL="514350" lvl="1">
              <a:lnSpc>
                <a:spcPct val="90000"/>
              </a:lnSpc>
              <a:spcAft>
                <a:spcPts val="600"/>
              </a:spcAft>
            </a:pPr>
            <a:r>
              <a:rPr lang="en-US" sz="2000" b="1" dirty="0"/>
              <a:t>Overhead:</a:t>
            </a:r>
          </a:p>
          <a:p>
            <a:pPr marL="857250" lvl="1" indent="-342900">
              <a:lnSpc>
                <a:spcPct val="90000"/>
              </a:lnSpc>
              <a:spcAft>
                <a:spcPts val="600"/>
              </a:spcAft>
              <a:buFont typeface="Arial" panose="020B0604020202020204" pitchFamily="34" charset="0"/>
              <a:buChar char="•"/>
            </a:pPr>
            <a:r>
              <a:rPr lang="en-US" sz="2000" b="1" dirty="0"/>
              <a:t>29.99KB</a:t>
            </a:r>
            <a:r>
              <a:rPr lang="en-US" sz="2000" dirty="0"/>
              <a:t> storage overhead per-channel</a:t>
            </a:r>
          </a:p>
          <a:p>
            <a:pPr marL="857250" lvl="1" indent="-342900">
              <a:lnSpc>
                <a:spcPct val="90000"/>
              </a:lnSpc>
              <a:spcAft>
                <a:spcPts val="600"/>
              </a:spcAft>
              <a:buFont typeface="Arial" panose="020B0604020202020204" pitchFamily="34" charset="0"/>
              <a:buChar char="•"/>
            </a:pPr>
            <a:r>
              <a:rPr lang="en-US" sz="2000" dirty="0"/>
              <a:t>Significantly less than related filtering scheme (39.34KB per-core, 314.72KB for octa-core)</a:t>
            </a:r>
          </a:p>
          <a:p>
            <a:pPr marL="514350" lvl="1">
              <a:lnSpc>
                <a:spcPct val="90000"/>
              </a:lnSpc>
              <a:spcAft>
                <a:spcPts val="600"/>
              </a:spcAft>
            </a:pPr>
            <a:r>
              <a:rPr lang="en-US" sz="2000" b="1" dirty="0"/>
              <a:t>Results:</a:t>
            </a:r>
          </a:p>
          <a:p>
            <a:pPr marL="857250" lvl="1" indent="-342900">
              <a:lnSpc>
                <a:spcPct val="90000"/>
              </a:lnSpc>
              <a:spcAft>
                <a:spcPts val="600"/>
              </a:spcAft>
              <a:buFont typeface="Arial" panose="020B0604020202020204" pitchFamily="34" charset="0"/>
              <a:buChar char="•"/>
            </a:pPr>
            <a:r>
              <a:rPr lang="en-US" sz="2000" dirty="0"/>
              <a:t>+7.0% performance with SPP, 3.3% with AMPM, 5.3% with DCPT, 10.5% with Tagged-Corr</a:t>
            </a:r>
          </a:p>
          <a:p>
            <a:pPr marL="857250" lvl="1" indent="-342900">
              <a:lnSpc>
                <a:spcPct val="90000"/>
              </a:lnSpc>
              <a:spcAft>
                <a:spcPts val="600"/>
              </a:spcAft>
              <a:buFont typeface="Arial" panose="020B0604020202020204" pitchFamily="34" charset="0"/>
              <a:buChar char="•"/>
            </a:pPr>
            <a:r>
              <a:rPr lang="en-US" sz="2000" dirty="0"/>
              <a:t>+5.2% performance over related scheme PADC, +1.3% over PPF</a:t>
            </a:r>
          </a:p>
          <a:p>
            <a:pPr marL="857250" lvl="1" indent="-342900">
              <a:lnSpc>
                <a:spcPct val="90000"/>
              </a:lnSpc>
              <a:spcAft>
                <a:spcPts val="600"/>
              </a:spcAft>
              <a:buFont typeface="Arial" panose="020B0604020202020204" pitchFamily="34" charset="0"/>
              <a:buChar char="•"/>
            </a:pPr>
            <a:r>
              <a:rPr lang="en-US" sz="2000" dirty="0"/>
              <a:t>-10.6% energy consumption overall</a:t>
            </a:r>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514350" lvl="1">
              <a:lnSpc>
                <a:spcPct val="90000"/>
              </a:lnSpc>
              <a:spcAft>
                <a:spcPts val="600"/>
              </a:spcAft>
            </a:pPr>
            <a:endParaRPr lang="en-US" sz="2000" b="1" dirty="0"/>
          </a:p>
        </p:txBody>
      </p:sp>
    </p:spTree>
    <p:extLst>
      <p:ext uri="{BB962C8B-B14F-4D97-AF65-F5344CB8AC3E}">
        <p14:creationId xmlns:p14="http://schemas.microsoft.com/office/powerpoint/2010/main" val="4117634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4B9ACC8E-7F80-0E28-C39A-1A07559235F1}"/>
              </a:ext>
            </a:extLst>
          </p:cNvPr>
          <p:cNvSpPr txBox="1">
            <a:spLocks/>
          </p:cNvSpPr>
          <p:nvPr/>
        </p:nvSpPr>
        <p:spPr>
          <a:xfrm>
            <a:off x="532011" y="972636"/>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000" b="1" dirty="0"/>
              <a:t>Summary</a:t>
            </a:r>
            <a:endParaRPr lang="en-US" sz="4000" dirty="0"/>
          </a:p>
        </p:txBody>
      </p:sp>
      <p:sp>
        <p:nvSpPr>
          <p:cNvPr id="6" name="TextBox 5">
            <a:extLst>
              <a:ext uri="{FF2B5EF4-FFF2-40B4-BE49-F238E27FC236}">
                <a16:creationId xmlns:a16="http://schemas.microsoft.com/office/drawing/2014/main" id="{B1D344D4-269D-656B-242F-8048E0F76236}"/>
              </a:ext>
            </a:extLst>
          </p:cNvPr>
          <p:cNvSpPr txBox="1"/>
          <p:nvPr/>
        </p:nvSpPr>
        <p:spPr>
          <a:xfrm>
            <a:off x="705186" y="2085930"/>
            <a:ext cx="10818332"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Wingdings" pitchFamily="2" charset="2"/>
              <a:buChar char="§"/>
            </a:pPr>
            <a:r>
              <a:rPr lang="en-US" sz="2000" dirty="0"/>
              <a:t>The ”memory-wall” gap is increasing between CPU and memory; conventional memory system can’t keep up </a:t>
            </a:r>
          </a:p>
          <a:p>
            <a:pPr marL="857250" lvl="1" indent="-342900">
              <a:lnSpc>
                <a:spcPct val="90000"/>
              </a:lnSpc>
              <a:spcAft>
                <a:spcPts val="600"/>
              </a:spcAft>
              <a:buFont typeface="Wingdings" pitchFamily="2" charset="2"/>
              <a:buChar char="§"/>
            </a:pPr>
            <a:r>
              <a:rPr lang="en-US" sz="2000" dirty="0"/>
              <a:t>NVM technology is promising alternative to DRAM, </a:t>
            </a:r>
            <a:r>
              <a:rPr lang="en-US" sz="2000" b="1" dirty="0"/>
              <a:t>hybrid memory system </a:t>
            </a:r>
            <a:r>
              <a:rPr lang="en-US" sz="2000" dirty="0"/>
              <a:t>is needed</a:t>
            </a:r>
          </a:p>
          <a:p>
            <a:pPr marL="857250" lvl="1" indent="-342900">
              <a:lnSpc>
                <a:spcPct val="90000"/>
              </a:lnSpc>
              <a:spcAft>
                <a:spcPts val="600"/>
              </a:spcAft>
              <a:buFont typeface="Wingdings" pitchFamily="2" charset="2"/>
              <a:buChar char="§"/>
            </a:pPr>
            <a:r>
              <a:rPr lang="en-US" sz="2000" dirty="0"/>
              <a:t>We proposed several schemes to implement hybrid memory framework with optimizations to the bus overhead.  </a:t>
            </a:r>
          </a:p>
          <a:p>
            <a:pPr marL="857250" lvl="1" indent="-342900">
              <a:lnSpc>
                <a:spcPct val="90000"/>
              </a:lnSpc>
              <a:spcAft>
                <a:spcPts val="600"/>
              </a:spcAft>
              <a:buFont typeface="Wingdings" pitchFamily="2" charset="2"/>
              <a:buChar char="§"/>
            </a:pPr>
            <a:r>
              <a:rPr lang="en-US" sz="2000" dirty="0"/>
              <a:t>To further combat the “memory-wall”, </a:t>
            </a:r>
            <a:r>
              <a:rPr lang="en-US" sz="2000" b="1" dirty="0"/>
              <a:t>prefetching</a:t>
            </a:r>
            <a:r>
              <a:rPr lang="en-US" sz="2000" dirty="0"/>
              <a:t> is used</a:t>
            </a:r>
          </a:p>
          <a:p>
            <a:pPr marL="857250" lvl="1" indent="-342900">
              <a:lnSpc>
                <a:spcPct val="90000"/>
              </a:lnSpc>
              <a:spcAft>
                <a:spcPts val="600"/>
              </a:spcAft>
              <a:buFont typeface="Wingdings" pitchFamily="2" charset="2"/>
              <a:buChar char="§"/>
            </a:pPr>
            <a:r>
              <a:rPr lang="en-US" sz="2000" dirty="0"/>
              <a:t>We proposed MSF as a technique to filter unnecessary prefetching</a:t>
            </a:r>
          </a:p>
          <a:p>
            <a:pPr marL="857250" lvl="1" indent="-342900">
              <a:lnSpc>
                <a:spcPct val="90000"/>
              </a:lnSpc>
              <a:spcAft>
                <a:spcPts val="600"/>
              </a:spcAft>
              <a:buFont typeface="Wingdings" pitchFamily="2" charset="2"/>
              <a:buChar char="§"/>
            </a:pPr>
            <a:r>
              <a:rPr lang="en-US" sz="2000" dirty="0"/>
              <a:t>Good performance, low storage overhead, works for any underlying prefetcher</a:t>
            </a:r>
          </a:p>
          <a:p>
            <a:pPr marL="857250" lvl="1"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514350" lvl="1">
              <a:lnSpc>
                <a:spcPct val="90000"/>
              </a:lnSpc>
              <a:spcAft>
                <a:spcPts val="600"/>
              </a:spcAft>
            </a:pPr>
            <a:endParaRPr lang="en-US" sz="2000" b="1" dirty="0"/>
          </a:p>
        </p:txBody>
      </p:sp>
    </p:spTree>
    <p:extLst>
      <p:ext uri="{BB962C8B-B14F-4D97-AF65-F5344CB8AC3E}">
        <p14:creationId xmlns:p14="http://schemas.microsoft.com/office/powerpoint/2010/main" val="3138995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4B9ACC8E-7F80-0E28-C39A-1A07559235F1}"/>
              </a:ext>
            </a:extLst>
          </p:cNvPr>
          <p:cNvSpPr txBox="1">
            <a:spLocks/>
          </p:cNvSpPr>
          <p:nvPr/>
        </p:nvSpPr>
        <p:spPr>
          <a:xfrm>
            <a:off x="532011" y="972636"/>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000" b="1" dirty="0"/>
              <a:t>Publications</a:t>
            </a:r>
            <a:endParaRPr lang="en-US" sz="4000" dirty="0"/>
          </a:p>
        </p:txBody>
      </p:sp>
      <p:sp>
        <p:nvSpPr>
          <p:cNvPr id="6" name="TextBox 5">
            <a:extLst>
              <a:ext uri="{FF2B5EF4-FFF2-40B4-BE49-F238E27FC236}">
                <a16:creationId xmlns:a16="http://schemas.microsoft.com/office/drawing/2014/main" id="{B1D344D4-269D-656B-242F-8048E0F76236}"/>
              </a:ext>
            </a:extLst>
          </p:cNvPr>
          <p:cNvSpPr txBox="1"/>
          <p:nvPr/>
        </p:nvSpPr>
        <p:spPr>
          <a:xfrm>
            <a:off x="705186" y="2085930"/>
            <a:ext cx="10818332"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514350" lvl="1">
              <a:lnSpc>
                <a:spcPct val="90000"/>
              </a:lnSpc>
              <a:spcAft>
                <a:spcPts val="600"/>
              </a:spcAft>
            </a:pPr>
            <a:endParaRPr lang="en-US" sz="2000" b="1" dirty="0"/>
          </a:p>
        </p:txBody>
      </p:sp>
      <p:sp>
        <p:nvSpPr>
          <p:cNvPr id="2" name="TextBox 1">
            <a:extLst>
              <a:ext uri="{FF2B5EF4-FFF2-40B4-BE49-F238E27FC236}">
                <a16:creationId xmlns:a16="http://schemas.microsoft.com/office/drawing/2014/main" id="{125CB351-9216-ECF3-536D-A61216DC2E68}"/>
              </a:ext>
            </a:extLst>
          </p:cNvPr>
          <p:cNvSpPr txBox="1"/>
          <p:nvPr/>
        </p:nvSpPr>
        <p:spPr>
          <a:xfrm>
            <a:off x="857586" y="2238330"/>
            <a:ext cx="10629228" cy="486823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857250" lvl="1" indent="-342900">
              <a:lnSpc>
                <a:spcPct val="90000"/>
              </a:lnSpc>
              <a:spcAft>
                <a:spcPts val="600"/>
              </a:spcAft>
              <a:buFont typeface="Wingdings" pitchFamily="2" charset="2"/>
              <a:buChar char="§"/>
            </a:pPr>
            <a:r>
              <a:rPr lang="en-US" sz="2000" dirty="0"/>
              <a:t>T. Le, Z. Zhang and Z. Zhu, "POMI: Polling-Based Memory Interface for Hybrid Memory System," </a:t>
            </a:r>
            <a:r>
              <a:rPr lang="en-US" sz="2000" i="1" dirty="0"/>
              <a:t>2021 IEEE 39th International Conference on Computer Design (ICCD)</a:t>
            </a:r>
            <a:r>
              <a:rPr lang="en-US" sz="2000" dirty="0"/>
              <a:t>, Storrs, CT, USA, 2021, pp. 447-455  [</a:t>
            </a:r>
            <a:r>
              <a:rPr lang="en-US" sz="2000" b="1" dirty="0"/>
              <a:t>ICCD 2021</a:t>
            </a:r>
            <a:r>
              <a:rPr lang="en-US" sz="2000" dirty="0"/>
              <a:t>]</a:t>
            </a:r>
          </a:p>
          <a:p>
            <a:pPr marL="857250" lvl="1"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Wingdings" pitchFamily="2" charset="2"/>
              <a:buChar char="§"/>
            </a:pPr>
            <a:r>
              <a:rPr lang="en-US" sz="2000" dirty="0"/>
              <a:t>T. Le, Z. Zhang, and Z. Zhu. 2023. Polling-Based Memory Interface. ACM Trans. Des. </a:t>
            </a:r>
            <a:r>
              <a:rPr lang="en-US" sz="2000" dirty="0" err="1"/>
              <a:t>Autom</a:t>
            </a:r>
            <a:r>
              <a:rPr lang="en-US" sz="2000" dirty="0"/>
              <a:t>. Electron. Syst. 28, 3, Article 47, 23 pages. [</a:t>
            </a:r>
            <a:r>
              <a:rPr lang="en-US" sz="2000" b="1" dirty="0"/>
              <a:t>TODAES 2023</a:t>
            </a:r>
            <a:r>
              <a:rPr lang="en-US" sz="2000" dirty="0"/>
              <a:t>]</a:t>
            </a:r>
          </a:p>
          <a:p>
            <a:pPr marL="857250" lvl="1"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Wingdings" pitchFamily="2" charset="2"/>
              <a:buChar char="§"/>
            </a:pPr>
            <a:r>
              <a:rPr lang="en-US" sz="2000" dirty="0" err="1"/>
              <a:t>T.Le</a:t>
            </a:r>
            <a:r>
              <a:rPr lang="en-US" sz="2000" dirty="0"/>
              <a:t>, P. Wu, Z. Zhang, and Z. Zhu. MSF: Memory-Side Perceptron-Based Prefetch Filtering [</a:t>
            </a:r>
            <a:r>
              <a:rPr lang="en-US" sz="2000" b="1" dirty="0"/>
              <a:t>Submitted HPCA 2024</a:t>
            </a:r>
            <a:r>
              <a:rPr lang="en-US" sz="2000" dirty="0"/>
              <a:t>]</a:t>
            </a:r>
          </a:p>
          <a:p>
            <a:pPr marL="857250" lvl="1" indent="-342900">
              <a:lnSpc>
                <a:spcPct val="90000"/>
              </a:lnSpc>
              <a:spcAft>
                <a:spcPts val="600"/>
              </a:spcAft>
              <a:buFont typeface="Wingdings" pitchFamily="2" charset="2"/>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857250" lvl="1" indent="-342900">
              <a:lnSpc>
                <a:spcPct val="90000"/>
              </a:lnSpc>
              <a:spcAft>
                <a:spcPts val="600"/>
              </a:spcAft>
              <a:buFont typeface="Arial" panose="020B0604020202020204" pitchFamily="34" charset="0"/>
              <a:buChar char="•"/>
            </a:pPr>
            <a:endParaRPr lang="en-US" sz="2000" dirty="0"/>
          </a:p>
          <a:p>
            <a:pPr marL="514350" lvl="1">
              <a:lnSpc>
                <a:spcPct val="90000"/>
              </a:lnSpc>
              <a:spcAft>
                <a:spcPts val="600"/>
              </a:spcAft>
            </a:pPr>
            <a:endParaRPr lang="en-US" sz="2000" b="1" dirty="0"/>
          </a:p>
        </p:txBody>
      </p:sp>
    </p:spTree>
    <p:extLst>
      <p:ext uri="{BB962C8B-B14F-4D97-AF65-F5344CB8AC3E}">
        <p14:creationId xmlns:p14="http://schemas.microsoft.com/office/powerpoint/2010/main" val="18594766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red sign with white text&#10;&#10;Description automatically generated">
            <a:extLst>
              <a:ext uri="{FF2B5EF4-FFF2-40B4-BE49-F238E27FC236}">
                <a16:creationId xmlns:a16="http://schemas.microsoft.com/office/drawing/2014/main" id="{A421F49D-30EA-0ADE-A70F-4E3E140762E2}"/>
              </a:ext>
            </a:extLst>
          </p:cNvPr>
          <p:cNvPicPr>
            <a:picLocks noChangeAspect="1"/>
          </p:cNvPicPr>
          <p:nvPr/>
        </p:nvPicPr>
        <p:blipFill>
          <a:blip r:embed="rId3"/>
          <a:stretch>
            <a:fillRect/>
          </a:stretch>
        </p:blipFill>
        <p:spPr>
          <a:xfrm>
            <a:off x="-547" y="6220717"/>
            <a:ext cx="12197602" cy="637333"/>
          </a:xfrm>
          <a:prstGeom prst="rect">
            <a:avLst/>
          </a:prstGeom>
        </p:spPr>
      </p:pic>
      <p:sp>
        <p:nvSpPr>
          <p:cNvPr id="5" name="Title 1">
            <a:extLst>
              <a:ext uri="{FF2B5EF4-FFF2-40B4-BE49-F238E27FC236}">
                <a16:creationId xmlns:a16="http://schemas.microsoft.com/office/drawing/2014/main" id="{4B9ACC8E-7F80-0E28-C39A-1A07559235F1}"/>
              </a:ext>
            </a:extLst>
          </p:cNvPr>
          <p:cNvSpPr txBox="1">
            <a:spLocks/>
          </p:cNvSpPr>
          <p:nvPr/>
        </p:nvSpPr>
        <p:spPr>
          <a:xfrm>
            <a:off x="532011" y="972636"/>
            <a:ext cx="11334405" cy="8321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000" b="1" dirty="0"/>
              <a:t>Thank You</a:t>
            </a:r>
            <a:endParaRPr lang="en-US" sz="4000" dirty="0"/>
          </a:p>
        </p:txBody>
      </p:sp>
    </p:spTree>
    <p:extLst>
      <p:ext uri="{BB962C8B-B14F-4D97-AF65-F5344CB8AC3E}">
        <p14:creationId xmlns:p14="http://schemas.microsoft.com/office/powerpoint/2010/main" val="842772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7249</TotalTime>
  <Words>8833</Words>
  <Application>Microsoft Macintosh PowerPoint</Application>
  <PresentationFormat>Widescreen</PresentationFormat>
  <Paragraphs>1157</Paragraphs>
  <Slides>59</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Aptos Display</vt:lpstr>
      <vt:lpstr>Arial</vt:lpstr>
      <vt:lpstr>Calibri</vt:lpstr>
      <vt:lpstr>Courier New</vt:lpstr>
      <vt:lpstr>Wingdings</vt:lpstr>
      <vt:lpstr>office theme</vt:lpstr>
      <vt:lpstr>Memory Interface and Controller Designs and Optimizations for Next Generation Memory Systems</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trung le</cp:lastModifiedBy>
  <cp:revision>111</cp:revision>
  <dcterms:created xsi:type="dcterms:W3CDTF">2024-06-21T19:35:31Z</dcterms:created>
  <dcterms:modified xsi:type="dcterms:W3CDTF">2024-07-12T19:43:19Z</dcterms:modified>
</cp:coreProperties>
</file>